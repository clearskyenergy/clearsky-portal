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20116800" cy="13414248"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00584" y="100584"/>
            <a:ext cx="16614647" cy="13213080"/>
          </a:xfrm>
          <a:prstGeom prst="rect">
            <a:avLst/>
          </a:prstGeom>
          <a:noFill/>
          <a:ln w="9525">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767328" y="137160"/>
            <a:ext cx="9144000" cy="457200"/>
          </a:xfrm>
          <a:prstGeom prst="rect">
            <a:avLst/>
          </a:prstGeom>
          <a:noFill/>
        </p:spPr>
        <p:txBody>
          <a:bodyPr wrap="square" lIns="25400" rIns="12700" tIns="12700" bIns="12700"/>
          <a:lstStyle/>
          <a:p>
            <a:pPr algn="ctr"/>
            <a:r>
              <a:rPr sz="1800" b="1" i="0">
                <a:solidFill>
                  <a:srgbClr val="0B1E35"/>
                </a:solidFill>
                <a:latin typeface="Arial"/>
              </a:rPr>
              <a:t>BATTERY ENERGY STORAGE SYSTEM</a:t>
            </a:r>
          </a:p>
        </p:txBody>
      </p:sp>
      <p:sp>
        <p:nvSpPr>
          <p:cNvPr id="4" name="TextBox 3"/>
          <p:cNvSpPr txBox="1"/>
          <p:nvPr/>
        </p:nvSpPr>
        <p:spPr>
          <a:xfrm>
            <a:off x="3767328" y="548640"/>
            <a:ext cx="9144000" cy="320040"/>
          </a:xfrm>
          <a:prstGeom prst="rect">
            <a:avLst/>
          </a:prstGeom>
          <a:noFill/>
        </p:spPr>
        <p:txBody>
          <a:bodyPr wrap="square" lIns="25400" rIns="12700" tIns="12700" bIns="12700"/>
          <a:lstStyle/>
          <a:p>
            <a:pPr algn="ctr"/>
            <a:r>
              <a:rPr sz="1400" b="1" i="0">
                <a:solidFill>
                  <a:srgbClr val="0B1E35"/>
                </a:solidFill>
                <a:latin typeface="Arial"/>
              </a:rPr>
              <a:t>PERMIT SET</a:t>
            </a:r>
          </a:p>
        </p:txBody>
      </p:sp>
      <p:sp>
        <p:nvSpPr>
          <p:cNvPr id="5" name="TextBox 4"/>
          <p:cNvSpPr txBox="1"/>
          <p:nvPr/>
        </p:nvSpPr>
        <p:spPr>
          <a:xfrm>
            <a:off x="201168" y="1005840"/>
            <a:ext cx="5120640" cy="201168"/>
          </a:xfrm>
          <a:prstGeom prst="rect">
            <a:avLst/>
          </a:prstGeom>
          <a:noFill/>
        </p:spPr>
        <p:txBody>
          <a:bodyPr wrap="square" lIns="25400" rIns="12700" tIns="12700" bIns="12700"/>
          <a:lstStyle/>
          <a:p>
            <a:pPr algn="l"/>
            <a:r>
              <a:rPr sz="800" b="1" i="0">
                <a:solidFill>
                  <a:srgbClr val="000000"/>
                </a:solidFill>
                <a:latin typeface="Arial"/>
              </a:rPr>
              <a:t>GENERAL NOTES</a:t>
            </a:r>
          </a:p>
        </p:txBody>
      </p:sp>
      <p:sp>
        <p:nvSpPr>
          <p:cNvPr id="6" name="TextBox 5"/>
          <p:cNvSpPr txBox="1"/>
          <p:nvPr/>
        </p:nvSpPr>
        <p:spPr>
          <a:xfrm>
            <a:off x="201168" y="1207008"/>
            <a:ext cx="5120640" cy="4754880"/>
          </a:xfrm>
          <a:prstGeom prst="rect">
            <a:avLst/>
          </a:prstGeom>
          <a:noFill/>
        </p:spPr>
        <p:txBody>
          <a:bodyPr wrap="square" lIns="25400" rIns="12700" tIns="12700" bIns="12700"/>
          <a:lstStyle/>
          <a:p>
            <a:pPr algn="l"/>
            <a:r>
              <a:rPr sz="650" b="0" i="0">
                <a:solidFill>
                  <a:srgbClr val="000000"/>
                </a:solidFill>
                <a:latin typeface="Arial"/>
              </a:rPr>
              <a:t>1. ALL CONSTRUCTION SHALL COMPLY WITH THE CODES ADOPTED BY {{AHJ_CITY}} AS DESCRIBED IN THE {{MUNICIPAL_CODE}} INCLUDING BUT NOT LIMITED TO {{CODE_YEAR}} CEC, CFC &amp; CBC.
2. BEFORE INITIATING ANY WORK, THE CONTRACTOR SHALL NOTIFY ENGINEER OF RECORDS OF ANY DISCREPANCIES IDENTIFIED ON EXISTING CONDITIONS, STRUCTURE, ELECTRICAL, ETC.
3. CONTRACTOR SHALL BE RESPONSIBLE FOR ALL SAFETY PRECAUTIONS, OSHA REQUIREMENTS AND SAFETY MEASUREMENTS ON SITE.
4. CONTRACTOR IS RESPONSIBLE FOR INSTALLING ALL EQUIPMENT AND FOLLOWING ALL MANUFACTURER'S OR ENGINEER'S DIRECTIONS AND INSTRUCTIONS.
5. CONTRACTOR IS ADVISED THAT ALL DRAWINGS, COMPONENT MANUALS, ESPECIALLY INVERTER MANUALS, ARE TO BE READ AND UNDERSTOOD PRIOR TO INSTALLATION OR ENERGIZING OF ANY EQUIPMENT.
6. CONTRACTOR IS RESPONSIBLE FOR SELECTING AND PURCHASING EQUIPMENT DESIGNED TO LAST A MIN. OF 30 YEARS IN CONJUNCTION WITH THE BESS SYSTEM.
7. ALL CONTRACTORS ARE REQUIRED TO PROVIDE FULL SUBMITTALS OF INTENDED ORDERS TO CLEARSKY FOR REVIEW.
8. WHENEVER ANY SURFACE IMPROVEMENTS SUCH AS PAVEMENT, CURBING, PEDESTRIAN WALKS, FENCING, OR TURFING HAVE BEEN REMOVED, DAMAGED, OR OTHERWISE DISTURBED BY THE CONTRACTOR'S OPERATIONS, THEY SHALL BE REPAIRED OR REPLACED TO THE PRE-EXISTING CONDITION.
9. REFILL AND RESTORE THE WORK AS DIRECTED, DURING CONSTRUCTION AND PRIOR TO PROJECT COMPLETION, TO MAINTAIN ACCEPTABLE SURFACE CONDITIONS.
10. ALL ADDITIONAL MATERIALS REQUIRED SHALL BE FURNISHED WITHOUT ADDITIONAL COST TO THE OWNER.
11. ANY WORK BEGUN PRIOR TO ATTAINING APPROVAL AND SIGNATURES OF {{AHJ_CITY}} WILL BE AT CONTRACTOR'S RISK, AND WILL BE STOPPED IF PRE-APPROVED BY PROJECT OWNER.
12. COORDINATE OPERATIONS WITH ALL REQUIRED MATERIALS TESTING SERVICES AS REQUIRED BY THESE DRAWINGS.
13. NOTIFY ALL UTILITY COMPANIES INVOLVED IN THE DEVELOPMENT PRIOR TO BEGINNING OF WORK.
14. COMPLY WITH ALL CURRENTLY APPLICABLE SAFETY LAWS OF ALL JURISDICTIONAL BODIES.
15. MAINTAIN CONTINUOUS TEMPORARY TRAFFIC BARRICADES, WITH OPERABLE FLASHING DEVICES, SPACED AT INTERVALS OF NOT TO EXCEED 50 FEET WHENEVER THE WORK AREA IS ADJACENT TO AN EXISTING TRAFFIC LANE.
16. ALL {{UTILITY}} REQUIRED EQUIPMENT SHALL BE INSTALLED IN ACCORDANCE WITH CURRENT {{UTILITY}} STANDARDS.</a:t>
            </a:r>
          </a:p>
        </p:txBody>
      </p:sp>
      <p:sp>
        <p:nvSpPr>
          <p:cNvPr id="7" name="TextBox 6"/>
          <p:cNvSpPr txBox="1"/>
          <p:nvPr/>
        </p:nvSpPr>
        <p:spPr>
          <a:xfrm>
            <a:off x="201168" y="6126480"/>
            <a:ext cx="5120640" cy="201168"/>
          </a:xfrm>
          <a:prstGeom prst="rect">
            <a:avLst/>
          </a:prstGeom>
          <a:noFill/>
        </p:spPr>
        <p:txBody>
          <a:bodyPr wrap="square" lIns="25400" rIns="12700" tIns="12700" bIns="12700"/>
          <a:lstStyle/>
          <a:p>
            <a:pPr algn="l"/>
            <a:r>
              <a:rPr sz="800" b="1" i="0">
                <a:solidFill>
                  <a:srgbClr val="000000"/>
                </a:solidFill>
                <a:latin typeface="Arial"/>
              </a:rPr>
              <a:t>ELECTRICAL NOTES</a:t>
            </a:r>
          </a:p>
        </p:txBody>
      </p:sp>
      <p:sp>
        <p:nvSpPr>
          <p:cNvPr id="8" name="TextBox 7"/>
          <p:cNvSpPr txBox="1"/>
          <p:nvPr/>
        </p:nvSpPr>
        <p:spPr>
          <a:xfrm>
            <a:off x="201168" y="6327648"/>
            <a:ext cx="5120640" cy="3474720"/>
          </a:xfrm>
          <a:prstGeom prst="rect">
            <a:avLst/>
          </a:prstGeom>
          <a:noFill/>
        </p:spPr>
        <p:txBody>
          <a:bodyPr wrap="square" lIns="25400" rIns="12700" tIns="12700" bIns="12700"/>
          <a:lstStyle/>
          <a:p>
            <a:pPr algn="l"/>
            <a:r>
              <a:rPr sz="650" b="0" i="0">
                <a:solidFill>
                  <a:srgbClr val="000000"/>
                </a:solidFill>
                <a:latin typeface="Arial"/>
              </a:rPr>
              <a:t>1. THE LINE AND LOAD TERMINALS ON THE AC DISCONNECTS MAY BE ENERGIZED IN THE OPEN POSITION. SWITCH IS TO BE LABELED TO COMPLY WITH ARTICLE 690.17 OF THE NEC.
2. ALL WIRING SHALL CONFORM WITH THE LATEST EDITION OF THE NEC. ALL WIRING IS ASSUMED IN ACCORDANCE WITH THE NEC, UNLESS OTHERWISE LABELED.
3. GROUNDING OF THE BESS SHALL COMPLY WITH NEC 690.45 AND 690.47.
4. THE ELECTRICAL CONTRACTOR IS REQUIRED TO USE PERMANENTLY COLOR CODED INSULATION AND PROVIDE A COLOR CODE TO IDENTIFY DC AND AC CIRCUITS.
5. IN EVERY PULL BOX, TERMINAL BOX, AND AT ALL PLACES WHERE WIRES MAY NOT BE READILY IDENTIFIED BY NAMEPLATE MARKINGS ON THE EQUIPMENT TO WHICH THEY CONNECT, IDENTIFY EACH CIRCUIT WITH A PLASTIC LABEL OR TAG FOR NUMBER, POLARITY, OR PHASE.
6. FUSE CONDUIT SHALL ONLY BE USED WHERE SPECIFIED OR APPROVED IN WRITING.
7. THE GROUP-WIRING PROVISIONS OF THE NEC SHALL BE FOLLOWED FOR ALL CONDUCTORS PRE-ENGINEERED EXTENDED BATTERY ENERGY STORAGE.
8. THIS ELECTRICAL INSTALLATION IS TO BE CONSIDERED AN OPTIONAL STANDBY SYSTEM PER NEC 702.
9. THE {{BAT_MFR}} {{BAT_MODEL}} BATTERY STORAGE SYSTEMS ARE TO BE CONSIDERED PRE-ENGINEERED STATIONARY BATTERY STORAGE SYSTEMS.</a:t>
            </a:r>
          </a:p>
        </p:txBody>
      </p:sp>
      <p:sp>
        <p:nvSpPr>
          <p:cNvPr id="9" name="Rectangle 8"/>
          <p:cNvSpPr/>
          <p:nvPr/>
        </p:nvSpPr>
        <p:spPr>
          <a:xfrm>
            <a:off x="5504688" y="1005840"/>
            <a:ext cx="6217920" cy="201168"/>
          </a:xfrm>
          <a:prstGeom prst="rect">
            <a:avLst/>
          </a:prstGeom>
          <a:solidFill>
            <a:srgbClr val="E8E8E8"/>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550408" y="1005840"/>
            <a:ext cx="6217920" cy="201168"/>
          </a:xfrm>
          <a:prstGeom prst="rect">
            <a:avLst/>
          </a:prstGeom>
          <a:noFill/>
        </p:spPr>
        <p:txBody>
          <a:bodyPr wrap="square" lIns="25400" rIns="12700" tIns="12700" bIns="12700"/>
          <a:lstStyle/>
          <a:p>
            <a:pPr algn="l"/>
            <a:r>
              <a:rPr sz="700" b="1" i="0">
                <a:solidFill>
                  <a:srgbClr val="000000"/>
                </a:solidFill>
                <a:latin typeface="Arial"/>
              </a:rPr>
              <a:t>ELECTRICAL ENGINEER</a:t>
            </a:r>
          </a:p>
        </p:txBody>
      </p:sp>
      <p:sp>
        <p:nvSpPr>
          <p:cNvPr id="11" name="TextBox 10"/>
          <p:cNvSpPr txBox="1"/>
          <p:nvPr/>
        </p:nvSpPr>
        <p:spPr>
          <a:xfrm>
            <a:off x="5550408" y="1207008"/>
            <a:ext cx="6126480" cy="914400"/>
          </a:xfrm>
          <a:prstGeom prst="rect">
            <a:avLst/>
          </a:prstGeom>
          <a:noFill/>
        </p:spPr>
        <p:txBody>
          <a:bodyPr wrap="square" lIns="25400" rIns="12700" tIns="12700" bIns="12700"/>
          <a:lstStyle/>
          <a:p>
            <a:pPr algn="l"/>
            <a:r>
              <a:rPr sz="650" b="0">
                <a:solidFill>
                  <a:srgbClr val="000000"/>
                </a:solidFill>
                <a:latin typeface="Arial"/>
              </a:rPr>
              <a:t>{{EE_NAME}}, {{EE_TITLES}}</a:t>
            </a:r>
          </a:p>
          <a:p>
            <a:pPr algn="l"/>
            <a:r>
              <a:rPr sz="650" b="0">
                <a:solidFill>
                  <a:srgbClr val="000000"/>
                </a:solidFill>
                <a:latin typeface="Arial"/>
              </a:rPr>
              <a:t>{{EE_FIRM}}</a:t>
            </a:r>
          </a:p>
          <a:p>
            <a:pPr algn="l"/>
            <a:r>
              <a:rPr sz="650" b="0">
                <a:solidFill>
                  <a:srgbClr val="000000"/>
                </a:solidFill>
                <a:latin typeface="Arial"/>
              </a:rPr>
              <a:t>{{EE_ADDR}}</a:t>
            </a:r>
          </a:p>
          <a:p>
            <a:pPr algn="l"/>
            <a:r>
              <a:rPr sz="650" b="0">
                <a:solidFill>
                  <a:srgbClr val="000000"/>
                </a:solidFill>
                <a:latin typeface="Arial"/>
              </a:rPr>
              <a:t>{{EE_CITY_STATE}} {{EE_ZIP}}</a:t>
            </a:r>
          </a:p>
          <a:p>
            <a:pPr algn="l"/>
            <a:r>
              <a:rPr sz="650" b="0">
                <a:solidFill>
                  <a:srgbClr val="000000"/>
                </a:solidFill>
                <a:latin typeface="Arial"/>
              </a:rPr>
              <a:t>PHONE: {{EE_PHONE}}  FAX: {{EE_FAX}}  EXT. {{EE_EXT}}</a:t>
            </a:r>
          </a:p>
          <a:p>
            <a:pPr algn="l"/>
            <a:r>
              <a:rPr sz="650" b="0">
                <a:solidFill>
                  <a:srgbClr val="000000"/>
                </a:solidFill>
                <a:latin typeface="Arial"/>
              </a:rPr>
              <a:t>{{EE_EMAIL}}</a:t>
            </a:r>
          </a:p>
        </p:txBody>
      </p:sp>
      <p:sp>
        <p:nvSpPr>
          <p:cNvPr id="12" name="Rectangle 11"/>
          <p:cNvSpPr/>
          <p:nvPr/>
        </p:nvSpPr>
        <p:spPr>
          <a:xfrm>
            <a:off x="5504688" y="2176272"/>
            <a:ext cx="6217920" cy="201168"/>
          </a:xfrm>
          <a:prstGeom prst="rect">
            <a:avLst/>
          </a:prstGeom>
          <a:solidFill>
            <a:srgbClr val="E8E8E8"/>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550408" y="2176272"/>
            <a:ext cx="6217920" cy="201168"/>
          </a:xfrm>
          <a:prstGeom prst="rect">
            <a:avLst/>
          </a:prstGeom>
          <a:noFill/>
        </p:spPr>
        <p:txBody>
          <a:bodyPr wrap="square" lIns="25400" rIns="12700" tIns="12700" bIns="12700"/>
          <a:lstStyle/>
          <a:p>
            <a:pPr algn="l"/>
            <a:r>
              <a:rPr sz="700" b="1" i="0">
                <a:solidFill>
                  <a:srgbClr val="000000"/>
                </a:solidFill>
                <a:latin typeface="Arial"/>
              </a:rPr>
              <a:t>STRUCTURAL ENGINEER</a:t>
            </a:r>
          </a:p>
        </p:txBody>
      </p:sp>
      <p:sp>
        <p:nvSpPr>
          <p:cNvPr id="14" name="TextBox 13"/>
          <p:cNvSpPr txBox="1"/>
          <p:nvPr/>
        </p:nvSpPr>
        <p:spPr>
          <a:xfrm>
            <a:off x="5550408" y="2377440"/>
            <a:ext cx="6126480" cy="777240"/>
          </a:xfrm>
          <a:prstGeom prst="rect">
            <a:avLst/>
          </a:prstGeom>
          <a:noFill/>
        </p:spPr>
        <p:txBody>
          <a:bodyPr wrap="square" lIns="25400" rIns="12700" tIns="12700" bIns="12700"/>
          <a:lstStyle/>
          <a:p>
            <a:pPr algn="l"/>
            <a:r>
              <a:rPr sz="650" b="0">
                <a:solidFill>
                  <a:srgbClr val="000000"/>
                </a:solidFill>
                <a:latin typeface="Arial"/>
              </a:rPr>
              <a:t>{{SE_NAME}}</a:t>
            </a:r>
          </a:p>
          <a:p>
            <a:pPr algn="l"/>
            <a:r>
              <a:rPr sz="650" b="0">
                <a:solidFill>
                  <a:srgbClr val="000000"/>
                </a:solidFill>
                <a:latin typeface="Arial"/>
              </a:rPr>
              <a:t>{{SE_FIRM}}</a:t>
            </a:r>
          </a:p>
          <a:p>
            <a:pPr algn="l"/>
            <a:r>
              <a:rPr sz="650" b="0">
                <a:solidFill>
                  <a:srgbClr val="000000"/>
                </a:solidFill>
                <a:latin typeface="Arial"/>
              </a:rPr>
              <a:t>{{SE_ADDR}}</a:t>
            </a:r>
          </a:p>
          <a:p>
            <a:pPr algn="l"/>
            <a:r>
              <a:rPr sz="650" b="0">
                <a:solidFill>
                  <a:srgbClr val="000000"/>
                </a:solidFill>
                <a:latin typeface="Arial"/>
              </a:rPr>
              <a:t>{{SE_CITY_STATE}} {{SE_ZIP}}</a:t>
            </a:r>
          </a:p>
          <a:p>
            <a:pPr algn="l"/>
            <a:r>
              <a:rPr sz="650" b="0">
                <a:solidFill>
                  <a:srgbClr val="000000"/>
                </a:solidFill>
                <a:latin typeface="Arial"/>
              </a:rPr>
              <a:t>PHONE: {{SE_PHONE}}</a:t>
            </a:r>
          </a:p>
          <a:p>
            <a:pPr algn="l"/>
            <a:r>
              <a:rPr sz="650" b="0">
                <a:solidFill>
                  <a:srgbClr val="000000"/>
                </a:solidFill>
                <a:latin typeface="Arial"/>
              </a:rPr>
              <a:t>{{SE_EMAIL}}</a:t>
            </a:r>
          </a:p>
        </p:txBody>
      </p:sp>
      <p:sp>
        <p:nvSpPr>
          <p:cNvPr id="15" name="Rectangle 14"/>
          <p:cNvSpPr/>
          <p:nvPr/>
        </p:nvSpPr>
        <p:spPr>
          <a:xfrm>
            <a:off x="8659368" y="1005840"/>
            <a:ext cx="3063240" cy="201168"/>
          </a:xfrm>
          <a:prstGeom prst="rect">
            <a:avLst/>
          </a:prstGeom>
          <a:solidFill>
            <a:srgbClr val="E8E8E8"/>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0" y="1005840"/>
            <a:ext cx="3108960" cy="201168"/>
          </a:xfrm>
          <a:prstGeom prst="rect">
            <a:avLst/>
          </a:prstGeom>
          <a:noFill/>
        </p:spPr>
        <p:txBody>
          <a:bodyPr wrap="square" lIns="25400" rIns="12700" tIns="12700" bIns="12700"/>
          <a:lstStyle/>
          <a:p>
            <a:pPr algn="l"/>
            <a:r>
              <a:rPr sz="700" b="1" i="0">
                <a:solidFill>
                  <a:srgbClr val="000000"/>
                </a:solidFill>
                <a:latin typeface="Arial"/>
              </a:rPr>
              <a:t>PROPERTY OWNER</a:t>
            </a:r>
          </a:p>
        </p:txBody>
      </p:sp>
      <p:sp>
        <p:nvSpPr>
          <p:cNvPr id="17" name="TextBox 16"/>
          <p:cNvSpPr txBox="1"/>
          <p:nvPr/>
        </p:nvSpPr>
        <p:spPr>
          <a:xfrm>
            <a:off x="8686800" y="1207008"/>
            <a:ext cx="2990088" cy="777240"/>
          </a:xfrm>
          <a:prstGeom prst="rect">
            <a:avLst/>
          </a:prstGeom>
          <a:noFill/>
        </p:spPr>
        <p:txBody>
          <a:bodyPr wrap="square" lIns="25400" rIns="12700" tIns="12700" bIns="12700"/>
          <a:lstStyle/>
          <a:p>
            <a:pPr algn="l"/>
            <a:r>
              <a:rPr sz="650" b="0">
                <a:solidFill>
                  <a:srgbClr val="000000"/>
                </a:solidFill>
                <a:latin typeface="Arial"/>
              </a:rPr>
              <a:t>{{OWNER_NAME}}</a:t>
            </a:r>
          </a:p>
          <a:p>
            <a:pPr algn="l"/>
            <a:r>
              <a:rPr sz="650" b="0">
                <a:solidFill>
                  <a:srgbClr val="000000"/>
                </a:solidFill>
                <a:latin typeface="Arial"/>
              </a:rPr>
              <a:t>{{OWNER_ADDR}}</a:t>
            </a:r>
          </a:p>
        </p:txBody>
      </p:sp>
      <p:sp>
        <p:nvSpPr>
          <p:cNvPr id="18" name="Rectangle 17"/>
          <p:cNvSpPr/>
          <p:nvPr/>
        </p:nvSpPr>
        <p:spPr>
          <a:xfrm>
            <a:off x="8659368" y="2176272"/>
            <a:ext cx="3063240" cy="201168"/>
          </a:xfrm>
          <a:prstGeom prst="rect">
            <a:avLst/>
          </a:prstGeom>
          <a:solidFill>
            <a:srgbClr val="E8E8E8"/>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0" y="2176272"/>
            <a:ext cx="3108960" cy="201168"/>
          </a:xfrm>
          <a:prstGeom prst="rect">
            <a:avLst/>
          </a:prstGeom>
          <a:noFill/>
        </p:spPr>
        <p:txBody>
          <a:bodyPr wrap="square" lIns="25400" rIns="12700" tIns="12700" bIns="12700"/>
          <a:lstStyle/>
          <a:p>
            <a:pPr algn="l"/>
            <a:r>
              <a:rPr sz="700" b="1" i="0">
                <a:solidFill>
                  <a:srgbClr val="000000"/>
                </a:solidFill>
                <a:latin typeface="Arial"/>
              </a:rPr>
              <a:t>GENERAL CONTRACTOR</a:t>
            </a:r>
          </a:p>
        </p:txBody>
      </p:sp>
      <p:sp>
        <p:nvSpPr>
          <p:cNvPr id="20" name="TextBox 19"/>
          <p:cNvSpPr txBox="1"/>
          <p:nvPr/>
        </p:nvSpPr>
        <p:spPr>
          <a:xfrm>
            <a:off x="8686800" y="2377440"/>
            <a:ext cx="2990088" cy="777240"/>
          </a:xfrm>
          <a:prstGeom prst="rect">
            <a:avLst/>
          </a:prstGeom>
          <a:noFill/>
        </p:spPr>
        <p:txBody>
          <a:bodyPr wrap="square" lIns="25400" rIns="12700" tIns="12700" bIns="12700"/>
          <a:lstStyle/>
          <a:p>
            <a:pPr algn="l"/>
            <a:r>
              <a:rPr sz="650" b="0">
                <a:solidFill>
                  <a:srgbClr val="000000"/>
                </a:solidFill>
                <a:latin typeface="Arial"/>
              </a:rPr>
              <a:t>{{GC_NAME}}</a:t>
            </a:r>
          </a:p>
          <a:p>
            <a:pPr algn="l"/>
            <a:r>
              <a:rPr sz="650" b="0">
                <a:solidFill>
                  <a:srgbClr val="000000"/>
                </a:solidFill>
                <a:latin typeface="Arial"/>
              </a:rPr>
              <a:t>PO BOX {{GC_PO_BOX}}</a:t>
            </a:r>
          </a:p>
          <a:p>
            <a:pPr algn="l"/>
            <a:r>
              <a:rPr sz="650" b="0">
                <a:solidFill>
                  <a:srgbClr val="000000"/>
                </a:solidFill>
                <a:latin typeface="Arial"/>
              </a:rPr>
              <a:t>{{GC_CITY}}, {{GC_STATE}} {{GC_ZIP}}</a:t>
            </a:r>
          </a:p>
          <a:p>
            <a:pPr algn="l"/>
            <a:r>
              <a:rPr sz="650" b="0">
                <a:solidFill>
                  <a:srgbClr val="000000"/>
                </a:solidFill>
                <a:latin typeface="Arial"/>
              </a:rPr>
              <a:t>{{GC_EMAIL}}  PH: {{GC_PHONE}}</a:t>
            </a:r>
          </a:p>
          <a:p>
            <a:pPr algn="l"/>
            <a:r>
              <a:rPr sz="650" b="0">
                <a:solidFill>
                  <a:srgbClr val="000000"/>
                </a:solidFill>
                <a:latin typeface="Arial"/>
              </a:rPr>
              <a:t>LIC: {{GC_LIC}}</a:t>
            </a:r>
          </a:p>
        </p:txBody>
      </p:sp>
      <p:sp>
        <p:nvSpPr>
          <p:cNvPr id="21" name="Rectangle 20"/>
          <p:cNvSpPr/>
          <p:nvPr/>
        </p:nvSpPr>
        <p:spPr>
          <a:xfrm>
            <a:off x="5504688" y="3200400"/>
            <a:ext cx="6217920" cy="201168"/>
          </a:xfrm>
          <a:prstGeom prst="rect">
            <a:avLst/>
          </a:prstGeom>
          <a:solidFill>
            <a:srgbClr val="E8E8E8"/>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550408" y="3200400"/>
            <a:ext cx="6217920" cy="201168"/>
          </a:xfrm>
          <a:prstGeom prst="rect">
            <a:avLst/>
          </a:prstGeom>
          <a:noFill/>
        </p:spPr>
        <p:txBody>
          <a:bodyPr wrap="square" lIns="25400" rIns="12700" tIns="12700" bIns="12700"/>
          <a:lstStyle/>
          <a:p>
            <a:pPr algn="l"/>
            <a:r>
              <a:rPr sz="700" b="1" i="0">
                <a:solidFill>
                  <a:srgbClr val="000000"/>
                </a:solidFill>
                <a:latin typeface="Arial"/>
              </a:rPr>
              <a:t>SCOPE OF WORK</a:t>
            </a:r>
          </a:p>
        </p:txBody>
      </p:sp>
      <p:sp>
        <p:nvSpPr>
          <p:cNvPr id="23" name="TextBox 22"/>
          <p:cNvSpPr txBox="1"/>
          <p:nvPr/>
        </p:nvSpPr>
        <p:spPr>
          <a:xfrm>
            <a:off x="5550408" y="3401568"/>
            <a:ext cx="6126480" cy="822960"/>
          </a:xfrm>
          <a:prstGeom prst="rect">
            <a:avLst/>
          </a:prstGeom>
          <a:noFill/>
        </p:spPr>
        <p:txBody>
          <a:bodyPr wrap="square" lIns="25400" rIns="12700" tIns="12700" bIns="12700"/>
          <a:lstStyle/>
          <a:p>
            <a:pPr algn="l"/>
            <a:r>
              <a:rPr sz="650" b="0" i="0">
                <a:solidFill>
                  <a:srgbClr val="000000"/>
                </a:solidFill>
                <a:latin typeface="Arial"/>
              </a:rPr>
              <a:t>THE PROJECT IS TO INSTALL NEW BATTERY ENERGY STORAGE SYSTEMS (BESS) AND ASSOCIATED ELECTRICAL EQUIPMENT.
ALL CONSTRUCTION SHALL COMPLY WITH THE CODES ADOPTED BY {{AHJ_CITY}} AS DESCRIBED IN THE {{MUNICIPAL_CODE}} INCLUDING BUT NOT LIMITED TO {{CODE_YEAR}} CEC, CFC, CBC &amp; OSHA.
THE SYSTEM WILL BE INTERCONNECTED TO AND WILL BE OPERATING IN PARALLEL WITH THE ELECTRICAL UTILITY UNDER THE REQUIREMENTS OF {{UTILITY}} BY {{AHJ_CITY}} AT THE TIME OF PERMIT APPLICATION.</a:t>
            </a:r>
          </a:p>
        </p:txBody>
      </p:sp>
      <p:sp>
        <p:nvSpPr>
          <p:cNvPr id="24" name="Rectangle 23"/>
          <p:cNvSpPr/>
          <p:nvPr/>
        </p:nvSpPr>
        <p:spPr>
          <a:xfrm>
            <a:off x="5504688" y="4315968"/>
            <a:ext cx="2798064" cy="201168"/>
          </a:xfrm>
          <a:prstGeom prst="rect">
            <a:avLst/>
          </a:prstGeom>
          <a:solidFill>
            <a:srgbClr val="E8E8E8"/>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550408" y="4315968"/>
            <a:ext cx="2798064" cy="201168"/>
          </a:xfrm>
          <a:prstGeom prst="rect">
            <a:avLst/>
          </a:prstGeom>
          <a:noFill/>
        </p:spPr>
        <p:txBody>
          <a:bodyPr wrap="square" lIns="25400" rIns="12700" tIns="12700" bIns="12700"/>
          <a:lstStyle/>
          <a:p>
            <a:pPr algn="l"/>
            <a:r>
              <a:rPr sz="700" b="1" i="0">
                <a:solidFill>
                  <a:srgbClr val="000000"/>
                </a:solidFill>
                <a:latin typeface="Arial"/>
              </a:rPr>
              <a:t>SHEET INDEX</a:t>
            </a:r>
          </a:p>
        </p:txBody>
      </p:sp>
      <p:sp>
        <p:nvSpPr>
          <p:cNvPr id="26" name="Rectangle 25"/>
          <p:cNvSpPr/>
          <p:nvPr/>
        </p:nvSpPr>
        <p:spPr>
          <a:xfrm>
            <a:off x="5504688" y="4517136"/>
            <a:ext cx="2798064" cy="182880"/>
          </a:xfrm>
          <a:prstGeom prst="rect">
            <a:avLst/>
          </a:prstGeom>
          <a:solidFill>
            <a:srgbClr val="E8E8E8"/>
          </a:solidFill>
          <a:ln w="25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550408" y="4535424"/>
            <a:ext cx="457200" cy="164592"/>
          </a:xfrm>
          <a:prstGeom prst="rect">
            <a:avLst/>
          </a:prstGeom>
          <a:noFill/>
        </p:spPr>
        <p:txBody>
          <a:bodyPr wrap="square" lIns="25400" rIns="12700" tIns="12700" bIns="12700"/>
          <a:lstStyle/>
          <a:p>
            <a:pPr algn="l"/>
            <a:r>
              <a:rPr sz="650" b="1" i="0">
                <a:solidFill>
                  <a:srgbClr val="0B1E35"/>
                </a:solidFill>
                <a:latin typeface="Arial"/>
              </a:rPr>
              <a:t>E0</a:t>
            </a:r>
          </a:p>
        </p:txBody>
      </p:sp>
      <p:sp>
        <p:nvSpPr>
          <p:cNvPr id="28" name="TextBox 27"/>
          <p:cNvSpPr txBox="1"/>
          <p:nvPr/>
        </p:nvSpPr>
        <p:spPr>
          <a:xfrm>
            <a:off x="6053328" y="4535424"/>
            <a:ext cx="2203704" cy="164592"/>
          </a:xfrm>
          <a:prstGeom prst="rect">
            <a:avLst/>
          </a:prstGeom>
          <a:noFill/>
        </p:spPr>
        <p:txBody>
          <a:bodyPr wrap="square" lIns="25400" rIns="12700" tIns="12700" bIns="12700"/>
          <a:lstStyle/>
          <a:p>
            <a:pPr algn="l"/>
            <a:r>
              <a:rPr sz="650" b="0" i="0">
                <a:solidFill>
                  <a:srgbClr val="000000"/>
                </a:solidFill>
                <a:latin typeface="Arial"/>
              </a:rPr>
              <a:t>COVER SHEET</a:t>
            </a:r>
          </a:p>
        </p:txBody>
      </p:sp>
      <p:sp>
        <p:nvSpPr>
          <p:cNvPr id="29" name="Rectangle 28"/>
          <p:cNvSpPr/>
          <p:nvPr/>
        </p:nvSpPr>
        <p:spPr>
          <a:xfrm>
            <a:off x="5504688" y="4700016"/>
            <a:ext cx="2798064" cy="182880"/>
          </a:xfrm>
          <a:prstGeom prst="rect">
            <a:avLst/>
          </a:prstGeom>
          <a:solidFill>
            <a:srgbClr val="FFFFFF"/>
          </a:solidFill>
          <a:ln w="25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550408" y="4718304"/>
            <a:ext cx="457200" cy="164592"/>
          </a:xfrm>
          <a:prstGeom prst="rect">
            <a:avLst/>
          </a:prstGeom>
          <a:noFill/>
        </p:spPr>
        <p:txBody>
          <a:bodyPr wrap="square" lIns="25400" rIns="12700" tIns="12700" bIns="12700"/>
          <a:lstStyle/>
          <a:p>
            <a:pPr algn="l"/>
            <a:r>
              <a:rPr sz="650" b="1" i="0">
                <a:solidFill>
                  <a:srgbClr val="0B1E35"/>
                </a:solidFill>
                <a:latin typeface="Arial"/>
              </a:rPr>
              <a:t>E1.0</a:t>
            </a:r>
          </a:p>
        </p:txBody>
      </p:sp>
      <p:sp>
        <p:nvSpPr>
          <p:cNvPr id="31" name="TextBox 30"/>
          <p:cNvSpPr txBox="1"/>
          <p:nvPr/>
        </p:nvSpPr>
        <p:spPr>
          <a:xfrm>
            <a:off x="6053328" y="4718304"/>
            <a:ext cx="2203704" cy="164592"/>
          </a:xfrm>
          <a:prstGeom prst="rect">
            <a:avLst/>
          </a:prstGeom>
          <a:noFill/>
        </p:spPr>
        <p:txBody>
          <a:bodyPr wrap="square" lIns="25400" rIns="12700" tIns="12700" bIns="12700"/>
          <a:lstStyle/>
          <a:p>
            <a:pPr algn="l"/>
            <a:r>
              <a:rPr sz="650" b="0" i="0">
                <a:solidFill>
                  <a:srgbClr val="000000"/>
                </a:solidFill>
                <a:latin typeface="Arial"/>
              </a:rPr>
              <a:t>PLOT PLAN</a:t>
            </a:r>
          </a:p>
        </p:txBody>
      </p:sp>
      <p:sp>
        <p:nvSpPr>
          <p:cNvPr id="32" name="Rectangle 31"/>
          <p:cNvSpPr/>
          <p:nvPr/>
        </p:nvSpPr>
        <p:spPr>
          <a:xfrm>
            <a:off x="5504688" y="4882896"/>
            <a:ext cx="2798064" cy="182880"/>
          </a:xfrm>
          <a:prstGeom prst="rect">
            <a:avLst/>
          </a:prstGeom>
          <a:solidFill>
            <a:srgbClr val="E8E8E8"/>
          </a:solidFill>
          <a:ln w="25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550408" y="4901184"/>
            <a:ext cx="457200" cy="164592"/>
          </a:xfrm>
          <a:prstGeom prst="rect">
            <a:avLst/>
          </a:prstGeom>
          <a:noFill/>
        </p:spPr>
        <p:txBody>
          <a:bodyPr wrap="square" lIns="25400" rIns="12700" tIns="12700" bIns="12700"/>
          <a:lstStyle/>
          <a:p>
            <a:pPr algn="l"/>
            <a:r>
              <a:rPr sz="650" b="1" i="0">
                <a:solidFill>
                  <a:srgbClr val="0B1E35"/>
                </a:solidFill>
                <a:latin typeface="Arial"/>
              </a:rPr>
              <a:t>E1.1</a:t>
            </a:r>
          </a:p>
        </p:txBody>
      </p:sp>
      <p:sp>
        <p:nvSpPr>
          <p:cNvPr id="34" name="TextBox 33"/>
          <p:cNvSpPr txBox="1"/>
          <p:nvPr/>
        </p:nvSpPr>
        <p:spPr>
          <a:xfrm>
            <a:off x="6053328" y="4901184"/>
            <a:ext cx="2203704" cy="164592"/>
          </a:xfrm>
          <a:prstGeom prst="rect">
            <a:avLst/>
          </a:prstGeom>
          <a:noFill/>
        </p:spPr>
        <p:txBody>
          <a:bodyPr wrap="square" lIns="25400" rIns="12700" tIns="12700" bIns="12700"/>
          <a:lstStyle/>
          <a:p>
            <a:pPr algn="l"/>
            <a:r>
              <a:rPr sz="650" b="0" i="0">
                <a:solidFill>
                  <a:srgbClr val="000000"/>
                </a:solidFill>
                <a:latin typeface="Arial"/>
              </a:rPr>
              <a:t>ENLARGED PLOT PLAN</a:t>
            </a:r>
          </a:p>
        </p:txBody>
      </p:sp>
      <p:sp>
        <p:nvSpPr>
          <p:cNvPr id="35" name="Rectangle 34"/>
          <p:cNvSpPr/>
          <p:nvPr/>
        </p:nvSpPr>
        <p:spPr>
          <a:xfrm>
            <a:off x="5504688" y="5065776"/>
            <a:ext cx="2798064" cy="182880"/>
          </a:xfrm>
          <a:prstGeom prst="rect">
            <a:avLst/>
          </a:prstGeom>
          <a:solidFill>
            <a:srgbClr val="FFFFFF"/>
          </a:solidFill>
          <a:ln w="25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550408" y="5084064"/>
            <a:ext cx="457200" cy="164592"/>
          </a:xfrm>
          <a:prstGeom prst="rect">
            <a:avLst/>
          </a:prstGeom>
          <a:noFill/>
        </p:spPr>
        <p:txBody>
          <a:bodyPr wrap="square" lIns="25400" rIns="12700" tIns="12700" bIns="12700"/>
          <a:lstStyle/>
          <a:p>
            <a:pPr algn="l"/>
            <a:r>
              <a:rPr sz="650" b="1" i="0">
                <a:solidFill>
                  <a:srgbClr val="0B1E35"/>
                </a:solidFill>
                <a:latin typeface="Arial"/>
              </a:rPr>
              <a:t>E1.2</a:t>
            </a:r>
          </a:p>
        </p:txBody>
      </p:sp>
      <p:sp>
        <p:nvSpPr>
          <p:cNvPr id="37" name="TextBox 36"/>
          <p:cNvSpPr txBox="1"/>
          <p:nvPr/>
        </p:nvSpPr>
        <p:spPr>
          <a:xfrm>
            <a:off x="6053328" y="5084064"/>
            <a:ext cx="2203704" cy="164592"/>
          </a:xfrm>
          <a:prstGeom prst="rect">
            <a:avLst/>
          </a:prstGeom>
          <a:noFill/>
        </p:spPr>
        <p:txBody>
          <a:bodyPr wrap="square" lIns="25400" rIns="12700" tIns="12700" bIns="12700"/>
          <a:lstStyle/>
          <a:p>
            <a:pPr algn="l"/>
            <a:r>
              <a:rPr sz="650" b="0" i="0">
                <a:solidFill>
                  <a:srgbClr val="000000"/>
                </a:solidFill>
                <a:latin typeface="Arial"/>
              </a:rPr>
              <a:t>DEMOLITION PLAN</a:t>
            </a:r>
          </a:p>
        </p:txBody>
      </p:sp>
      <p:sp>
        <p:nvSpPr>
          <p:cNvPr id="38" name="Rectangle 37"/>
          <p:cNvSpPr/>
          <p:nvPr/>
        </p:nvSpPr>
        <p:spPr>
          <a:xfrm>
            <a:off x="5504688" y="5248656"/>
            <a:ext cx="2798064" cy="182880"/>
          </a:xfrm>
          <a:prstGeom prst="rect">
            <a:avLst/>
          </a:prstGeom>
          <a:solidFill>
            <a:srgbClr val="E8E8E8"/>
          </a:solidFill>
          <a:ln w="25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550408" y="5266944"/>
            <a:ext cx="457200" cy="164592"/>
          </a:xfrm>
          <a:prstGeom prst="rect">
            <a:avLst/>
          </a:prstGeom>
          <a:noFill/>
        </p:spPr>
        <p:txBody>
          <a:bodyPr wrap="square" lIns="25400" rIns="12700" tIns="12700" bIns="12700"/>
          <a:lstStyle/>
          <a:p>
            <a:pPr algn="l"/>
            <a:r>
              <a:rPr sz="650" b="1" i="0">
                <a:solidFill>
                  <a:srgbClr val="0B1E35"/>
                </a:solidFill>
                <a:latin typeface="Arial"/>
              </a:rPr>
              <a:t>E2.0</a:t>
            </a:r>
          </a:p>
        </p:txBody>
      </p:sp>
      <p:sp>
        <p:nvSpPr>
          <p:cNvPr id="40" name="TextBox 39"/>
          <p:cNvSpPr txBox="1"/>
          <p:nvPr/>
        </p:nvSpPr>
        <p:spPr>
          <a:xfrm>
            <a:off x="6053328" y="5266944"/>
            <a:ext cx="2203704" cy="164592"/>
          </a:xfrm>
          <a:prstGeom prst="rect">
            <a:avLst/>
          </a:prstGeom>
          <a:noFill/>
        </p:spPr>
        <p:txBody>
          <a:bodyPr wrap="square" lIns="25400" rIns="12700" tIns="12700" bIns="12700"/>
          <a:lstStyle/>
          <a:p>
            <a:pPr algn="l"/>
            <a:r>
              <a:rPr sz="650" b="0" i="0">
                <a:solidFill>
                  <a:srgbClr val="000000"/>
                </a:solidFill>
                <a:latin typeface="Arial"/>
              </a:rPr>
              <a:t>SINGLE LINE DIAGRAM</a:t>
            </a:r>
          </a:p>
        </p:txBody>
      </p:sp>
      <p:sp>
        <p:nvSpPr>
          <p:cNvPr id="41" name="Rectangle 40"/>
          <p:cNvSpPr/>
          <p:nvPr/>
        </p:nvSpPr>
        <p:spPr>
          <a:xfrm>
            <a:off x="5504688" y="5431536"/>
            <a:ext cx="2798064" cy="182880"/>
          </a:xfrm>
          <a:prstGeom prst="rect">
            <a:avLst/>
          </a:prstGeom>
          <a:solidFill>
            <a:srgbClr val="FFFFFF"/>
          </a:solidFill>
          <a:ln w="25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550408" y="5449824"/>
            <a:ext cx="457200" cy="164592"/>
          </a:xfrm>
          <a:prstGeom prst="rect">
            <a:avLst/>
          </a:prstGeom>
          <a:noFill/>
        </p:spPr>
        <p:txBody>
          <a:bodyPr wrap="square" lIns="25400" rIns="12700" tIns="12700" bIns="12700"/>
          <a:lstStyle/>
          <a:p>
            <a:pPr algn="l"/>
            <a:r>
              <a:rPr sz="650" b="1" i="0">
                <a:solidFill>
                  <a:srgbClr val="0B1E35"/>
                </a:solidFill>
                <a:latin typeface="Arial"/>
              </a:rPr>
              <a:t>E4.0</a:t>
            </a:r>
          </a:p>
        </p:txBody>
      </p:sp>
      <p:sp>
        <p:nvSpPr>
          <p:cNvPr id="43" name="TextBox 42"/>
          <p:cNvSpPr txBox="1"/>
          <p:nvPr/>
        </p:nvSpPr>
        <p:spPr>
          <a:xfrm>
            <a:off x="6053328" y="5449824"/>
            <a:ext cx="2203704" cy="164592"/>
          </a:xfrm>
          <a:prstGeom prst="rect">
            <a:avLst/>
          </a:prstGeom>
          <a:noFill/>
        </p:spPr>
        <p:txBody>
          <a:bodyPr wrap="square" lIns="25400" rIns="12700" tIns="12700" bIns="12700"/>
          <a:lstStyle/>
          <a:p>
            <a:pPr algn="l"/>
            <a:r>
              <a:rPr sz="650" b="0" i="0">
                <a:solidFill>
                  <a:srgbClr val="000000"/>
                </a:solidFill>
                <a:latin typeface="Arial"/>
              </a:rPr>
              <a:t>SIGNAGE</a:t>
            </a:r>
          </a:p>
        </p:txBody>
      </p:sp>
      <p:sp>
        <p:nvSpPr>
          <p:cNvPr id="44" name="Rectangle 43"/>
          <p:cNvSpPr/>
          <p:nvPr/>
        </p:nvSpPr>
        <p:spPr>
          <a:xfrm>
            <a:off x="5504688" y="5614416"/>
            <a:ext cx="2798064" cy="182880"/>
          </a:xfrm>
          <a:prstGeom prst="rect">
            <a:avLst/>
          </a:prstGeom>
          <a:solidFill>
            <a:srgbClr val="E8E8E8"/>
          </a:solidFill>
          <a:ln w="25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550408" y="5632704"/>
            <a:ext cx="457200" cy="164592"/>
          </a:xfrm>
          <a:prstGeom prst="rect">
            <a:avLst/>
          </a:prstGeom>
          <a:noFill/>
        </p:spPr>
        <p:txBody>
          <a:bodyPr wrap="square" lIns="25400" rIns="12700" tIns="12700" bIns="12700"/>
          <a:lstStyle/>
          <a:p>
            <a:pPr algn="l"/>
            <a:r>
              <a:rPr sz="650" b="1" i="0">
                <a:solidFill>
                  <a:srgbClr val="0B1E35"/>
                </a:solidFill>
                <a:latin typeface="Arial"/>
              </a:rPr>
              <a:t>S1.1</a:t>
            </a:r>
          </a:p>
        </p:txBody>
      </p:sp>
      <p:sp>
        <p:nvSpPr>
          <p:cNvPr id="46" name="TextBox 45"/>
          <p:cNvSpPr txBox="1"/>
          <p:nvPr/>
        </p:nvSpPr>
        <p:spPr>
          <a:xfrm>
            <a:off x="6053328" y="5632704"/>
            <a:ext cx="2203704" cy="164592"/>
          </a:xfrm>
          <a:prstGeom prst="rect">
            <a:avLst/>
          </a:prstGeom>
          <a:noFill/>
        </p:spPr>
        <p:txBody>
          <a:bodyPr wrap="square" lIns="25400" rIns="12700" tIns="12700" bIns="12700"/>
          <a:lstStyle/>
          <a:p>
            <a:pPr algn="l"/>
            <a:r>
              <a:rPr sz="650" b="0" i="0">
                <a:solidFill>
                  <a:srgbClr val="000000"/>
                </a:solidFill>
                <a:latin typeface="Arial"/>
              </a:rPr>
              <a:t>BESS PAD DETAILS</a:t>
            </a:r>
          </a:p>
        </p:txBody>
      </p:sp>
      <p:sp>
        <p:nvSpPr>
          <p:cNvPr id="47" name="Rectangle 46"/>
          <p:cNvSpPr/>
          <p:nvPr/>
        </p:nvSpPr>
        <p:spPr>
          <a:xfrm>
            <a:off x="5504688" y="5797296"/>
            <a:ext cx="2798064" cy="182880"/>
          </a:xfrm>
          <a:prstGeom prst="rect">
            <a:avLst/>
          </a:prstGeom>
          <a:solidFill>
            <a:srgbClr val="FFFFFF"/>
          </a:solidFill>
          <a:ln w="25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550408" y="5815584"/>
            <a:ext cx="457200" cy="164592"/>
          </a:xfrm>
          <a:prstGeom prst="rect">
            <a:avLst/>
          </a:prstGeom>
          <a:noFill/>
        </p:spPr>
        <p:txBody>
          <a:bodyPr wrap="square" lIns="25400" rIns="12700" tIns="12700" bIns="12700"/>
          <a:lstStyle/>
          <a:p>
            <a:pPr algn="l"/>
            <a:r>
              <a:rPr sz="650" b="1" i="0">
                <a:solidFill>
                  <a:srgbClr val="0B1E35"/>
                </a:solidFill>
                <a:latin typeface="Arial"/>
              </a:rPr>
              <a:t>S1.2</a:t>
            </a:r>
          </a:p>
        </p:txBody>
      </p:sp>
      <p:sp>
        <p:nvSpPr>
          <p:cNvPr id="49" name="TextBox 48"/>
          <p:cNvSpPr txBox="1"/>
          <p:nvPr/>
        </p:nvSpPr>
        <p:spPr>
          <a:xfrm>
            <a:off x="6053328" y="5815584"/>
            <a:ext cx="2203704" cy="164592"/>
          </a:xfrm>
          <a:prstGeom prst="rect">
            <a:avLst/>
          </a:prstGeom>
          <a:noFill/>
        </p:spPr>
        <p:txBody>
          <a:bodyPr wrap="square" lIns="25400" rIns="12700" tIns="12700" bIns="12700"/>
          <a:lstStyle/>
          <a:p>
            <a:pPr algn="l"/>
            <a:r>
              <a:rPr sz="650" b="0" i="0">
                <a:solidFill>
                  <a:srgbClr val="000000"/>
                </a:solidFill>
                <a:latin typeface="Arial"/>
              </a:rPr>
              <a:t>GEAR PAD DETAILS</a:t>
            </a:r>
          </a:p>
        </p:txBody>
      </p:sp>
      <p:sp>
        <p:nvSpPr>
          <p:cNvPr id="50" name="Rectangle 49"/>
          <p:cNvSpPr/>
          <p:nvPr/>
        </p:nvSpPr>
        <p:spPr>
          <a:xfrm>
            <a:off x="5504688" y="5980176"/>
            <a:ext cx="2798064" cy="182880"/>
          </a:xfrm>
          <a:prstGeom prst="rect">
            <a:avLst/>
          </a:prstGeom>
          <a:solidFill>
            <a:srgbClr val="E8E8E8"/>
          </a:solidFill>
          <a:ln w="25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550408" y="5998464"/>
            <a:ext cx="457200" cy="164592"/>
          </a:xfrm>
          <a:prstGeom prst="rect">
            <a:avLst/>
          </a:prstGeom>
          <a:noFill/>
        </p:spPr>
        <p:txBody>
          <a:bodyPr wrap="square" lIns="25400" rIns="12700" tIns="12700" bIns="12700"/>
          <a:lstStyle/>
          <a:p>
            <a:pPr algn="l"/>
            <a:r>
              <a:rPr sz="650" b="1" i="0">
                <a:solidFill>
                  <a:srgbClr val="0B1E35"/>
                </a:solidFill>
                <a:latin typeface="Arial"/>
              </a:rPr>
              <a:t>S2.0</a:t>
            </a:r>
          </a:p>
        </p:txBody>
      </p:sp>
      <p:sp>
        <p:nvSpPr>
          <p:cNvPr id="52" name="TextBox 51"/>
          <p:cNvSpPr txBox="1"/>
          <p:nvPr/>
        </p:nvSpPr>
        <p:spPr>
          <a:xfrm>
            <a:off x="6053328" y="5998464"/>
            <a:ext cx="2203704" cy="164592"/>
          </a:xfrm>
          <a:prstGeom prst="rect">
            <a:avLst/>
          </a:prstGeom>
          <a:noFill/>
        </p:spPr>
        <p:txBody>
          <a:bodyPr wrap="square" lIns="25400" rIns="12700" tIns="12700" bIns="12700"/>
          <a:lstStyle/>
          <a:p>
            <a:pPr algn="l"/>
            <a:r>
              <a:rPr sz="650" b="0" i="0">
                <a:solidFill>
                  <a:srgbClr val="000000"/>
                </a:solidFill>
                <a:latin typeface="Arial"/>
              </a:rPr>
              <a:t>GROUNDING DETAILS</a:t>
            </a:r>
          </a:p>
        </p:txBody>
      </p:sp>
      <p:sp>
        <p:nvSpPr>
          <p:cNvPr id="53" name="Rectangle 52"/>
          <p:cNvSpPr/>
          <p:nvPr/>
        </p:nvSpPr>
        <p:spPr>
          <a:xfrm>
            <a:off x="5504688" y="6163056"/>
            <a:ext cx="2798064" cy="182880"/>
          </a:xfrm>
          <a:prstGeom prst="rect">
            <a:avLst/>
          </a:prstGeom>
          <a:solidFill>
            <a:srgbClr val="FFFFFF"/>
          </a:solidFill>
          <a:ln w="25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550408" y="6181344"/>
            <a:ext cx="457200" cy="164592"/>
          </a:xfrm>
          <a:prstGeom prst="rect">
            <a:avLst/>
          </a:prstGeom>
          <a:noFill/>
        </p:spPr>
        <p:txBody>
          <a:bodyPr wrap="square" lIns="25400" rIns="12700" tIns="12700" bIns="12700"/>
          <a:lstStyle/>
          <a:p>
            <a:pPr algn="l"/>
            <a:r>
              <a:rPr sz="650" b="1" i="0">
                <a:solidFill>
                  <a:srgbClr val="0B1E35"/>
                </a:solidFill>
                <a:latin typeface="Arial"/>
              </a:rPr>
              <a:t>S3.0</a:t>
            </a:r>
          </a:p>
        </p:txBody>
      </p:sp>
      <p:sp>
        <p:nvSpPr>
          <p:cNvPr id="55" name="TextBox 54"/>
          <p:cNvSpPr txBox="1"/>
          <p:nvPr/>
        </p:nvSpPr>
        <p:spPr>
          <a:xfrm>
            <a:off x="6053328" y="6181344"/>
            <a:ext cx="2203704" cy="164592"/>
          </a:xfrm>
          <a:prstGeom prst="rect">
            <a:avLst/>
          </a:prstGeom>
          <a:noFill/>
        </p:spPr>
        <p:txBody>
          <a:bodyPr wrap="square" lIns="25400" rIns="12700" tIns="12700" bIns="12700"/>
          <a:lstStyle/>
          <a:p>
            <a:pPr algn="l"/>
            <a:r>
              <a:rPr sz="650" b="0" i="0">
                <a:solidFill>
                  <a:srgbClr val="000000"/>
                </a:solidFill>
                <a:latin typeface="Arial"/>
              </a:rPr>
              <a:t>FENCING DETAILS</a:t>
            </a:r>
          </a:p>
        </p:txBody>
      </p:sp>
      <p:sp>
        <p:nvSpPr>
          <p:cNvPr id="56" name="Rectangle 55"/>
          <p:cNvSpPr/>
          <p:nvPr/>
        </p:nvSpPr>
        <p:spPr>
          <a:xfrm>
            <a:off x="8427110" y="4315968"/>
            <a:ext cx="3295497" cy="201168"/>
          </a:xfrm>
          <a:prstGeom prst="rect">
            <a:avLst/>
          </a:prstGeom>
          <a:solidFill>
            <a:srgbClr val="E8E8E8"/>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72830" y="4315968"/>
            <a:ext cx="3295497" cy="201168"/>
          </a:xfrm>
          <a:prstGeom prst="rect">
            <a:avLst/>
          </a:prstGeom>
          <a:noFill/>
        </p:spPr>
        <p:txBody>
          <a:bodyPr wrap="square" lIns="25400" rIns="12700" tIns="12700" bIns="12700"/>
          <a:lstStyle/>
          <a:p>
            <a:pPr algn="l"/>
            <a:r>
              <a:rPr sz="700" b="1" i="0">
                <a:solidFill>
                  <a:srgbClr val="000000"/>
                </a:solidFill>
                <a:latin typeface="Arial"/>
              </a:rPr>
              <a:t>SITE INFORMATION</a:t>
            </a:r>
          </a:p>
        </p:txBody>
      </p:sp>
      <p:sp>
        <p:nvSpPr>
          <p:cNvPr id="58" name="Rectangle 57"/>
          <p:cNvSpPr/>
          <p:nvPr/>
        </p:nvSpPr>
        <p:spPr>
          <a:xfrm>
            <a:off x="8427110" y="4517136"/>
            <a:ext cx="3295497" cy="182880"/>
          </a:xfrm>
          <a:prstGeom prst="rect">
            <a:avLst/>
          </a:prstGeom>
          <a:solidFill>
            <a:srgbClr val="E8E8E8"/>
          </a:solidFill>
          <a:ln w="25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472830" y="4535424"/>
            <a:ext cx="1977298" cy="164592"/>
          </a:xfrm>
          <a:prstGeom prst="rect">
            <a:avLst/>
          </a:prstGeom>
          <a:noFill/>
        </p:spPr>
        <p:txBody>
          <a:bodyPr wrap="square" lIns="25400" rIns="12700" tIns="12700" bIns="12700"/>
          <a:lstStyle/>
          <a:p>
            <a:pPr algn="l"/>
            <a:r>
              <a:rPr sz="650" b="0" i="0">
                <a:solidFill>
                  <a:srgbClr val="000000"/>
                </a:solidFill>
                <a:latin typeface="Arial"/>
              </a:rPr>
              <a:t>SITE LATITUDE</a:t>
            </a:r>
          </a:p>
        </p:txBody>
      </p:sp>
      <p:sp>
        <p:nvSpPr>
          <p:cNvPr id="60" name="TextBox 59"/>
          <p:cNvSpPr txBox="1"/>
          <p:nvPr/>
        </p:nvSpPr>
        <p:spPr>
          <a:xfrm>
            <a:off x="10470318" y="4535424"/>
            <a:ext cx="1186379" cy="164592"/>
          </a:xfrm>
          <a:prstGeom prst="rect">
            <a:avLst/>
          </a:prstGeom>
          <a:noFill/>
        </p:spPr>
        <p:txBody>
          <a:bodyPr wrap="square" lIns="25400" rIns="12700" tIns="12700" bIns="12700"/>
          <a:lstStyle/>
          <a:p>
            <a:pPr algn="l"/>
            <a:r>
              <a:rPr sz="650" b="1" i="0">
                <a:solidFill>
                  <a:srgbClr val="0B1E35"/>
                </a:solidFill>
                <a:latin typeface="Arial"/>
              </a:rPr>
              <a:t>{{LAT}}</a:t>
            </a:r>
          </a:p>
        </p:txBody>
      </p:sp>
      <p:sp>
        <p:nvSpPr>
          <p:cNvPr id="61" name="Rectangle 60"/>
          <p:cNvSpPr/>
          <p:nvPr/>
        </p:nvSpPr>
        <p:spPr>
          <a:xfrm>
            <a:off x="8427110" y="4700016"/>
            <a:ext cx="3295497" cy="182880"/>
          </a:xfrm>
          <a:prstGeom prst="rect">
            <a:avLst/>
          </a:prstGeom>
          <a:solidFill>
            <a:srgbClr val="FFFFFF"/>
          </a:solidFill>
          <a:ln w="25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472830" y="4718304"/>
            <a:ext cx="1977298" cy="164592"/>
          </a:xfrm>
          <a:prstGeom prst="rect">
            <a:avLst/>
          </a:prstGeom>
          <a:noFill/>
        </p:spPr>
        <p:txBody>
          <a:bodyPr wrap="square" lIns="25400" rIns="12700" tIns="12700" bIns="12700"/>
          <a:lstStyle/>
          <a:p>
            <a:pPr algn="l"/>
            <a:r>
              <a:rPr sz="650" b="0" i="0">
                <a:solidFill>
                  <a:srgbClr val="000000"/>
                </a:solidFill>
                <a:latin typeface="Arial"/>
              </a:rPr>
              <a:t>ZONING DISTRICT</a:t>
            </a:r>
          </a:p>
        </p:txBody>
      </p:sp>
      <p:sp>
        <p:nvSpPr>
          <p:cNvPr id="63" name="TextBox 62"/>
          <p:cNvSpPr txBox="1"/>
          <p:nvPr/>
        </p:nvSpPr>
        <p:spPr>
          <a:xfrm>
            <a:off x="10470318" y="4718304"/>
            <a:ext cx="1186379" cy="164592"/>
          </a:xfrm>
          <a:prstGeom prst="rect">
            <a:avLst/>
          </a:prstGeom>
          <a:noFill/>
        </p:spPr>
        <p:txBody>
          <a:bodyPr wrap="square" lIns="25400" rIns="12700" tIns="12700" bIns="12700"/>
          <a:lstStyle/>
          <a:p>
            <a:pPr algn="l"/>
            <a:r>
              <a:rPr sz="650" b="1" i="0">
                <a:solidFill>
                  <a:srgbClr val="0B1E35"/>
                </a:solidFill>
                <a:latin typeface="Arial"/>
              </a:rPr>
              <a:t>{{ZONING}}</a:t>
            </a:r>
          </a:p>
        </p:txBody>
      </p:sp>
      <p:sp>
        <p:nvSpPr>
          <p:cNvPr id="64" name="Rectangle 63"/>
          <p:cNvSpPr/>
          <p:nvPr/>
        </p:nvSpPr>
        <p:spPr>
          <a:xfrm>
            <a:off x="8427110" y="4882896"/>
            <a:ext cx="3295497" cy="182880"/>
          </a:xfrm>
          <a:prstGeom prst="rect">
            <a:avLst/>
          </a:prstGeom>
          <a:solidFill>
            <a:srgbClr val="E8E8E8"/>
          </a:solidFill>
          <a:ln w="25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472830" y="4901184"/>
            <a:ext cx="1977298" cy="164592"/>
          </a:xfrm>
          <a:prstGeom prst="rect">
            <a:avLst/>
          </a:prstGeom>
          <a:noFill/>
        </p:spPr>
        <p:txBody>
          <a:bodyPr wrap="square" lIns="25400" rIns="12700" tIns="12700" bIns="12700"/>
          <a:lstStyle/>
          <a:p>
            <a:pPr algn="l"/>
            <a:r>
              <a:rPr sz="650" b="0" i="0">
                <a:solidFill>
                  <a:srgbClr val="000000"/>
                </a:solidFill>
                <a:latin typeface="Arial"/>
              </a:rPr>
              <a:t>FLOOD ZONE</a:t>
            </a:r>
          </a:p>
        </p:txBody>
      </p:sp>
      <p:sp>
        <p:nvSpPr>
          <p:cNvPr id="66" name="TextBox 65"/>
          <p:cNvSpPr txBox="1"/>
          <p:nvPr/>
        </p:nvSpPr>
        <p:spPr>
          <a:xfrm>
            <a:off x="10470318" y="4901184"/>
            <a:ext cx="1186379" cy="164592"/>
          </a:xfrm>
          <a:prstGeom prst="rect">
            <a:avLst/>
          </a:prstGeom>
          <a:noFill/>
        </p:spPr>
        <p:txBody>
          <a:bodyPr wrap="square" lIns="25400" rIns="12700" tIns="12700" bIns="12700"/>
          <a:lstStyle/>
          <a:p>
            <a:pPr algn="l"/>
            <a:r>
              <a:rPr sz="650" b="1" i="0">
                <a:solidFill>
                  <a:srgbClr val="0B1E35"/>
                </a:solidFill>
                <a:latin typeface="Arial"/>
              </a:rPr>
              <a:t>{{FLOOD_ZONE}}</a:t>
            </a:r>
          </a:p>
        </p:txBody>
      </p:sp>
      <p:sp>
        <p:nvSpPr>
          <p:cNvPr id="67" name="Rectangle 66"/>
          <p:cNvSpPr/>
          <p:nvPr/>
        </p:nvSpPr>
        <p:spPr>
          <a:xfrm>
            <a:off x="8427110" y="5065776"/>
            <a:ext cx="3295497" cy="182880"/>
          </a:xfrm>
          <a:prstGeom prst="rect">
            <a:avLst/>
          </a:prstGeom>
          <a:solidFill>
            <a:srgbClr val="FFFFFF"/>
          </a:solidFill>
          <a:ln w="25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472830" y="5084064"/>
            <a:ext cx="1977298" cy="164592"/>
          </a:xfrm>
          <a:prstGeom prst="rect">
            <a:avLst/>
          </a:prstGeom>
          <a:noFill/>
        </p:spPr>
        <p:txBody>
          <a:bodyPr wrap="square" lIns="25400" rIns="12700" tIns="12700" bIns="12700"/>
          <a:lstStyle/>
          <a:p>
            <a:pPr algn="l"/>
            <a:r>
              <a:rPr sz="650" b="0" i="0">
                <a:solidFill>
                  <a:srgbClr val="000000"/>
                </a:solidFill>
                <a:latin typeface="Arial"/>
              </a:rPr>
              <a:t>EXPOSURE CATEGORY</a:t>
            </a:r>
          </a:p>
        </p:txBody>
      </p:sp>
      <p:sp>
        <p:nvSpPr>
          <p:cNvPr id="69" name="TextBox 68"/>
          <p:cNvSpPr txBox="1"/>
          <p:nvPr/>
        </p:nvSpPr>
        <p:spPr>
          <a:xfrm>
            <a:off x="10470318" y="5084064"/>
            <a:ext cx="1186379" cy="164592"/>
          </a:xfrm>
          <a:prstGeom prst="rect">
            <a:avLst/>
          </a:prstGeom>
          <a:noFill/>
        </p:spPr>
        <p:txBody>
          <a:bodyPr wrap="square" lIns="25400" rIns="12700" tIns="12700" bIns="12700"/>
          <a:lstStyle/>
          <a:p>
            <a:pPr algn="l"/>
            <a:r>
              <a:rPr sz="650" b="1" i="0">
                <a:solidFill>
                  <a:srgbClr val="0B1E35"/>
                </a:solidFill>
                <a:latin typeface="Arial"/>
              </a:rPr>
              <a:t>{{EXPOSURE}}</a:t>
            </a:r>
          </a:p>
        </p:txBody>
      </p:sp>
      <p:sp>
        <p:nvSpPr>
          <p:cNvPr id="70" name="Rectangle 69"/>
          <p:cNvSpPr/>
          <p:nvPr/>
        </p:nvSpPr>
        <p:spPr>
          <a:xfrm>
            <a:off x="8427110" y="5248656"/>
            <a:ext cx="3295497" cy="182880"/>
          </a:xfrm>
          <a:prstGeom prst="rect">
            <a:avLst/>
          </a:prstGeom>
          <a:solidFill>
            <a:srgbClr val="E8E8E8"/>
          </a:solidFill>
          <a:ln w="25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472830" y="5266944"/>
            <a:ext cx="1977298" cy="164592"/>
          </a:xfrm>
          <a:prstGeom prst="rect">
            <a:avLst/>
          </a:prstGeom>
          <a:noFill/>
        </p:spPr>
        <p:txBody>
          <a:bodyPr wrap="square" lIns="25400" rIns="12700" tIns="12700" bIns="12700"/>
          <a:lstStyle/>
          <a:p>
            <a:pPr algn="l"/>
            <a:r>
              <a:rPr sz="650" b="0" i="0">
                <a:solidFill>
                  <a:srgbClr val="000000"/>
                </a:solidFill>
                <a:latin typeface="Arial"/>
              </a:rPr>
              <a:t>SEISMIC DESIGN CATEGORY</a:t>
            </a:r>
          </a:p>
        </p:txBody>
      </p:sp>
      <p:sp>
        <p:nvSpPr>
          <p:cNvPr id="72" name="TextBox 71"/>
          <p:cNvSpPr txBox="1"/>
          <p:nvPr/>
        </p:nvSpPr>
        <p:spPr>
          <a:xfrm>
            <a:off x="10470318" y="5266944"/>
            <a:ext cx="1186379" cy="164592"/>
          </a:xfrm>
          <a:prstGeom prst="rect">
            <a:avLst/>
          </a:prstGeom>
          <a:noFill/>
        </p:spPr>
        <p:txBody>
          <a:bodyPr wrap="square" lIns="25400" rIns="12700" tIns="12700" bIns="12700"/>
          <a:lstStyle/>
          <a:p>
            <a:pPr algn="l"/>
            <a:r>
              <a:rPr sz="650" b="1" i="0">
                <a:solidFill>
                  <a:srgbClr val="0B1E35"/>
                </a:solidFill>
                <a:latin typeface="Arial"/>
              </a:rPr>
              <a:t>{{SDC}}</a:t>
            </a:r>
          </a:p>
        </p:txBody>
      </p:sp>
      <p:sp>
        <p:nvSpPr>
          <p:cNvPr id="73" name="Rectangle 72"/>
          <p:cNvSpPr/>
          <p:nvPr/>
        </p:nvSpPr>
        <p:spPr>
          <a:xfrm>
            <a:off x="8427110" y="5431536"/>
            <a:ext cx="3295497" cy="182880"/>
          </a:xfrm>
          <a:prstGeom prst="rect">
            <a:avLst/>
          </a:prstGeom>
          <a:solidFill>
            <a:srgbClr val="FFFFFF"/>
          </a:solidFill>
          <a:ln w="25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472830" y="5449824"/>
            <a:ext cx="1977298" cy="164592"/>
          </a:xfrm>
          <a:prstGeom prst="rect">
            <a:avLst/>
          </a:prstGeom>
          <a:noFill/>
        </p:spPr>
        <p:txBody>
          <a:bodyPr wrap="square" lIns="25400" rIns="12700" tIns="12700" bIns="12700"/>
          <a:lstStyle/>
          <a:p>
            <a:pPr algn="l"/>
            <a:r>
              <a:rPr sz="650" b="0" i="0">
                <a:solidFill>
                  <a:srgbClr val="000000"/>
                </a:solidFill>
                <a:latin typeface="Arial"/>
              </a:rPr>
              <a:t>RISK CATEGORY</a:t>
            </a:r>
          </a:p>
        </p:txBody>
      </p:sp>
      <p:sp>
        <p:nvSpPr>
          <p:cNvPr id="75" name="TextBox 74"/>
          <p:cNvSpPr txBox="1"/>
          <p:nvPr/>
        </p:nvSpPr>
        <p:spPr>
          <a:xfrm>
            <a:off x="10470318" y="5449824"/>
            <a:ext cx="1186379" cy="164592"/>
          </a:xfrm>
          <a:prstGeom prst="rect">
            <a:avLst/>
          </a:prstGeom>
          <a:noFill/>
        </p:spPr>
        <p:txBody>
          <a:bodyPr wrap="square" lIns="25400" rIns="12700" tIns="12700" bIns="12700"/>
          <a:lstStyle/>
          <a:p>
            <a:pPr algn="l"/>
            <a:r>
              <a:rPr sz="650" b="1" i="0">
                <a:solidFill>
                  <a:srgbClr val="0B1E35"/>
                </a:solidFill>
                <a:latin typeface="Arial"/>
              </a:rPr>
              <a:t>{{RISK_CAT}}</a:t>
            </a:r>
          </a:p>
        </p:txBody>
      </p:sp>
      <p:sp>
        <p:nvSpPr>
          <p:cNvPr id="76" name="Rectangle 75"/>
          <p:cNvSpPr/>
          <p:nvPr/>
        </p:nvSpPr>
        <p:spPr>
          <a:xfrm>
            <a:off x="8427110" y="5614416"/>
            <a:ext cx="3295497" cy="182880"/>
          </a:xfrm>
          <a:prstGeom prst="rect">
            <a:avLst/>
          </a:prstGeom>
          <a:solidFill>
            <a:srgbClr val="E8E8E8"/>
          </a:solidFill>
          <a:ln w="25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8472830" y="5632704"/>
            <a:ext cx="1977298" cy="164592"/>
          </a:xfrm>
          <a:prstGeom prst="rect">
            <a:avLst/>
          </a:prstGeom>
          <a:noFill/>
        </p:spPr>
        <p:txBody>
          <a:bodyPr wrap="square" lIns="25400" rIns="12700" tIns="12700" bIns="12700"/>
          <a:lstStyle/>
          <a:p>
            <a:pPr algn="l"/>
            <a:r>
              <a:rPr sz="650" b="0" i="0">
                <a:solidFill>
                  <a:srgbClr val="000000"/>
                </a:solidFill>
                <a:latin typeface="Arial"/>
              </a:rPr>
              <a:t>WIND SPEED</a:t>
            </a:r>
          </a:p>
        </p:txBody>
      </p:sp>
      <p:sp>
        <p:nvSpPr>
          <p:cNvPr id="78" name="TextBox 77"/>
          <p:cNvSpPr txBox="1"/>
          <p:nvPr/>
        </p:nvSpPr>
        <p:spPr>
          <a:xfrm>
            <a:off x="10470318" y="5632704"/>
            <a:ext cx="1186379" cy="164592"/>
          </a:xfrm>
          <a:prstGeom prst="rect">
            <a:avLst/>
          </a:prstGeom>
          <a:noFill/>
        </p:spPr>
        <p:txBody>
          <a:bodyPr wrap="square" lIns="25400" rIns="12700" tIns="12700" bIns="12700"/>
          <a:lstStyle/>
          <a:p>
            <a:pPr algn="l"/>
            <a:r>
              <a:rPr sz="650" b="1" i="0">
                <a:solidFill>
                  <a:srgbClr val="0B1E35"/>
                </a:solidFill>
                <a:latin typeface="Arial"/>
              </a:rPr>
              <a:t>{{WIND_SPEED}}</a:t>
            </a:r>
          </a:p>
        </p:txBody>
      </p:sp>
      <p:sp>
        <p:nvSpPr>
          <p:cNvPr id="79" name="Rectangle 78"/>
          <p:cNvSpPr/>
          <p:nvPr/>
        </p:nvSpPr>
        <p:spPr>
          <a:xfrm>
            <a:off x="8427110" y="5797296"/>
            <a:ext cx="3295497" cy="182880"/>
          </a:xfrm>
          <a:prstGeom prst="rect">
            <a:avLst/>
          </a:prstGeom>
          <a:solidFill>
            <a:srgbClr val="FFFFFF"/>
          </a:solidFill>
          <a:ln w="25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8472830" y="5815584"/>
            <a:ext cx="1977298" cy="164592"/>
          </a:xfrm>
          <a:prstGeom prst="rect">
            <a:avLst/>
          </a:prstGeom>
          <a:noFill/>
        </p:spPr>
        <p:txBody>
          <a:bodyPr wrap="square" lIns="25400" rIns="12700" tIns="12700" bIns="12700"/>
          <a:lstStyle/>
          <a:p>
            <a:pPr algn="l"/>
            <a:r>
              <a:rPr sz="650" b="0" i="0">
                <a:solidFill>
                  <a:srgbClr val="000000"/>
                </a:solidFill>
                <a:latin typeface="Arial"/>
              </a:rPr>
              <a:t>SNOW LOAD</a:t>
            </a:r>
          </a:p>
        </p:txBody>
      </p:sp>
      <p:sp>
        <p:nvSpPr>
          <p:cNvPr id="81" name="TextBox 80"/>
          <p:cNvSpPr txBox="1"/>
          <p:nvPr/>
        </p:nvSpPr>
        <p:spPr>
          <a:xfrm>
            <a:off x="10470318" y="5815584"/>
            <a:ext cx="1186379" cy="164592"/>
          </a:xfrm>
          <a:prstGeom prst="rect">
            <a:avLst/>
          </a:prstGeom>
          <a:noFill/>
        </p:spPr>
        <p:txBody>
          <a:bodyPr wrap="square" lIns="25400" rIns="12700" tIns="12700" bIns="12700"/>
          <a:lstStyle/>
          <a:p>
            <a:pPr algn="l"/>
            <a:r>
              <a:rPr sz="650" b="1" i="0">
                <a:solidFill>
                  <a:srgbClr val="0B1E35"/>
                </a:solidFill>
                <a:latin typeface="Arial"/>
              </a:rPr>
              <a:t>{{SNOW_LOAD}}</a:t>
            </a:r>
          </a:p>
        </p:txBody>
      </p:sp>
      <p:sp>
        <p:nvSpPr>
          <p:cNvPr id="82" name="Rectangle 81"/>
          <p:cNvSpPr/>
          <p:nvPr/>
        </p:nvSpPr>
        <p:spPr>
          <a:xfrm>
            <a:off x="5504688" y="6400800"/>
            <a:ext cx="6217920" cy="201168"/>
          </a:xfrm>
          <a:prstGeom prst="rect">
            <a:avLst/>
          </a:prstGeom>
          <a:solidFill>
            <a:srgbClr val="0B1E35"/>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5550408" y="6400800"/>
            <a:ext cx="6217920" cy="201168"/>
          </a:xfrm>
          <a:prstGeom prst="rect">
            <a:avLst/>
          </a:prstGeom>
          <a:noFill/>
        </p:spPr>
        <p:txBody>
          <a:bodyPr wrap="square" lIns="25400" rIns="12700" tIns="12700" bIns="12700"/>
          <a:lstStyle/>
          <a:p>
            <a:pPr algn="l"/>
            <a:r>
              <a:rPr sz="700" b="1" i="0">
                <a:solidFill>
                  <a:srgbClr val="FFFFFF"/>
                </a:solidFill>
                <a:latin typeface="Arial"/>
              </a:rPr>
              <a:t>BESS EQUIPMENT SUMMARY</a:t>
            </a:r>
          </a:p>
        </p:txBody>
      </p:sp>
      <p:sp>
        <p:nvSpPr>
          <p:cNvPr id="84" name="Rectangle 83"/>
          <p:cNvSpPr/>
          <p:nvPr/>
        </p:nvSpPr>
        <p:spPr>
          <a:xfrm>
            <a:off x="5504688" y="6601968"/>
            <a:ext cx="6217920" cy="201168"/>
          </a:xfrm>
          <a:prstGeom prst="rect">
            <a:avLst/>
          </a:prstGeom>
          <a:solidFill>
            <a:srgbClr val="E8E8E8"/>
          </a:solidFill>
          <a:ln w="25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5532120" y="6629400"/>
            <a:ext cx="1325880" cy="164592"/>
          </a:xfrm>
          <a:prstGeom prst="rect">
            <a:avLst/>
          </a:prstGeom>
          <a:noFill/>
        </p:spPr>
        <p:txBody>
          <a:bodyPr wrap="square" lIns="25400" rIns="12700" tIns="12700" bIns="12700"/>
          <a:lstStyle/>
          <a:p>
            <a:pPr algn="l"/>
            <a:r>
              <a:rPr sz="600" b="1" i="0">
                <a:solidFill>
                  <a:srgbClr val="000000"/>
                </a:solidFill>
                <a:latin typeface="Arial"/>
              </a:rPr>
              <a:t>PARAMETER</a:t>
            </a:r>
          </a:p>
        </p:txBody>
      </p:sp>
      <p:sp>
        <p:nvSpPr>
          <p:cNvPr id="86" name="TextBox 85"/>
          <p:cNvSpPr txBox="1"/>
          <p:nvPr/>
        </p:nvSpPr>
        <p:spPr>
          <a:xfrm>
            <a:off x="6922008" y="6629400"/>
            <a:ext cx="1508760" cy="164592"/>
          </a:xfrm>
          <a:prstGeom prst="rect">
            <a:avLst/>
          </a:prstGeom>
          <a:noFill/>
        </p:spPr>
        <p:txBody>
          <a:bodyPr wrap="square" lIns="25400" rIns="12700" tIns="12700" bIns="12700"/>
          <a:lstStyle/>
          <a:p>
            <a:pPr algn="l"/>
            <a:r>
              <a:rPr sz="600" b="1" i="0">
                <a:solidFill>
                  <a:srgbClr val="000000"/>
                </a:solidFill>
                <a:latin typeface="Arial"/>
              </a:rPr>
              <a:t>BATTERY CABINET</a:t>
            </a:r>
          </a:p>
        </p:txBody>
      </p:sp>
      <p:sp>
        <p:nvSpPr>
          <p:cNvPr id="87" name="TextBox 86"/>
          <p:cNvSpPr txBox="1"/>
          <p:nvPr/>
        </p:nvSpPr>
        <p:spPr>
          <a:xfrm>
            <a:off x="8494776" y="6629400"/>
            <a:ext cx="1508760" cy="164592"/>
          </a:xfrm>
          <a:prstGeom prst="rect">
            <a:avLst/>
          </a:prstGeom>
          <a:noFill/>
        </p:spPr>
        <p:txBody>
          <a:bodyPr wrap="square" lIns="25400" rIns="12700" tIns="12700" bIns="12700"/>
          <a:lstStyle/>
          <a:p>
            <a:pPr algn="l"/>
            <a:r>
              <a:rPr sz="600" b="1" i="0">
                <a:solidFill>
                  <a:srgbClr val="000000"/>
                </a:solidFill>
                <a:latin typeface="Arial"/>
              </a:rPr>
              <a:t>BATTERY INVERTER</a:t>
            </a:r>
          </a:p>
        </p:txBody>
      </p:sp>
      <p:sp>
        <p:nvSpPr>
          <p:cNvPr id="88" name="TextBox 87"/>
          <p:cNvSpPr txBox="1"/>
          <p:nvPr/>
        </p:nvSpPr>
        <p:spPr>
          <a:xfrm>
            <a:off x="10067544" y="6629400"/>
            <a:ext cx="1600200" cy="164592"/>
          </a:xfrm>
          <a:prstGeom prst="rect">
            <a:avLst/>
          </a:prstGeom>
          <a:noFill/>
        </p:spPr>
        <p:txBody>
          <a:bodyPr wrap="square" lIns="25400" rIns="12700" tIns="12700" bIns="12700"/>
          <a:lstStyle/>
          <a:p>
            <a:pPr algn="l"/>
            <a:r>
              <a:rPr sz="600" b="1" i="0">
                <a:solidFill>
                  <a:srgbClr val="000000"/>
                </a:solidFill>
                <a:latin typeface="Arial"/>
              </a:rPr>
              <a:t>BATTERY SNAPSHOT</a:t>
            </a:r>
          </a:p>
        </p:txBody>
      </p:sp>
      <p:sp>
        <p:nvSpPr>
          <p:cNvPr id="89" name="Rectangle 88"/>
          <p:cNvSpPr/>
          <p:nvPr/>
        </p:nvSpPr>
        <p:spPr>
          <a:xfrm>
            <a:off x="5504688" y="6803136"/>
            <a:ext cx="6217920" cy="182880"/>
          </a:xfrm>
          <a:prstGeom prst="rect">
            <a:avLst/>
          </a:prstGeom>
          <a:solidFill>
            <a:srgbClr val="FFFFFF"/>
          </a:solidFill>
          <a:ln w="1905">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5532120" y="6821424"/>
            <a:ext cx="1325880" cy="164592"/>
          </a:xfrm>
          <a:prstGeom prst="rect">
            <a:avLst/>
          </a:prstGeom>
          <a:noFill/>
        </p:spPr>
        <p:txBody>
          <a:bodyPr wrap="square" lIns="25400" rIns="12700" tIns="12700" bIns="12700"/>
          <a:lstStyle/>
          <a:p>
            <a:pPr algn="l"/>
            <a:r>
              <a:rPr sz="650" b="0" i="0">
                <a:solidFill>
                  <a:srgbClr val="000000"/>
                </a:solidFill>
                <a:latin typeface="Arial"/>
              </a:rPr>
              <a:t>MANUFACTURER</a:t>
            </a:r>
          </a:p>
        </p:txBody>
      </p:sp>
      <p:sp>
        <p:nvSpPr>
          <p:cNvPr id="91" name="TextBox 90"/>
          <p:cNvSpPr txBox="1"/>
          <p:nvPr/>
        </p:nvSpPr>
        <p:spPr>
          <a:xfrm>
            <a:off x="6922008" y="6821424"/>
            <a:ext cx="1508760" cy="164592"/>
          </a:xfrm>
          <a:prstGeom prst="rect">
            <a:avLst/>
          </a:prstGeom>
          <a:noFill/>
        </p:spPr>
        <p:txBody>
          <a:bodyPr wrap="square" lIns="25400" rIns="12700" tIns="12700" bIns="12700"/>
          <a:lstStyle/>
          <a:p>
            <a:pPr algn="l"/>
            <a:r>
              <a:rPr sz="650" b="0" i="0">
                <a:solidFill>
                  <a:srgbClr val="000000"/>
                </a:solidFill>
                <a:latin typeface="Arial"/>
              </a:rPr>
              <a:t>{{BAT_MFR}}</a:t>
            </a:r>
          </a:p>
        </p:txBody>
      </p:sp>
      <p:sp>
        <p:nvSpPr>
          <p:cNvPr id="92" name="TextBox 91"/>
          <p:cNvSpPr txBox="1"/>
          <p:nvPr/>
        </p:nvSpPr>
        <p:spPr>
          <a:xfrm>
            <a:off x="8494776" y="6821424"/>
            <a:ext cx="1508760" cy="164592"/>
          </a:xfrm>
          <a:prstGeom prst="rect">
            <a:avLst/>
          </a:prstGeom>
          <a:noFill/>
        </p:spPr>
        <p:txBody>
          <a:bodyPr wrap="square" lIns="25400" rIns="12700" tIns="12700" bIns="12700"/>
          <a:lstStyle/>
          <a:p>
            <a:pPr algn="l"/>
            <a:r>
              <a:rPr sz="650" b="0" i="0">
                <a:solidFill>
                  <a:srgbClr val="000000"/>
                </a:solidFill>
                <a:latin typeface="Arial"/>
              </a:rPr>
              <a:t>{{INV_MFR}}</a:t>
            </a:r>
          </a:p>
        </p:txBody>
      </p:sp>
      <p:sp>
        <p:nvSpPr>
          <p:cNvPr id="93" name="TextBox 92"/>
          <p:cNvSpPr txBox="1"/>
          <p:nvPr/>
        </p:nvSpPr>
        <p:spPr>
          <a:xfrm>
            <a:off x="10067544" y="6821424"/>
            <a:ext cx="1600200" cy="164592"/>
          </a:xfrm>
          <a:prstGeom prst="rect">
            <a:avLst/>
          </a:prstGeom>
          <a:noFill/>
        </p:spPr>
        <p:txBody>
          <a:bodyPr wrap="square" lIns="25400" rIns="12700" tIns="12700" bIns="12700"/>
          <a:lstStyle/>
          <a:p>
            <a:pPr algn="l"/>
            <a:r>
              <a:rPr sz="650" b="0" i="0">
                <a:solidFill>
                  <a:srgbClr val="000000"/>
                </a:solidFill>
                <a:latin typeface="Arial"/>
              </a:rPr>
              <a:t>{{BAT_MFR}}</a:t>
            </a:r>
          </a:p>
        </p:txBody>
      </p:sp>
      <p:sp>
        <p:nvSpPr>
          <p:cNvPr id="94" name="Rectangle 93"/>
          <p:cNvSpPr/>
          <p:nvPr/>
        </p:nvSpPr>
        <p:spPr>
          <a:xfrm>
            <a:off x="5504688" y="6986016"/>
            <a:ext cx="6217920" cy="182880"/>
          </a:xfrm>
          <a:prstGeom prst="rect">
            <a:avLst/>
          </a:prstGeom>
          <a:solidFill>
            <a:srgbClr val="E8E8E8"/>
          </a:solidFill>
          <a:ln w="1905">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5532120" y="7004304"/>
            <a:ext cx="1325880" cy="164592"/>
          </a:xfrm>
          <a:prstGeom prst="rect">
            <a:avLst/>
          </a:prstGeom>
          <a:noFill/>
        </p:spPr>
        <p:txBody>
          <a:bodyPr wrap="square" lIns="25400" rIns="12700" tIns="12700" bIns="12700"/>
          <a:lstStyle/>
          <a:p>
            <a:pPr algn="l"/>
            <a:r>
              <a:rPr sz="650" b="0" i="0">
                <a:solidFill>
                  <a:srgbClr val="000000"/>
                </a:solidFill>
                <a:latin typeface="Arial"/>
              </a:rPr>
              <a:t>MODEL NUMBER</a:t>
            </a:r>
          </a:p>
        </p:txBody>
      </p:sp>
      <p:sp>
        <p:nvSpPr>
          <p:cNvPr id="96" name="TextBox 95"/>
          <p:cNvSpPr txBox="1"/>
          <p:nvPr/>
        </p:nvSpPr>
        <p:spPr>
          <a:xfrm>
            <a:off x="6922008" y="7004304"/>
            <a:ext cx="1508760" cy="164592"/>
          </a:xfrm>
          <a:prstGeom prst="rect">
            <a:avLst/>
          </a:prstGeom>
          <a:noFill/>
        </p:spPr>
        <p:txBody>
          <a:bodyPr wrap="square" lIns="25400" rIns="12700" tIns="12700" bIns="12700"/>
          <a:lstStyle/>
          <a:p>
            <a:pPr algn="l"/>
            <a:r>
              <a:rPr sz="650" b="0" i="0">
                <a:solidFill>
                  <a:srgbClr val="000000"/>
                </a:solidFill>
                <a:latin typeface="Arial"/>
              </a:rPr>
              <a:t>{{BAT_MODEL}}</a:t>
            </a:r>
          </a:p>
        </p:txBody>
      </p:sp>
      <p:sp>
        <p:nvSpPr>
          <p:cNvPr id="97" name="TextBox 96"/>
          <p:cNvSpPr txBox="1"/>
          <p:nvPr/>
        </p:nvSpPr>
        <p:spPr>
          <a:xfrm>
            <a:off x="8494776" y="7004304"/>
            <a:ext cx="1508760" cy="164592"/>
          </a:xfrm>
          <a:prstGeom prst="rect">
            <a:avLst/>
          </a:prstGeom>
          <a:noFill/>
        </p:spPr>
        <p:txBody>
          <a:bodyPr wrap="square" lIns="25400" rIns="12700" tIns="12700" bIns="12700"/>
          <a:lstStyle/>
          <a:p>
            <a:pPr algn="l"/>
            <a:r>
              <a:rPr sz="650" b="0" i="0">
                <a:solidFill>
                  <a:srgbClr val="000000"/>
                </a:solidFill>
                <a:latin typeface="Arial"/>
              </a:rPr>
              <a:t>{{INV_MODEL}}</a:t>
            </a:r>
          </a:p>
        </p:txBody>
      </p:sp>
      <p:sp>
        <p:nvSpPr>
          <p:cNvPr id="98" name="TextBox 97"/>
          <p:cNvSpPr txBox="1"/>
          <p:nvPr/>
        </p:nvSpPr>
        <p:spPr>
          <a:xfrm>
            <a:off x="10067544" y="7004304"/>
            <a:ext cx="1600200" cy="164592"/>
          </a:xfrm>
          <a:prstGeom prst="rect">
            <a:avLst/>
          </a:prstGeom>
          <a:noFill/>
        </p:spPr>
        <p:txBody>
          <a:bodyPr wrap="square" lIns="25400" rIns="12700" tIns="12700" bIns="12700"/>
          <a:lstStyle/>
          <a:p>
            <a:pPr algn="l"/>
            <a:r>
              <a:rPr sz="650" b="0" i="0">
                <a:solidFill>
                  <a:srgbClr val="000000"/>
                </a:solidFill>
                <a:latin typeface="Arial"/>
              </a:rPr>
              <a:t>{{BAT_RACK_MODEL}}</a:t>
            </a:r>
          </a:p>
        </p:txBody>
      </p:sp>
      <p:sp>
        <p:nvSpPr>
          <p:cNvPr id="99" name="Rectangle 98"/>
          <p:cNvSpPr/>
          <p:nvPr/>
        </p:nvSpPr>
        <p:spPr>
          <a:xfrm>
            <a:off x="5504688" y="7168896"/>
            <a:ext cx="6217920" cy="182880"/>
          </a:xfrm>
          <a:prstGeom prst="rect">
            <a:avLst/>
          </a:prstGeom>
          <a:solidFill>
            <a:srgbClr val="FFFFFF"/>
          </a:solidFill>
          <a:ln w="1905">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5532120" y="7187184"/>
            <a:ext cx="1325880" cy="164592"/>
          </a:xfrm>
          <a:prstGeom prst="rect">
            <a:avLst/>
          </a:prstGeom>
          <a:noFill/>
        </p:spPr>
        <p:txBody>
          <a:bodyPr wrap="square" lIns="25400" rIns="12700" tIns="12700" bIns="12700"/>
          <a:lstStyle/>
          <a:p>
            <a:pPr algn="l"/>
            <a:r>
              <a:rPr sz="650" b="0" i="0">
                <a:solidFill>
                  <a:srgbClr val="000000"/>
                </a:solidFill>
                <a:latin typeface="Arial"/>
              </a:rPr>
              <a:t>QUANTITY</a:t>
            </a:r>
          </a:p>
        </p:txBody>
      </p:sp>
      <p:sp>
        <p:nvSpPr>
          <p:cNvPr id="101" name="TextBox 100"/>
          <p:cNvSpPr txBox="1"/>
          <p:nvPr/>
        </p:nvSpPr>
        <p:spPr>
          <a:xfrm>
            <a:off x="6922008" y="7187184"/>
            <a:ext cx="1508760" cy="164592"/>
          </a:xfrm>
          <a:prstGeom prst="rect">
            <a:avLst/>
          </a:prstGeom>
          <a:noFill/>
        </p:spPr>
        <p:txBody>
          <a:bodyPr wrap="square" lIns="25400" rIns="12700" tIns="12700" bIns="12700"/>
          <a:lstStyle/>
          <a:p>
            <a:pPr algn="l"/>
            <a:r>
              <a:rPr sz="650" b="0" i="0">
                <a:solidFill>
                  <a:srgbClr val="000000"/>
                </a:solidFill>
                <a:latin typeface="Arial"/>
              </a:rPr>
              <a:t>{{BAT_QTY}}</a:t>
            </a:r>
          </a:p>
        </p:txBody>
      </p:sp>
      <p:sp>
        <p:nvSpPr>
          <p:cNvPr id="102" name="TextBox 101"/>
          <p:cNvSpPr txBox="1"/>
          <p:nvPr/>
        </p:nvSpPr>
        <p:spPr>
          <a:xfrm>
            <a:off x="8494776" y="7187184"/>
            <a:ext cx="1508760" cy="164592"/>
          </a:xfrm>
          <a:prstGeom prst="rect">
            <a:avLst/>
          </a:prstGeom>
          <a:noFill/>
        </p:spPr>
        <p:txBody>
          <a:bodyPr wrap="square" lIns="25400" rIns="12700" tIns="12700" bIns="12700"/>
          <a:lstStyle/>
          <a:p>
            <a:pPr algn="l"/>
            <a:r>
              <a:rPr sz="650" b="0" i="0">
                <a:solidFill>
                  <a:srgbClr val="000000"/>
                </a:solidFill>
                <a:latin typeface="Arial"/>
              </a:rPr>
              <a:t>{{BAT_QTY}}</a:t>
            </a:r>
          </a:p>
        </p:txBody>
      </p:sp>
      <p:sp>
        <p:nvSpPr>
          <p:cNvPr id="103" name="TextBox 102"/>
          <p:cNvSpPr txBox="1"/>
          <p:nvPr/>
        </p:nvSpPr>
        <p:spPr>
          <a:xfrm>
            <a:off x="10067544" y="7187184"/>
            <a:ext cx="1600200" cy="164592"/>
          </a:xfrm>
          <a:prstGeom prst="rect">
            <a:avLst/>
          </a:prstGeom>
          <a:noFill/>
        </p:spPr>
        <p:txBody>
          <a:bodyPr wrap="square" lIns="25400" rIns="12700" tIns="12700" bIns="12700"/>
          <a:lstStyle/>
          <a:p>
            <a:pPr algn="l"/>
            <a:r>
              <a:rPr sz="650" b="0" i="0">
                <a:solidFill>
                  <a:srgbClr val="000000"/>
                </a:solidFill>
                <a:latin typeface="Arial"/>
              </a:rPr>
              <a:t>{{BAT_QTY}}</a:t>
            </a:r>
          </a:p>
        </p:txBody>
      </p:sp>
      <p:sp>
        <p:nvSpPr>
          <p:cNvPr id="104" name="Rectangle 103"/>
          <p:cNvSpPr/>
          <p:nvPr/>
        </p:nvSpPr>
        <p:spPr>
          <a:xfrm>
            <a:off x="5504688" y="7351776"/>
            <a:ext cx="6217920" cy="182880"/>
          </a:xfrm>
          <a:prstGeom prst="rect">
            <a:avLst/>
          </a:prstGeom>
          <a:solidFill>
            <a:srgbClr val="E8E8E8"/>
          </a:solidFill>
          <a:ln w="1905">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5532120" y="7370064"/>
            <a:ext cx="1325880" cy="164592"/>
          </a:xfrm>
          <a:prstGeom prst="rect">
            <a:avLst/>
          </a:prstGeom>
          <a:noFill/>
        </p:spPr>
        <p:txBody>
          <a:bodyPr wrap="square" lIns="25400" rIns="12700" tIns="12700" bIns="12700"/>
          <a:lstStyle/>
          <a:p>
            <a:pPr algn="l"/>
            <a:r>
              <a:rPr sz="650" b="0" i="0">
                <a:solidFill>
                  <a:srgbClr val="000000"/>
                </a:solidFill>
                <a:latin typeface="Arial"/>
              </a:rPr>
              <a:t>BATTERY BANK CAPACITY (kWh)</a:t>
            </a:r>
          </a:p>
        </p:txBody>
      </p:sp>
      <p:sp>
        <p:nvSpPr>
          <p:cNvPr id="106" name="TextBox 105"/>
          <p:cNvSpPr txBox="1"/>
          <p:nvPr/>
        </p:nvSpPr>
        <p:spPr>
          <a:xfrm>
            <a:off x="6922008" y="7370064"/>
            <a:ext cx="1508760" cy="164592"/>
          </a:xfrm>
          <a:prstGeom prst="rect">
            <a:avLst/>
          </a:prstGeom>
          <a:noFill/>
        </p:spPr>
        <p:txBody>
          <a:bodyPr wrap="square" lIns="25400" rIns="12700" tIns="12700" bIns="12700"/>
          <a:lstStyle/>
          <a:p>
            <a:pPr algn="l"/>
            <a:r>
              <a:rPr sz="650" b="0" i="0">
                <a:solidFill>
                  <a:srgbClr val="000000"/>
                </a:solidFill>
                <a:latin typeface="Arial"/>
              </a:rPr>
              <a:t>{{KWH}}</a:t>
            </a:r>
          </a:p>
        </p:txBody>
      </p:sp>
      <p:sp>
        <p:nvSpPr>
          <p:cNvPr id="107" name="TextBox 106"/>
          <p:cNvSpPr txBox="1"/>
          <p:nvPr/>
        </p:nvSpPr>
        <p:spPr>
          <a:xfrm>
            <a:off x="8494776" y="7370064"/>
            <a:ext cx="1508760" cy="164592"/>
          </a:xfrm>
          <a:prstGeom prst="rect">
            <a:avLst/>
          </a:prstGeom>
          <a:noFill/>
        </p:spPr>
        <p:txBody>
          <a:bodyPr wrap="square" lIns="25400" rIns="12700" tIns="12700" bIns="12700"/>
          <a:lstStyle/>
          <a:p>
            <a:pPr algn="l"/>
            <a:r>
              <a:rPr sz="650" b="0" i="0">
                <a:solidFill>
                  <a:srgbClr val="000000"/>
                </a:solidFill>
                <a:latin typeface="Arial"/>
              </a:rPr>
              <a:t>N/A</a:t>
            </a:r>
          </a:p>
        </p:txBody>
      </p:sp>
      <p:sp>
        <p:nvSpPr>
          <p:cNvPr id="108" name="TextBox 107"/>
          <p:cNvSpPr txBox="1"/>
          <p:nvPr/>
        </p:nvSpPr>
        <p:spPr>
          <a:xfrm>
            <a:off x="10067544" y="7370064"/>
            <a:ext cx="1600200" cy="164592"/>
          </a:xfrm>
          <a:prstGeom prst="rect">
            <a:avLst/>
          </a:prstGeom>
          <a:noFill/>
        </p:spPr>
        <p:txBody>
          <a:bodyPr wrap="square" lIns="25400" rIns="12700" tIns="12700" bIns="12700"/>
          <a:lstStyle/>
          <a:p>
            <a:pPr algn="l"/>
            <a:r>
              <a:rPr sz="650" b="0" i="0">
                <a:solidFill>
                  <a:srgbClr val="000000"/>
                </a:solidFill>
                <a:latin typeface="Arial"/>
              </a:rPr>
              <a:t>{{RACK_KWH}}</a:t>
            </a:r>
          </a:p>
        </p:txBody>
      </p:sp>
      <p:sp>
        <p:nvSpPr>
          <p:cNvPr id="109" name="Rectangle 108"/>
          <p:cNvSpPr/>
          <p:nvPr/>
        </p:nvSpPr>
        <p:spPr>
          <a:xfrm>
            <a:off x="5504688" y="7534656"/>
            <a:ext cx="6217920" cy="182880"/>
          </a:xfrm>
          <a:prstGeom prst="rect">
            <a:avLst/>
          </a:prstGeom>
          <a:solidFill>
            <a:srgbClr val="FFFFFF"/>
          </a:solidFill>
          <a:ln w="1905">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5532120" y="7552944"/>
            <a:ext cx="1325880" cy="164592"/>
          </a:xfrm>
          <a:prstGeom prst="rect">
            <a:avLst/>
          </a:prstGeom>
          <a:noFill/>
        </p:spPr>
        <p:txBody>
          <a:bodyPr wrap="square" lIns="25400" rIns="12700" tIns="12700" bIns="12700"/>
          <a:lstStyle/>
          <a:p>
            <a:pPr algn="l"/>
            <a:r>
              <a:rPr sz="650" b="0" i="0">
                <a:solidFill>
                  <a:srgbClr val="000000"/>
                </a:solidFill>
                <a:latin typeface="Arial"/>
              </a:rPr>
              <a:t>RATED VOLTAGE (V)</a:t>
            </a:r>
          </a:p>
        </p:txBody>
      </p:sp>
      <p:sp>
        <p:nvSpPr>
          <p:cNvPr id="111" name="TextBox 110"/>
          <p:cNvSpPr txBox="1"/>
          <p:nvPr/>
        </p:nvSpPr>
        <p:spPr>
          <a:xfrm>
            <a:off x="6922008" y="7552944"/>
            <a:ext cx="1508760" cy="164592"/>
          </a:xfrm>
          <a:prstGeom prst="rect">
            <a:avLst/>
          </a:prstGeom>
          <a:noFill/>
        </p:spPr>
        <p:txBody>
          <a:bodyPr wrap="square" lIns="25400" rIns="12700" tIns="12700" bIns="12700"/>
          <a:lstStyle/>
          <a:p>
            <a:pPr algn="l"/>
            <a:r>
              <a:rPr sz="650" b="0" i="0">
                <a:solidFill>
                  <a:srgbClr val="000000"/>
                </a:solidFill>
                <a:latin typeface="Arial"/>
              </a:rPr>
              <a:t>{{DCV}}</a:t>
            </a:r>
          </a:p>
        </p:txBody>
      </p:sp>
      <p:sp>
        <p:nvSpPr>
          <p:cNvPr id="112" name="TextBox 111"/>
          <p:cNvSpPr txBox="1"/>
          <p:nvPr/>
        </p:nvSpPr>
        <p:spPr>
          <a:xfrm>
            <a:off x="8494776" y="7552944"/>
            <a:ext cx="1508760" cy="164592"/>
          </a:xfrm>
          <a:prstGeom prst="rect">
            <a:avLst/>
          </a:prstGeom>
          <a:noFill/>
        </p:spPr>
        <p:txBody>
          <a:bodyPr wrap="square" lIns="25400" rIns="12700" tIns="12700" bIns="12700"/>
          <a:lstStyle/>
          <a:p>
            <a:pPr algn="l"/>
            <a:r>
              <a:rPr sz="650" b="0" i="0">
                <a:solidFill>
                  <a:srgbClr val="000000"/>
                </a:solidFill>
                <a:latin typeface="Arial"/>
              </a:rPr>
              <a:t>{{INV_AC}}</a:t>
            </a:r>
          </a:p>
        </p:txBody>
      </p:sp>
      <p:sp>
        <p:nvSpPr>
          <p:cNvPr id="113" name="TextBox 112"/>
          <p:cNvSpPr txBox="1"/>
          <p:nvPr/>
        </p:nvSpPr>
        <p:spPr>
          <a:xfrm>
            <a:off x="10067544" y="7552944"/>
            <a:ext cx="1600200" cy="164592"/>
          </a:xfrm>
          <a:prstGeom prst="rect">
            <a:avLst/>
          </a:prstGeom>
          <a:noFill/>
        </p:spPr>
        <p:txBody>
          <a:bodyPr wrap="square" lIns="25400" rIns="12700" tIns="12700" bIns="12700"/>
          <a:lstStyle/>
          <a:p>
            <a:pPr algn="l"/>
            <a:r>
              <a:rPr sz="650" b="0" i="0">
                <a:solidFill>
                  <a:srgbClr val="000000"/>
                </a:solidFill>
                <a:latin typeface="Arial"/>
              </a:rPr>
              <a:t>{{VOLTAGE}}</a:t>
            </a:r>
          </a:p>
        </p:txBody>
      </p:sp>
      <p:sp>
        <p:nvSpPr>
          <p:cNvPr id="114" name="Rectangle 113"/>
          <p:cNvSpPr/>
          <p:nvPr/>
        </p:nvSpPr>
        <p:spPr>
          <a:xfrm>
            <a:off x="5504688" y="7717536"/>
            <a:ext cx="6217920" cy="182880"/>
          </a:xfrm>
          <a:prstGeom prst="rect">
            <a:avLst/>
          </a:prstGeom>
          <a:solidFill>
            <a:srgbClr val="E8E8E8"/>
          </a:solidFill>
          <a:ln w="1905">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5532120" y="7735824"/>
            <a:ext cx="1325880" cy="164592"/>
          </a:xfrm>
          <a:prstGeom prst="rect">
            <a:avLst/>
          </a:prstGeom>
          <a:noFill/>
        </p:spPr>
        <p:txBody>
          <a:bodyPr wrap="square" lIns="25400" rIns="12700" tIns="12700" bIns="12700"/>
          <a:lstStyle/>
          <a:p>
            <a:pPr algn="l"/>
            <a:r>
              <a:rPr sz="650" b="0" i="0">
                <a:solidFill>
                  <a:srgbClr val="000000"/>
                </a:solidFill>
                <a:latin typeface="Arial"/>
              </a:rPr>
              <a:t>ENCLOSURE TYPE</a:t>
            </a:r>
          </a:p>
        </p:txBody>
      </p:sp>
      <p:sp>
        <p:nvSpPr>
          <p:cNvPr id="116" name="TextBox 115"/>
          <p:cNvSpPr txBox="1"/>
          <p:nvPr/>
        </p:nvSpPr>
        <p:spPr>
          <a:xfrm>
            <a:off x="6922008" y="7735824"/>
            <a:ext cx="1508760" cy="164592"/>
          </a:xfrm>
          <a:prstGeom prst="rect">
            <a:avLst/>
          </a:prstGeom>
          <a:noFill/>
        </p:spPr>
        <p:txBody>
          <a:bodyPr wrap="square" lIns="25400" rIns="12700" tIns="12700" bIns="12700"/>
          <a:lstStyle/>
          <a:p>
            <a:pPr algn="l"/>
            <a:r>
              <a:rPr sz="650" b="0" i="0">
                <a:solidFill>
                  <a:srgbClr val="000000"/>
                </a:solidFill>
                <a:latin typeface="Arial"/>
              </a:rPr>
              <a:t>{{NEMA_RATING}}</a:t>
            </a:r>
          </a:p>
        </p:txBody>
      </p:sp>
      <p:sp>
        <p:nvSpPr>
          <p:cNvPr id="117" name="TextBox 116"/>
          <p:cNvSpPr txBox="1"/>
          <p:nvPr/>
        </p:nvSpPr>
        <p:spPr>
          <a:xfrm>
            <a:off x="8494776" y="7735824"/>
            <a:ext cx="1508760" cy="164592"/>
          </a:xfrm>
          <a:prstGeom prst="rect">
            <a:avLst/>
          </a:prstGeom>
          <a:noFill/>
        </p:spPr>
        <p:txBody>
          <a:bodyPr wrap="square" lIns="25400" rIns="12700" tIns="12700" bIns="12700"/>
          <a:lstStyle/>
          <a:p>
            <a:pPr algn="l"/>
            <a:r>
              <a:rPr sz="650" b="0" i="0">
                <a:solidFill>
                  <a:srgbClr val="000000"/>
                </a:solidFill>
                <a:latin typeface="Arial"/>
              </a:rPr>
              <a:t>{{NEMA_RATING}}</a:t>
            </a:r>
          </a:p>
        </p:txBody>
      </p:sp>
      <p:sp>
        <p:nvSpPr>
          <p:cNvPr id="118" name="TextBox 117"/>
          <p:cNvSpPr txBox="1"/>
          <p:nvPr/>
        </p:nvSpPr>
        <p:spPr>
          <a:xfrm>
            <a:off x="10067544" y="7735824"/>
            <a:ext cx="1600200" cy="164592"/>
          </a:xfrm>
          <a:prstGeom prst="rect">
            <a:avLst/>
          </a:prstGeom>
          <a:noFill/>
        </p:spPr>
        <p:txBody>
          <a:bodyPr wrap="square" lIns="25400" rIns="12700" tIns="12700" bIns="12700"/>
          <a:lstStyle/>
          <a:p>
            <a:pPr algn="l"/>
            <a:r>
              <a:rPr sz="650" b="0" i="0">
                <a:solidFill>
                  <a:srgbClr val="000000"/>
                </a:solidFill>
                <a:latin typeface="Arial"/>
              </a:rPr>
              <a:t>{{NEMA_RATING}}</a:t>
            </a:r>
          </a:p>
        </p:txBody>
      </p:sp>
      <p:sp>
        <p:nvSpPr>
          <p:cNvPr id="119" name="Rectangle 118"/>
          <p:cNvSpPr/>
          <p:nvPr/>
        </p:nvSpPr>
        <p:spPr>
          <a:xfrm>
            <a:off x="5504688" y="7900416"/>
            <a:ext cx="6217920" cy="182880"/>
          </a:xfrm>
          <a:prstGeom prst="rect">
            <a:avLst/>
          </a:prstGeom>
          <a:solidFill>
            <a:srgbClr val="FFFFFF"/>
          </a:solidFill>
          <a:ln w="1905">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5532120" y="7918704"/>
            <a:ext cx="1325880" cy="164592"/>
          </a:xfrm>
          <a:prstGeom prst="rect">
            <a:avLst/>
          </a:prstGeom>
          <a:noFill/>
        </p:spPr>
        <p:txBody>
          <a:bodyPr wrap="square" lIns="25400" rIns="12700" tIns="12700" bIns="12700"/>
          <a:lstStyle/>
          <a:p>
            <a:pPr algn="l"/>
            <a:r>
              <a:rPr sz="650" b="0" i="0">
                <a:solidFill>
                  <a:srgbClr val="000000"/>
                </a:solidFill>
                <a:latin typeface="Arial"/>
              </a:rPr>
              <a:t>RATED OUTPUT CURRENT (A)</a:t>
            </a:r>
          </a:p>
        </p:txBody>
      </p:sp>
      <p:sp>
        <p:nvSpPr>
          <p:cNvPr id="121" name="TextBox 120"/>
          <p:cNvSpPr txBox="1"/>
          <p:nvPr/>
        </p:nvSpPr>
        <p:spPr>
          <a:xfrm>
            <a:off x="6922008" y="7918704"/>
            <a:ext cx="1508760" cy="164592"/>
          </a:xfrm>
          <a:prstGeom prst="rect">
            <a:avLst/>
          </a:prstGeom>
          <a:noFill/>
        </p:spPr>
        <p:txBody>
          <a:bodyPr wrap="square" lIns="25400" rIns="12700" tIns="12700" bIns="12700"/>
          <a:lstStyle/>
          <a:p>
            <a:pPr algn="l"/>
            <a:r>
              <a:rPr sz="650" b="0" i="0">
                <a:solidFill>
                  <a:srgbClr val="000000"/>
                </a:solidFill>
                <a:latin typeface="Arial"/>
              </a:rPr>
              <a:t>{{ACDIS}}</a:t>
            </a:r>
          </a:p>
        </p:txBody>
      </p:sp>
      <p:sp>
        <p:nvSpPr>
          <p:cNvPr id="122" name="TextBox 121"/>
          <p:cNvSpPr txBox="1"/>
          <p:nvPr/>
        </p:nvSpPr>
        <p:spPr>
          <a:xfrm>
            <a:off x="8494776" y="7918704"/>
            <a:ext cx="1508760" cy="164592"/>
          </a:xfrm>
          <a:prstGeom prst="rect">
            <a:avLst/>
          </a:prstGeom>
          <a:noFill/>
        </p:spPr>
        <p:txBody>
          <a:bodyPr wrap="square" lIns="25400" rIns="12700" tIns="12700" bIns="12700"/>
          <a:lstStyle/>
          <a:p>
            <a:pPr algn="l"/>
            <a:r>
              <a:rPr sz="650" b="0" i="0">
                <a:solidFill>
                  <a:srgbClr val="000000"/>
                </a:solidFill>
                <a:latin typeface="Arial"/>
              </a:rPr>
              <a:t>{{ACDIS}}</a:t>
            </a:r>
          </a:p>
        </p:txBody>
      </p:sp>
      <p:sp>
        <p:nvSpPr>
          <p:cNvPr id="123" name="TextBox 122"/>
          <p:cNvSpPr txBox="1"/>
          <p:nvPr/>
        </p:nvSpPr>
        <p:spPr>
          <a:xfrm>
            <a:off x="10067544" y="7918704"/>
            <a:ext cx="1600200" cy="164592"/>
          </a:xfrm>
          <a:prstGeom prst="rect">
            <a:avLst/>
          </a:prstGeom>
          <a:noFill/>
        </p:spPr>
        <p:txBody>
          <a:bodyPr wrap="square" lIns="25400" rIns="12700" tIns="12700" bIns="12700"/>
          <a:lstStyle/>
          <a:p>
            <a:pPr algn="l"/>
            <a:r>
              <a:rPr sz="650" b="0" i="0">
                <a:solidFill>
                  <a:srgbClr val="000000"/>
                </a:solidFill>
                <a:latin typeface="Arial"/>
              </a:rPr>
              <a:t>{{ACDIS}}</a:t>
            </a:r>
          </a:p>
        </p:txBody>
      </p:sp>
      <p:sp>
        <p:nvSpPr>
          <p:cNvPr id="124" name="Rectangle 123"/>
          <p:cNvSpPr/>
          <p:nvPr/>
        </p:nvSpPr>
        <p:spPr>
          <a:xfrm>
            <a:off x="5596128" y="8138160"/>
            <a:ext cx="3419856" cy="1463040"/>
          </a:xfrm>
          <a:prstGeom prst="rect">
            <a:avLst/>
          </a:prstGeom>
          <a:solidFill>
            <a:srgbClr val="FFF3A8"/>
          </a:solidFill>
          <a:ln w="1524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5669280" y="8211312"/>
            <a:ext cx="3273552" cy="1316736"/>
          </a:xfrm>
          <a:prstGeom prst="rect">
            <a:avLst/>
          </a:prstGeom>
          <a:solidFill>
            <a:srgbClr val="FFF3A8"/>
          </a:solidFill>
        </p:spPr>
        <p:txBody>
          <a:bodyPr wrap="square" lIns="25400" rIns="12700" tIns="12700" bIns="12700"/>
          <a:lstStyle/>
          <a:p>
            <a:pPr algn="l"/>
            <a:r>
              <a:rPr sz="700" b="0">
                <a:solidFill>
                  <a:srgbClr val="CC0000"/>
                </a:solidFill>
                <a:latin typeface="Arial"/>
              </a:rPr>
              <a:t>{{PERMIT_NO}}</a:t>
            </a:r>
          </a:p>
          <a:p>
            <a:pPr algn="l"/>
            <a:r>
              <a:rPr sz="700" b="0">
                <a:solidFill>
                  <a:srgbClr val="CC0000"/>
                </a:solidFill>
                <a:latin typeface="Arial"/>
              </a:rPr>
              <a:t>REVIEWED FOR COMPLIANCE</a:t>
            </a:r>
          </a:p>
          <a:p>
            <a:pPr algn="l"/>
            <a:r>
              <a:rPr sz="700" b="0">
                <a:solidFill>
                  <a:srgbClr val="CC0000"/>
                </a:solidFill>
                <a:latin typeface="Arial"/>
              </a:rPr>
              <a:t>{{AHJ_CITY}}</a:t>
            </a:r>
          </a:p>
          <a:p>
            <a:pPr algn="l"/>
            <a:r>
              <a:rPr sz="700" b="0">
                <a:solidFill>
                  <a:srgbClr val="CC0000"/>
                </a:solidFill>
                <a:latin typeface="Arial"/>
              </a:rPr>
              <a:t>{{AHJ_DEPT}}</a:t>
            </a:r>
          </a:p>
          <a:p>
            <a:pPr algn="l"/>
            <a:r>
              <a:rPr sz="700" b="0">
                <a:solidFill>
                  <a:srgbClr val="CC0000"/>
                </a:solidFill>
                <a:latin typeface="Arial"/>
              </a:rPr>
              <a:t>For {{PROJECT_NAME}} Subject to Code Compliance.</a:t>
            </a:r>
          </a:p>
          <a:p>
            <a:pPr algn="l"/>
            <a:r>
              <a:rPr sz="700" b="0">
                <a:solidFill>
                  <a:srgbClr val="CC0000"/>
                </a:solidFill>
                <a:latin typeface="Arial"/>
              </a:rPr>
              <a:t>REVISIONS NEED REVIEW</a:t>
            </a:r>
          </a:p>
          <a:p>
            <a:pPr algn="l"/>
            <a:r>
              <a:rPr sz="700" b="0">
                <a:solidFill>
                  <a:srgbClr val="CC0000"/>
                </a:solidFill>
                <a:latin typeface="Arial"/>
              </a:rPr>
              <a:t>☐ BUILDING CODE  ☐ ELECTRICAL CODE</a:t>
            </a:r>
          </a:p>
          <a:p>
            <a:pPr algn="l"/>
            <a:r>
              <a:rPr sz="700" b="0">
                <a:solidFill>
                  <a:srgbClr val="CC0000"/>
                </a:solidFill>
                <a:latin typeface="Arial"/>
              </a:rPr>
              <a:t>☐ MECHANICAL CODE  ☐ PLUMBING CODE</a:t>
            </a:r>
          </a:p>
          <a:p>
            <a:pPr algn="l"/>
            <a:r>
              <a:rPr sz="700" b="0">
                <a:solidFill>
                  <a:srgbClr val="CC0000"/>
                </a:solidFill>
                <a:latin typeface="Arial"/>
              </a:rPr>
              <a:t>☐ GRADING/DRAINAGE  ☐ STRUCTURAL DESIGN</a:t>
            </a:r>
          </a:p>
        </p:txBody>
      </p:sp>
      <p:sp>
        <p:nvSpPr>
          <p:cNvPr id="126" name="Rectangle 125"/>
          <p:cNvSpPr/>
          <p:nvPr/>
        </p:nvSpPr>
        <p:spPr>
          <a:xfrm>
            <a:off x="9107424" y="8138160"/>
            <a:ext cx="2615183" cy="201168"/>
          </a:xfrm>
          <a:prstGeom prst="rect">
            <a:avLst/>
          </a:prstGeom>
          <a:solidFill>
            <a:srgbClr val="E8E8E8"/>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9153144" y="8138160"/>
            <a:ext cx="2615183" cy="201168"/>
          </a:xfrm>
          <a:prstGeom prst="rect">
            <a:avLst/>
          </a:prstGeom>
          <a:noFill/>
        </p:spPr>
        <p:txBody>
          <a:bodyPr wrap="square" lIns="25400" rIns="12700" tIns="12700" bIns="12700"/>
          <a:lstStyle/>
          <a:p>
            <a:pPr algn="l"/>
            <a:r>
              <a:rPr sz="650" b="1" i="0">
                <a:solidFill>
                  <a:srgbClr val="000000"/>
                </a:solidFill>
                <a:latin typeface="Arial"/>
              </a:rPr>
              <a:t>SPECIAL INSPECTION LIST</a:t>
            </a:r>
          </a:p>
        </p:txBody>
      </p:sp>
      <p:sp>
        <p:nvSpPr>
          <p:cNvPr id="128" name="TextBox 127"/>
          <p:cNvSpPr txBox="1"/>
          <p:nvPr/>
        </p:nvSpPr>
        <p:spPr>
          <a:xfrm>
            <a:off x="9153144" y="8339328"/>
            <a:ext cx="2523743" cy="1280160"/>
          </a:xfrm>
          <a:prstGeom prst="rect">
            <a:avLst/>
          </a:prstGeom>
          <a:noFill/>
        </p:spPr>
        <p:txBody>
          <a:bodyPr wrap="square" lIns="25400" rIns="12700" tIns="12700" bIns="12700"/>
          <a:lstStyle/>
          <a:p>
            <a:pPr algn="l"/>
            <a:r>
              <a:rPr sz="600" b="0">
                <a:solidFill>
                  <a:srgbClr val="000000"/>
                </a:solidFill>
                <a:latin typeface="Arial"/>
              </a:rPr>
              <a:t>☐ FOUNDATION</a:t>
            </a:r>
          </a:p>
          <a:p>
            <a:pPr algn="l"/>
            <a:r>
              <a:rPr sz="600" b="0">
                <a:solidFill>
                  <a:srgbClr val="000000"/>
                </a:solidFill>
                <a:latin typeface="Arial"/>
              </a:rPr>
              <a:t>☐ Grading and Drainage</a:t>
            </a:r>
          </a:p>
          <a:p>
            <a:pPr algn="l"/>
            <a:r>
              <a:rPr sz="600" b="0">
                <a:solidFill>
                  <a:srgbClr val="000000"/>
                </a:solidFill>
                <a:latin typeface="Arial"/>
              </a:rPr>
              <a:t>☐ Piers and Caissons</a:t>
            </a:r>
          </a:p>
          <a:p>
            <a:pPr algn="l"/>
            <a:r>
              <a:rPr sz="600" b="0">
                <a:solidFill>
                  <a:srgbClr val="000000"/>
                </a:solidFill>
                <a:latin typeface="Arial"/>
              </a:rPr>
              <a:t>☐ Shotcrete or Masonry</a:t>
            </a:r>
          </a:p>
          <a:p>
            <a:pPr algn="l"/>
            <a:r>
              <a:rPr sz="600" b="0">
                <a:solidFill>
                  <a:srgbClr val="000000"/>
                </a:solidFill>
                <a:latin typeface="Arial"/>
              </a:rPr>
              <a:t>☐ CONCRETE</a:t>
            </a:r>
          </a:p>
          <a:p>
            <a:pPr algn="l"/>
            <a:r>
              <a:rPr sz="600" b="0">
                <a:solidFill>
                  <a:srgbClr val="000000"/>
                </a:solidFill>
                <a:latin typeface="Arial"/>
              </a:rPr>
              <a:t>☐ Concrete Placement</a:t>
            </a:r>
          </a:p>
          <a:p>
            <a:pPr algn="l"/>
            <a:r>
              <a:rPr sz="600" b="0">
                <a:solidFill>
                  <a:srgbClr val="000000"/>
                </a:solidFill>
                <a:latin typeface="Arial"/>
              </a:rPr>
              <a:t>☐ f'c = ___ psi</a:t>
            </a:r>
          </a:p>
          <a:p>
            <a:pPr algn="l"/>
            <a:r>
              <a:rPr sz="600" b="0">
                <a:solidFill>
                  <a:srgbClr val="000000"/>
                </a:solidFill>
                <a:latin typeface="Arial"/>
              </a:rPr>
              <a:t>☐ Welding</a:t>
            </a:r>
          </a:p>
          <a:p>
            <a:pPr algn="l"/>
            <a:r>
              <a:rPr sz="600" b="0">
                <a:solidFill>
                  <a:srgbClr val="000000"/>
                </a:solidFill>
                <a:latin typeface="Arial"/>
              </a:rPr>
              <a:t>☐ Reinf. Placement</a:t>
            </a:r>
          </a:p>
          <a:p>
            <a:pPr algn="l"/>
            <a:r>
              <a:rPr sz="600" b="0">
                <a:solidFill>
                  <a:srgbClr val="000000"/>
                </a:solidFill>
                <a:latin typeface="Arial"/>
              </a:rPr>
              <a:t>☐ High Strength Bolting</a:t>
            </a:r>
          </a:p>
          <a:p>
            <a:pPr algn="l"/>
            <a:r>
              <a:rPr sz="600" b="0">
                <a:solidFill>
                  <a:srgbClr val="000000"/>
                </a:solidFill>
                <a:latin typeface="Arial"/>
              </a:rPr>
              <a:t>☐ STEEL CONSTRUCTION</a:t>
            </a:r>
          </a:p>
          <a:p>
            <a:pPr algn="l"/>
            <a:r>
              <a:rPr sz="600" b="0">
                <a:solidFill>
                  <a:srgbClr val="000000"/>
                </a:solidFill>
                <a:latin typeface="Arial"/>
              </a:rPr>
              <a:t>☐ SEISMIC</a:t>
            </a:r>
          </a:p>
          <a:p>
            <a:pPr algn="l"/>
            <a:r>
              <a:rPr sz="600" b="0">
                <a:solidFill>
                  <a:srgbClr val="000000"/>
                </a:solidFill>
                <a:latin typeface="Arial"/>
              </a:rPr>
              <a:t>☐ FIRE RESISTANCE</a:t>
            </a:r>
          </a:p>
          <a:p>
            <a:pPr algn="l"/>
            <a:r>
              <a:rPr sz="600" b="0">
                <a:solidFill>
                  <a:srgbClr val="000000"/>
                </a:solidFill>
                <a:latin typeface="Arial"/>
              </a:rPr>
              <a:t>☐ Structural Steel</a:t>
            </a:r>
          </a:p>
          <a:p>
            <a:pPr algn="l"/>
            <a:r>
              <a:rPr sz="600" b="0">
                <a:solidFill>
                  <a:srgbClr val="000000"/>
                </a:solidFill>
                <a:latin typeface="Arial"/>
              </a:rPr>
              <a:t>☐ STRUCTURAL OBSERVATIONS (list below)</a:t>
            </a:r>
          </a:p>
        </p:txBody>
      </p:sp>
      <p:sp>
        <p:nvSpPr>
          <p:cNvPr id="129" name="Rectangle 128"/>
          <p:cNvSpPr/>
          <p:nvPr/>
        </p:nvSpPr>
        <p:spPr>
          <a:xfrm>
            <a:off x="5504688" y="10241280"/>
            <a:ext cx="6217920" cy="201168"/>
          </a:xfrm>
          <a:prstGeom prst="rect">
            <a:avLst/>
          </a:prstGeom>
          <a:solidFill>
            <a:srgbClr val="E8E8E8"/>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5550408" y="10241280"/>
            <a:ext cx="6217920" cy="201168"/>
          </a:xfrm>
          <a:prstGeom prst="rect">
            <a:avLst/>
          </a:prstGeom>
          <a:noFill/>
        </p:spPr>
        <p:txBody>
          <a:bodyPr wrap="square" lIns="25400" rIns="12700" tIns="12700" bIns="12700"/>
          <a:lstStyle/>
          <a:p>
            <a:pPr algn="l"/>
            <a:r>
              <a:rPr sz="700" b="1" i="0">
                <a:solidFill>
                  <a:srgbClr val="000000"/>
                </a:solidFill>
                <a:latin typeface="Arial"/>
              </a:rPr>
              <a:t>SITE CLEARING NOTES (IF APPLICABLE)</a:t>
            </a:r>
          </a:p>
        </p:txBody>
      </p:sp>
      <p:sp>
        <p:nvSpPr>
          <p:cNvPr id="131" name="TextBox 130"/>
          <p:cNvSpPr txBox="1"/>
          <p:nvPr/>
        </p:nvSpPr>
        <p:spPr>
          <a:xfrm>
            <a:off x="5550408" y="10442448"/>
            <a:ext cx="6126480" cy="914400"/>
          </a:xfrm>
          <a:prstGeom prst="rect">
            <a:avLst/>
          </a:prstGeom>
          <a:noFill/>
        </p:spPr>
        <p:txBody>
          <a:bodyPr wrap="square" lIns="25400" rIns="12700" tIns="12700" bIns="12700"/>
          <a:lstStyle/>
          <a:p>
            <a:pPr algn="l"/>
            <a:r>
              <a:rPr sz="650" b="0" i="0">
                <a:solidFill>
                  <a:srgbClr val="000000"/>
                </a:solidFill>
                <a:latin typeface="Arial"/>
              </a:rPr>
              <a:t>1. PROTECT FROM DAMAGE AND PRESERVE TREES, SHRUBS, AND OTHER PLANTS OUTSIDE THE LIMITS OF WORK AND WITHIN THE LIMIT OF THE WORK WHICH ARE DESIGNATED TO REMAIN UNDISTURBED.
2. REMOVE OBSTRUCTIONS, TREES, SHRUBS, GRASS AND OTHER VEGETATION TO PERMIT INSTALLATION OF NEW CONSTRUCTION. REMOVAL INCLUDES DIGGING OUT STUMPS AND OBSTRUCTIONS AND GRUBBING ROOTS.
3. FILL DEPRESSIONS CAUSED BY CLEARING AND GRUBBING OPERATIONS WITH SOIL MATERIAL APPROVED BY OWNER.
4. STRIP TOPSOIL WHERE REQUIRED. STOCKPILE IN AREA APPROVED BY OWNER.
5. WITH OWNER'S APPROVAL, REMOVE EXISTING ABOVE AND BELOW GRADE IMPROVEMENTS AS INDICATED AND AS NECESSARY TO FACILITATE NEW CONSTRUCTION.
6. DISPOSE OF REMOVED TREES, BRUSH, STUMPS, ROOTS AND ORGANIC DEBRIS IN A LEGAL MANNER OFF THE SITE.</a:t>
            </a:r>
          </a:p>
        </p:txBody>
      </p:sp>
      <p:sp>
        <p:nvSpPr>
          <p:cNvPr id="132" name="Rectangle 131"/>
          <p:cNvSpPr/>
          <p:nvPr/>
        </p:nvSpPr>
        <p:spPr>
          <a:xfrm>
            <a:off x="16806672" y="0"/>
            <a:ext cx="3127248" cy="13414248"/>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16824960" y="0"/>
            <a:ext cx="3108960" cy="82296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16870680" y="45720"/>
            <a:ext cx="3017520" cy="731520"/>
          </a:xfrm>
          <a:prstGeom prst="rect">
            <a:avLst/>
          </a:prstGeom>
          <a:noFill/>
        </p:spPr>
        <p:txBody>
          <a:bodyPr wrap="square" lIns="25400" rIns="12700" tIns="12700" bIns="12700"/>
          <a:lstStyle/>
          <a:p>
            <a:pPr algn="ctr"/>
            <a:r>
              <a:rPr sz="2000" b="1" i="0">
                <a:solidFill>
                  <a:srgbClr val="0B1E35"/>
                </a:solidFill>
                <a:latin typeface="Arial"/>
              </a:rPr>
              <a:t>ClearSky</a:t>
            </a:r>
          </a:p>
        </p:txBody>
      </p:sp>
      <p:sp>
        <p:nvSpPr>
          <p:cNvPr id="135" name="TextBox 134"/>
          <p:cNvSpPr txBox="1"/>
          <p:nvPr/>
        </p:nvSpPr>
        <p:spPr>
          <a:xfrm>
            <a:off x="16870680" y="457200"/>
            <a:ext cx="3017520" cy="320040"/>
          </a:xfrm>
          <a:prstGeom prst="rect">
            <a:avLst/>
          </a:prstGeom>
          <a:noFill/>
        </p:spPr>
        <p:txBody>
          <a:bodyPr wrap="square" lIns="25400" rIns="12700" tIns="12700" bIns="12700"/>
          <a:lstStyle/>
          <a:p>
            <a:pPr algn="ctr"/>
            <a:r>
              <a:rPr sz="700" b="1" i="0">
                <a:solidFill>
                  <a:srgbClr val="C9A84C"/>
                </a:solidFill>
                <a:latin typeface="Arial"/>
              </a:rPr>
              <a:t>BUILDERS LLC</a:t>
            </a:r>
          </a:p>
        </p:txBody>
      </p:sp>
      <p:sp>
        <p:nvSpPr>
          <p:cNvPr id="136" name="Rectangle 135"/>
          <p:cNvSpPr/>
          <p:nvPr/>
        </p:nvSpPr>
        <p:spPr>
          <a:xfrm>
            <a:off x="16824960" y="822960"/>
            <a:ext cx="3108960" cy="6858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16870680" y="859536"/>
            <a:ext cx="3017520" cy="612648"/>
          </a:xfrm>
          <a:prstGeom prst="rect">
            <a:avLst/>
          </a:prstGeom>
          <a:noFill/>
        </p:spPr>
        <p:txBody>
          <a:bodyPr wrap="square" lIns="25400" rIns="12700" tIns="12700" bIns="12700"/>
          <a:lstStyle/>
          <a:p>
            <a:pPr algn="l"/>
            <a:r>
              <a:rPr sz="650" b="0">
                <a:solidFill>
                  <a:srgbClr val="000000"/>
                </a:solidFill>
                <a:latin typeface="Arial"/>
              </a:rPr>
              <a:t>PO BOX {{GC_PO_BOX}}</a:t>
            </a:r>
          </a:p>
          <a:p>
            <a:pPr algn="l"/>
            <a:r>
              <a:rPr sz="650" b="0">
                <a:solidFill>
                  <a:srgbClr val="000000"/>
                </a:solidFill>
                <a:latin typeface="Arial"/>
              </a:rPr>
              <a:t>{{GC_CITY}}, {{GC_STATE}} {{GC_ZIP}}</a:t>
            </a:r>
          </a:p>
          <a:p>
            <a:pPr algn="l"/>
            <a:r>
              <a:rPr sz="650" b="0">
                <a:solidFill>
                  <a:srgbClr val="000000"/>
                </a:solidFill>
                <a:latin typeface="Arial"/>
              </a:rPr>
              <a:t>PH: {{GC_PHONE}}</a:t>
            </a:r>
          </a:p>
        </p:txBody>
      </p:sp>
      <p:sp>
        <p:nvSpPr>
          <p:cNvPr id="138" name="Rectangle 137"/>
          <p:cNvSpPr/>
          <p:nvPr/>
        </p:nvSpPr>
        <p:spPr>
          <a:xfrm>
            <a:off x="16824960" y="1508760"/>
            <a:ext cx="3108960" cy="5943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rot="-5400000">
            <a:off x="16916400" y="1600200"/>
            <a:ext cx="2926080" cy="5760720"/>
          </a:xfrm>
          <a:prstGeom prst="rect">
            <a:avLst/>
          </a:prstGeom>
          <a:noFill/>
        </p:spPr>
        <p:txBody>
          <a:bodyPr wrap="none">
            <a:spAutoFit/>
          </a:bodyPr>
          <a:lstStyle/>
          <a:p>
            <a:r>
              <a:rPr sz="800" b="1">
                <a:solidFill>
                  <a:srgbClr val="0B1E35"/>
                </a:solidFill>
                <a:latin typeface="Arial"/>
              </a:rPr>
              <a:t>PN - {{PROJECT_NAME}}</a:t>
            </a:r>
          </a:p>
          <a:p>
            <a:r>
              <a:rPr sz="700" b="0">
                <a:solidFill>
                  <a:srgbClr val="000000"/>
                </a:solidFill>
                <a:latin typeface="Arial"/>
              </a:rPr>
              <a:t>{{SITE_ADDR}}</a:t>
            </a:r>
          </a:p>
          <a:p>
            <a:r>
              <a:rPr sz="700" b="0">
                <a:solidFill>
                  <a:srgbClr val="000000"/>
                </a:solidFill>
                <a:latin typeface="Arial"/>
              </a:rPr>
              <a:t>{{CITY_SHORT}}, {{STATE}} {{ZIP}}</a:t>
            </a:r>
          </a:p>
          <a:p>
            <a:r>
              <a:rPr sz="700" b="0">
                <a:solidFill>
                  <a:srgbClr val="000000"/>
                </a:solidFill>
                <a:latin typeface="Arial"/>
              </a:rPr>
              <a:t>APN: {{APN}}</a:t>
            </a:r>
          </a:p>
        </p:txBody>
      </p:sp>
      <p:sp>
        <p:nvSpPr>
          <p:cNvPr id="140" name="Rectangle 139"/>
          <p:cNvSpPr/>
          <p:nvPr/>
        </p:nvSpPr>
        <p:spPr>
          <a:xfrm>
            <a:off x="16824960" y="7452360"/>
            <a:ext cx="3108960" cy="1645920"/>
          </a:xfrm>
          <a:prstGeom prst="rect">
            <a:avLst/>
          </a:prstGeom>
          <a:solidFill>
            <a:srgbClr val="FFF3A8"/>
          </a:solidFill>
          <a:ln w="1270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16870680" y="7498080"/>
            <a:ext cx="3017520" cy="1554480"/>
          </a:xfrm>
          <a:prstGeom prst="rect">
            <a:avLst/>
          </a:prstGeom>
          <a:solidFill>
            <a:srgbClr val="FFF3A8"/>
          </a:solidFill>
        </p:spPr>
        <p:txBody>
          <a:bodyPr wrap="square" lIns="25400" rIns="12700" tIns="12700" bIns="12700"/>
          <a:lstStyle/>
          <a:p>
            <a:pPr algn="l"/>
            <a:r>
              <a:rPr sz="650" b="0">
                <a:solidFill>
                  <a:srgbClr val="CC0000"/>
                </a:solidFill>
                <a:latin typeface="Arial"/>
              </a:rPr>
              <a:t>{{PERMIT_NO}}</a:t>
            </a:r>
          </a:p>
          <a:p>
            <a:pPr algn="l"/>
            <a:r>
              <a:rPr sz="650" b="0">
                <a:solidFill>
                  <a:srgbClr val="CC0000"/>
                </a:solidFill>
                <a:latin typeface="Arial"/>
              </a:rPr>
              <a:t>REVIEWED FOR COMPLIANCE</a:t>
            </a:r>
          </a:p>
          <a:p>
            <a:pPr algn="l"/>
            <a:r>
              <a:rPr sz="650" b="0">
                <a:solidFill>
                  <a:srgbClr val="CC0000"/>
                </a:solidFill>
                <a:latin typeface="Arial"/>
              </a:rPr>
              <a:t>{{AHJ_CITY}}</a:t>
            </a:r>
          </a:p>
          <a:p>
            <a:pPr algn="l"/>
            <a:r>
              <a:rPr sz="650" b="0">
                <a:solidFill>
                  <a:srgbClr val="CC0000"/>
                </a:solidFill>
                <a:latin typeface="Arial"/>
              </a:rPr>
              <a:t>{{AHJ_DEPT}}</a:t>
            </a:r>
          </a:p>
          <a:p>
            <a:pPr algn="l"/>
            <a:r>
              <a:rPr sz="650" b="0">
                <a:solidFill>
                  <a:srgbClr val="CC0000"/>
                </a:solidFill>
                <a:latin typeface="Arial"/>
              </a:rPr>
              <a:t>For {{PROJECT_NAME}} Subject to Code Compliance.</a:t>
            </a:r>
          </a:p>
          <a:p>
            <a:pPr algn="l"/>
            <a:r>
              <a:rPr sz="650" b="0">
                <a:solidFill>
                  <a:srgbClr val="CC0000"/>
                </a:solidFill>
                <a:latin typeface="Arial"/>
              </a:rPr>
              <a:t>REVISIONS NEED REVIEW</a:t>
            </a:r>
          </a:p>
        </p:txBody>
      </p:sp>
      <p:sp>
        <p:nvSpPr>
          <p:cNvPr id="142" name="Rectangle 141"/>
          <p:cNvSpPr/>
          <p:nvPr/>
        </p:nvSpPr>
        <p:spPr>
          <a:xfrm>
            <a:off x="16824960" y="9098280"/>
            <a:ext cx="3108960" cy="109728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ectangle 142"/>
          <p:cNvSpPr/>
          <p:nvPr/>
        </p:nvSpPr>
        <p:spPr>
          <a:xfrm>
            <a:off x="16824960" y="9098280"/>
            <a:ext cx="3108960" cy="201168"/>
          </a:xfrm>
          <a:prstGeom prst="rect">
            <a:avLst/>
          </a:prstGeom>
          <a:solidFill>
            <a:srgbClr val="E8E8E8"/>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16852392" y="9125712"/>
            <a:ext cx="640080" cy="164592"/>
          </a:xfrm>
          <a:prstGeom prst="rect">
            <a:avLst/>
          </a:prstGeom>
          <a:noFill/>
        </p:spPr>
        <p:txBody>
          <a:bodyPr wrap="square" lIns="25400" rIns="12700" tIns="12700" bIns="12700"/>
          <a:lstStyle/>
          <a:p>
            <a:pPr algn="l"/>
            <a:r>
              <a:rPr sz="600" b="1" i="0">
                <a:solidFill>
                  <a:srgbClr val="000000"/>
                </a:solidFill>
                <a:latin typeface="Arial"/>
              </a:rPr>
              <a:t>DATE</a:t>
            </a:r>
          </a:p>
        </p:txBody>
      </p:sp>
      <p:sp>
        <p:nvSpPr>
          <p:cNvPr id="145" name="TextBox 144"/>
          <p:cNvSpPr txBox="1"/>
          <p:nvPr/>
        </p:nvSpPr>
        <p:spPr>
          <a:xfrm>
            <a:off x="17510760" y="9125712"/>
            <a:ext cx="365760" cy="164592"/>
          </a:xfrm>
          <a:prstGeom prst="rect">
            <a:avLst/>
          </a:prstGeom>
          <a:noFill/>
        </p:spPr>
        <p:txBody>
          <a:bodyPr wrap="square" lIns="25400" rIns="12700" tIns="12700" bIns="12700"/>
          <a:lstStyle/>
          <a:p>
            <a:pPr algn="l"/>
            <a:r>
              <a:rPr sz="600" b="1" i="0">
                <a:solidFill>
                  <a:srgbClr val="000000"/>
                </a:solidFill>
                <a:latin typeface="Arial"/>
              </a:rPr>
              <a:t>REV</a:t>
            </a:r>
          </a:p>
        </p:txBody>
      </p:sp>
      <p:sp>
        <p:nvSpPr>
          <p:cNvPr id="146" name="TextBox 145"/>
          <p:cNvSpPr txBox="1"/>
          <p:nvPr/>
        </p:nvSpPr>
        <p:spPr>
          <a:xfrm>
            <a:off x="17922240" y="9125712"/>
            <a:ext cx="1828800" cy="164592"/>
          </a:xfrm>
          <a:prstGeom prst="rect">
            <a:avLst/>
          </a:prstGeom>
          <a:noFill/>
        </p:spPr>
        <p:txBody>
          <a:bodyPr wrap="square" lIns="25400" rIns="12700" tIns="12700" bIns="12700"/>
          <a:lstStyle/>
          <a:p>
            <a:pPr algn="l"/>
            <a:r>
              <a:rPr sz="600" b="1" i="0">
                <a:solidFill>
                  <a:srgbClr val="000000"/>
                </a:solidFill>
                <a:latin typeface="Arial"/>
              </a:rPr>
              <a:t>COMMENTS</a:t>
            </a:r>
          </a:p>
        </p:txBody>
      </p:sp>
      <p:sp>
        <p:nvSpPr>
          <p:cNvPr id="147" name="TextBox 146"/>
          <p:cNvSpPr txBox="1"/>
          <p:nvPr/>
        </p:nvSpPr>
        <p:spPr>
          <a:xfrm>
            <a:off x="16852392" y="9326880"/>
            <a:ext cx="640080" cy="164592"/>
          </a:xfrm>
          <a:prstGeom prst="rect">
            <a:avLst/>
          </a:prstGeom>
          <a:noFill/>
        </p:spPr>
        <p:txBody>
          <a:bodyPr wrap="square" lIns="25400" rIns="12700" tIns="12700" bIns="12700"/>
          <a:lstStyle/>
          <a:p>
            <a:pPr algn="l"/>
            <a:r>
              <a:rPr sz="600" b="0" i="0">
                <a:solidFill>
                  <a:srgbClr val="000000"/>
                </a:solidFill>
                <a:latin typeface="Arial"/>
              </a:rPr>
              <a:t>{{ISSUE_DATE}}</a:t>
            </a:r>
          </a:p>
        </p:txBody>
      </p:sp>
      <p:sp>
        <p:nvSpPr>
          <p:cNvPr id="148" name="TextBox 147"/>
          <p:cNvSpPr txBox="1"/>
          <p:nvPr/>
        </p:nvSpPr>
        <p:spPr>
          <a:xfrm>
            <a:off x="17510760" y="9326880"/>
            <a:ext cx="365760" cy="164592"/>
          </a:xfrm>
          <a:prstGeom prst="rect">
            <a:avLst/>
          </a:prstGeom>
          <a:noFill/>
        </p:spPr>
        <p:txBody>
          <a:bodyPr wrap="square" lIns="25400" rIns="12700" tIns="12700" bIns="12700"/>
          <a:lstStyle/>
          <a:p>
            <a:pPr algn="l"/>
            <a:r>
              <a:rPr sz="600" b="0" i="0">
                <a:solidFill>
                  <a:srgbClr val="000000"/>
                </a:solidFill>
                <a:latin typeface="Arial"/>
              </a:rPr>
              <a:t>00</a:t>
            </a:r>
          </a:p>
        </p:txBody>
      </p:sp>
      <p:sp>
        <p:nvSpPr>
          <p:cNvPr id="149" name="TextBox 148"/>
          <p:cNvSpPr txBox="1"/>
          <p:nvPr/>
        </p:nvSpPr>
        <p:spPr>
          <a:xfrm>
            <a:off x="17922240" y="9326880"/>
            <a:ext cx="1828800" cy="164592"/>
          </a:xfrm>
          <a:prstGeom prst="rect">
            <a:avLst/>
          </a:prstGeom>
          <a:noFill/>
        </p:spPr>
        <p:txBody>
          <a:bodyPr wrap="square" lIns="25400" rIns="12700" tIns="12700" bIns="12700"/>
          <a:lstStyle/>
          <a:p>
            <a:pPr algn="l"/>
            <a:r>
              <a:rPr sz="600" b="0" i="0">
                <a:solidFill>
                  <a:srgbClr val="000000"/>
                </a:solidFill>
                <a:latin typeface="Arial"/>
              </a:rPr>
              <a:t>ISSUE FOR PERMIT</a:t>
            </a:r>
          </a:p>
        </p:txBody>
      </p:sp>
      <p:sp>
        <p:nvSpPr>
          <p:cNvPr id="150" name="TextBox 149"/>
          <p:cNvSpPr txBox="1"/>
          <p:nvPr/>
        </p:nvSpPr>
        <p:spPr>
          <a:xfrm>
            <a:off x="16852392" y="9528048"/>
            <a:ext cx="64008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151" name="TextBox 150"/>
          <p:cNvSpPr txBox="1"/>
          <p:nvPr/>
        </p:nvSpPr>
        <p:spPr>
          <a:xfrm>
            <a:off x="17510760" y="9528048"/>
            <a:ext cx="36576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152" name="TextBox 151"/>
          <p:cNvSpPr txBox="1"/>
          <p:nvPr/>
        </p:nvSpPr>
        <p:spPr>
          <a:xfrm>
            <a:off x="17922240" y="9528048"/>
            <a:ext cx="182880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153" name="TextBox 152"/>
          <p:cNvSpPr txBox="1"/>
          <p:nvPr/>
        </p:nvSpPr>
        <p:spPr>
          <a:xfrm>
            <a:off x="16852392" y="9729216"/>
            <a:ext cx="64008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154" name="TextBox 153"/>
          <p:cNvSpPr txBox="1"/>
          <p:nvPr/>
        </p:nvSpPr>
        <p:spPr>
          <a:xfrm>
            <a:off x="17510760" y="9729216"/>
            <a:ext cx="36576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155" name="TextBox 154"/>
          <p:cNvSpPr txBox="1"/>
          <p:nvPr/>
        </p:nvSpPr>
        <p:spPr>
          <a:xfrm>
            <a:off x="17922240" y="9729216"/>
            <a:ext cx="182880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156" name="TextBox 155"/>
          <p:cNvSpPr txBox="1"/>
          <p:nvPr/>
        </p:nvSpPr>
        <p:spPr>
          <a:xfrm>
            <a:off x="16852392" y="9930384"/>
            <a:ext cx="64008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157" name="TextBox 156"/>
          <p:cNvSpPr txBox="1"/>
          <p:nvPr/>
        </p:nvSpPr>
        <p:spPr>
          <a:xfrm>
            <a:off x="17510760" y="9930384"/>
            <a:ext cx="36576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158" name="TextBox 157"/>
          <p:cNvSpPr txBox="1"/>
          <p:nvPr/>
        </p:nvSpPr>
        <p:spPr>
          <a:xfrm>
            <a:off x="17922240" y="9930384"/>
            <a:ext cx="182880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159" name="Rectangle 158"/>
          <p:cNvSpPr/>
          <p:nvPr/>
        </p:nvSpPr>
        <p:spPr>
          <a:xfrm>
            <a:off x="16824960" y="10195560"/>
            <a:ext cx="3108960" cy="73152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16824960" y="10213848"/>
            <a:ext cx="3108960" cy="457200"/>
          </a:xfrm>
          <a:prstGeom prst="rect">
            <a:avLst/>
          </a:prstGeom>
          <a:noFill/>
        </p:spPr>
        <p:txBody>
          <a:bodyPr wrap="square" lIns="25400" rIns="12700" tIns="12700" bIns="12700"/>
          <a:lstStyle/>
          <a:p>
            <a:pPr algn="ctr"/>
            <a:r>
              <a:rPr sz="2800" b="1" i="0">
                <a:solidFill>
                  <a:srgbClr val="0B1E35"/>
                </a:solidFill>
                <a:latin typeface="Arial"/>
              </a:rPr>
              <a:t>E0</a:t>
            </a:r>
          </a:p>
        </p:txBody>
      </p:sp>
      <p:sp>
        <p:nvSpPr>
          <p:cNvPr id="161" name="TextBox 160"/>
          <p:cNvSpPr txBox="1"/>
          <p:nvPr/>
        </p:nvSpPr>
        <p:spPr>
          <a:xfrm>
            <a:off x="16824960" y="10671048"/>
            <a:ext cx="3108960" cy="237744"/>
          </a:xfrm>
          <a:prstGeom prst="rect">
            <a:avLst/>
          </a:prstGeom>
          <a:noFill/>
        </p:spPr>
        <p:txBody>
          <a:bodyPr wrap="square" lIns="25400" rIns="12700" tIns="12700" bIns="12700"/>
          <a:lstStyle/>
          <a:p>
            <a:pPr algn="ctr"/>
            <a:r>
              <a:rPr sz="800" b="1" i="0">
                <a:solidFill>
                  <a:srgbClr val="000000"/>
                </a:solidFill>
                <a:latin typeface="Arial"/>
              </a:rPr>
              <a:t>COVER SHEET</a:t>
            </a:r>
          </a:p>
        </p:txBody>
      </p:sp>
      <p:sp>
        <p:nvSpPr>
          <p:cNvPr id="162" name="Rectangle 161"/>
          <p:cNvSpPr/>
          <p:nvPr/>
        </p:nvSpPr>
        <p:spPr>
          <a:xfrm>
            <a:off x="16824960" y="10927080"/>
            <a:ext cx="3108960" cy="2487168"/>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16870680" y="10963656"/>
            <a:ext cx="3017520" cy="2395728"/>
          </a:xfrm>
          <a:prstGeom prst="rect">
            <a:avLst/>
          </a:prstGeom>
          <a:noFill/>
        </p:spPr>
        <p:txBody>
          <a:bodyPr wrap="square" lIns="25400" rIns="12700" tIns="12700" bIns="12700"/>
          <a:lstStyle/>
          <a:p>
            <a:pPr algn="l"/>
            <a:r>
              <a:rPr sz="650" b="0">
                <a:solidFill>
                  <a:srgbClr val="000000"/>
                </a:solidFill>
                <a:latin typeface="Arial"/>
              </a:rPr>
              <a:t>ISSUE DATE</a:t>
            </a:r>
          </a:p>
          <a:p>
            <a:pPr algn="l"/>
            <a:r>
              <a:rPr sz="650" b="0">
                <a:solidFill>
                  <a:srgbClr val="000000"/>
                </a:solidFill>
                <a:latin typeface="Arial"/>
              </a:rPr>
              <a:t>{{ISSUE_DATE}}</a:t>
            </a:r>
          </a:p>
          <a:p>
            <a:pPr algn="l"/>
            <a:r>
              <a:rPr sz="650" b="0">
                <a:solidFill>
                  <a:srgbClr val="000000"/>
                </a:solidFill>
                <a:latin typeface="Arial"/>
              </a:rPr>
              <a:t>REVISION DATE</a:t>
            </a:r>
          </a:p>
          <a:p>
            <a:pPr algn="l"/>
            <a:r>
              <a:rPr sz="650" b="0">
                <a:solidFill>
                  <a:srgbClr val="000000"/>
                </a:solidFill>
                <a:latin typeface="Arial"/>
              </a:rPr>
              <a:t>{{ISSUE_DATE}}</a:t>
            </a:r>
          </a:p>
          <a:p>
            <a:pPr algn="l"/>
            <a:r>
              <a:rPr sz="650" b="0">
                <a:solidFill>
                  <a:srgbClr val="000000"/>
                </a:solidFill>
                <a:latin typeface="Arial"/>
              </a:rPr>
              <a:t>DESIGNED BY</a:t>
            </a:r>
          </a:p>
          <a:p>
            <a:pPr algn="l"/>
            <a:r>
              <a:rPr sz="650" b="0">
                <a:solidFill>
                  <a:srgbClr val="000000"/>
                </a:solidFill>
                <a:latin typeface="Arial"/>
              </a:rPr>
              <a:t>{{DESIGNED_BY}}</a:t>
            </a:r>
          </a:p>
          <a:p>
            <a:pPr algn="l"/>
            <a:r>
              <a:rPr sz="650" b="0">
                <a:solidFill>
                  <a:srgbClr val="000000"/>
                </a:solidFill>
                <a:latin typeface="Arial"/>
              </a:rPr>
              <a:t>CHECKED BY</a:t>
            </a:r>
          </a:p>
          <a:p>
            <a:pPr algn="l"/>
            <a:r>
              <a:rPr sz="650" b="0">
                <a:solidFill>
                  <a:srgbClr val="000000"/>
                </a:solidFill>
                <a:latin typeface="Arial"/>
              </a:rPr>
              <a:t>{{CHECKED_BY}}</a:t>
            </a:r>
          </a:p>
          <a:p>
            <a:pPr algn="l"/>
            <a:r>
              <a:rPr sz="650" b="0">
                <a:solidFill>
                  <a:srgbClr val="000000"/>
                </a:solidFill>
                <a:latin typeface="Arial"/>
              </a:rPr>
              <a:t>JOB NO.</a:t>
            </a:r>
          </a:p>
          <a:p>
            <a:pPr algn="l"/>
            <a:r>
              <a:rPr sz="650" b="0">
                <a:solidFill>
                  <a:srgbClr val="000000"/>
                </a:solidFill>
                <a:latin typeface="Arial"/>
              </a:rPr>
              <a:t>{{JOB_NO}}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00584" y="100584"/>
            <a:ext cx="16614647" cy="13213080"/>
          </a:xfrm>
          <a:prstGeom prst="rect">
            <a:avLst/>
          </a:prstGeom>
          <a:noFill/>
          <a:ln w="9525">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109728"/>
            <a:ext cx="16596359" cy="13194792"/>
          </a:xfrm>
          <a:prstGeom prst="rect">
            <a:avLst/>
          </a:prstGeom>
          <a:solidFill>
            <a:srgbClr val="E26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 y="6580124"/>
            <a:ext cx="16596359" cy="254000"/>
          </a:xfrm>
          <a:prstGeom prst="rect">
            <a:avLst/>
          </a:prstGeom>
          <a:noFill/>
        </p:spPr>
        <p:txBody>
          <a:bodyPr wrap="square" lIns="25400" rIns="12700" tIns="12700" bIns="12700"/>
          <a:lstStyle/>
          <a:p>
            <a:pPr algn="ctr"/>
            <a:r>
              <a:rPr sz="1400" b="0" i="0">
                <a:solidFill>
                  <a:srgbClr val="FFFFFF"/>
                </a:solidFill>
                <a:latin typeface="Arial"/>
              </a:rPr>
              <a:t>E1.0 PLOT PLAN IMAGE
(AI-enhanced site map from SiteMap Designer)</a:t>
            </a:r>
          </a:p>
        </p:txBody>
      </p:sp>
      <p:sp>
        <p:nvSpPr>
          <p:cNvPr id="5" name="TextBox 4"/>
          <p:cNvSpPr txBox="1"/>
          <p:nvPr/>
        </p:nvSpPr>
        <p:spPr>
          <a:xfrm>
            <a:off x="292608" y="12938760"/>
            <a:ext cx="3657600" cy="228600"/>
          </a:xfrm>
          <a:prstGeom prst="rect">
            <a:avLst/>
          </a:prstGeom>
          <a:noFill/>
        </p:spPr>
        <p:txBody>
          <a:bodyPr wrap="square" lIns="25400" rIns="12700" tIns="12700" bIns="12700"/>
          <a:lstStyle/>
          <a:p>
            <a:pPr algn="l"/>
            <a:r>
              <a:rPr sz="700" b="0" i="0">
                <a:solidFill>
                  <a:srgbClr val="000000"/>
                </a:solidFill>
                <a:latin typeface="Arial"/>
              </a:rPr>
              <a:t>1 — PLOT PLAN · SCALE: 1" = {{PLOT_SCALE}}'</a:t>
            </a:r>
          </a:p>
        </p:txBody>
      </p:sp>
      <p:sp>
        <p:nvSpPr>
          <p:cNvPr id="6" name="Rectangle 5"/>
          <p:cNvSpPr/>
          <p:nvPr/>
        </p:nvSpPr>
        <p:spPr>
          <a:xfrm>
            <a:off x="16806672" y="0"/>
            <a:ext cx="3127248" cy="13414248"/>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824960" y="0"/>
            <a:ext cx="3108960" cy="82296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870680" y="45720"/>
            <a:ext cx="3017520" cy="731520"/>
          </a:xfrm>
          <a:prstGeom prst="rect">
            <a:avLst/>
          </a:prstGeom>
          <a:noFill/>
        </p:spPr>
        <p:txBody>
          <a:bodyPr wrap="square" lIns="25400" rIns="12700" tIns="12700" bIns="12700"/>
          <a:lstStyle/>
          <a:p>
            <a:pPr algn="ctr"/>
            <a:r>
              <a:rPr sz="2000" b="1" i="0">
                <a:solidFill>
                  <a:srgbClr val="0B1E35"/>
                </a:solidFill>
                <a:latin typeface="Arial"/>
              </a:rPr>
              <a:t>ClearSky</a:t>
            </a:r>
          </a:p>
        </p:txBody>
      </p:sp>
      <p:sp>
        <p:nvSpPr>
          <p:cNvPr id="9" name="TextBox 8"/>
          <p:cNvSpPr txBox="1"/>
          <p:nvPr/>
        </p:nvSpPr>
        <p:spPr>
          <a:xfrm>
            <a:off x="16870680" y="457200"/>
            <a:ext cx="3017520" cy="320040"/>
          </a:xfrm>
          <a:prstGeom prst="rect">
            <a:avLst/>
          </a:prstGeom>
          <a:noFill/>
        </p:spPr>
        <p:txBody>
          <a:bodyPr wrap="square" lIns="25400" rIns="12700" tIns="12700" bIns="12700"/>
          <a:lstStyle/>
          <a:p>
            <a:pPr algn="ctr"/>
            <a:r>
              <a:rPr sz="700" b="1" i="0">
                <a:solidFill>
                  <a:srgbClr val="C9A84C"/>
                </a:solidFill>
                <a:latin typeface="Arial"/>
              </a:rPr>
              <a:t>BUILDERS LLC</a:t>
            </a:r>
          </a:p>
        </p:txBody>
      </p:sp>
      <p:sp>
        <p:nvSpPr>
          <p:cNvPr id="10" name="Rectangle 9"/>
          <p:cNvSpPr/>
          <p:nvPr/>
        </p:nvSpPr>
        <p:spPr>
          <a:xfrm>
            <a:off x="16824960" y="822960"/>
            <a:ext cx="3108960" cy="6858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6870680" y="859536"/>
            <a:ext cx="3017520" cy="612648"/>
          </a:xfrm>
          <a:prstGeom prst="rect">
            <a:avLst/>
          </a:prstGeom>
          <a:noFill/>
        </p:spPr>
        <p:txBody>
          <a:bodyPr wrap="square" lIns="25400" rIns="12700" tIns="12700" bIns="12700"/>
          <a:lstStyle/>
          <a:p>
            <a:pPr algn="l"/>
            <a:r>
              <a:rPr sz="650" b="0">
                <a:solidFill>
                  <a:srgbClr val="000000"/>
                </a:solidFill>
                <a:latin typeface="Arial"/>
              </a:rPr>
              <a:t>PO BOX {{GC_PO_BOX}}</a:t>
            </a:r>
          </a:p>
          <a:p>
            <a:pPr algn="l"/>
            <a:r>
              <a:rPr sz="650" b="0">
                <a:solidFill>
                  <a:srgbClr val="000000"/>
                </a:solidFill>
                <a:latin typeface="Arial"/>
              </a:rPr>
              <a:t>{{GC_CITY}}, {{GC_STATE}} {{GC_ZIP}}</a:t>
            </a:r>
          </a:p>
          <a:p>
            <a:pPr algn="l"/>
            <a:r>
              <a:rPr sz="650" b="0">
                <a:solidFill>
                  <a:srgbClr val="000000"/>
                </a:solidFill>
                <a:latin typeface="Arial"/>
              </a:rPr>
              <a:t>PH: {{GC_PHONE}}</a:t>
            </a:r>
          </a:p>
        </p:txBody>
      </p:sp>
      <p:sp>
        <p:nvSpPr>
          <p:cNvPr id="12" name="Rectangle 11"/>
          <p:cNvSpPr/>
          <p:nvPr/>
        </p:nvSpPr>
        <p:spPr>
          <a:xfrm>
            <a:off x="16824960" y="1508760"/>
            <a:ext cx="3108960" cy="5943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rot="-5400000">
            <a:off x="16916400" y="1600200"/>
            <a:ext cx="2926080" cy="5760720"/>
          </a:xfrm>
          <a:prstGeom prst="rect">
            <a:avLst/>
          </a:prstGeom>
          <a:noFill/>
        </p:spPr>
        <p:txBody>
          <a:bodyPr wrap="none">
            <a:spAutoFit/>
          </a:bodyPr>
          <a:lstStyle/>
          <a:p>
            <a:r>
              <a:rPr sz="800" b="1">
                <a:solidFill>
                  <a:srgbClr val="0B1E35"/>
                </a:solidFill>
                <a:latin typeface="Arial"/>
              </a:rPr>
              <a:t>PN - {{PROJECT_NAME}}</a:t>
            </a:r>
          </a:p>
          <a:p>
            <a:r>
              <a:rPr sz="700" b="0">
                <a:solidFill>
                  <a:srgbClr val="000000"/>
                </a:solidFill>
                <a:latin typeface="Arial"/>
              </a:rPr>
              <a:t>{{SITE_ADDR}}</a:t>
            </a:r>
          </a:p>
          <a:p>
            <a:r>
              <a:rPr sz="700" b="0">
                <a:solidFill>
                  <a:srgbClr val="000000"/>
                </a:solidFill>
                <a:latin typeface="Arial"/>
              </a:rPr>
              <a:t>{{CITY_SHORT}}, {{STATE}} {{ZIP}}</a:t>
            </a:r>
          </a:p>
          <a:p>
            <a:r>
              <a:rPr sz="700" b="0">
                <a:solidFill>
                  <a:srgbClr val="000000"/>
                </a:solidFill>
                <a:latin typeface="Arial"/>
              </a:rPr>
              <a:t>APN: {{APN}}</a:t>
            </a:r>
          </a:p>
        </p:txBody>
      </p:sp>
      <p:sp>
        <p:nvSpPr>
          <p:cNvPr id="14" name="Rectangle 13"/>
          <p:cNvSpPr/>
          <p:nvPr/>
        </p:nvSpPr>
        <p:spPr>
          <a:xfrm>
            <a:off x="16824960" y="7452360"/>
            <a:ext cx="3108960" cy="1645920"/>
          </a:xfrm>
          <a:prstGeom prst="rect">
            <a:avLst/>
          </a:prstGeom>
          <a:solidFill>
            <a:srgbClr val="FFF3A8"/>
          </a:solidFill>
          <a:ln w="1270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6870680" y="7498080"/>
            <a:ext cx="3017520" cy="1554480"/>
          </a:xfrm>
          <a:prstGeom prst="rect">
            <a:avLst/>
          </a:prstGeom>
          <a:solidFill>
            <a:srgbClr val="FFF3A8"/>
          </a:solidFill>
        </p:spPr>
        <p:txBody>
          <a:bodyPr wrap="square" lIns="25400" rIns="12700" tIns="12700" bIns="12700"/>
          <a:lstStyle/>
          <a:p>
            <a:pPr algn="l"/>
            <a:r>
              <a:rPr sz="650" b="0">
                <a:solidFill>
                  <a:srgbClr val="CC0000"/>
                </a:solidFill>
                <a:latin typeface="Arial"/>
              </a:rPr>
              <a:t>{{PERMIT_NO}}</a:t>
            </a:r>
          </a:p>
          <a:p>
            <a:pPr algn="l"/>
            <a:r>
              <a:rPr sz="650" b="0">
                <a:solidFill>
                  <a:srgbClr val="CC0000"/>
                </a:solidFill>
                <a:latin typeface="Arial"/>
              </a:rPr>
              <a:t>REVIEWED FOR COMPLIANCE</a:t>
            </a:r>
          </a:p>
          <a:p>
            <a:pPr algn="l"/>
            <a:r>
              <a:rPr sz="650" b="0">
                <a:solidFill>
                  <a:srgbClr val="CC0000"/>
                </a:solidFill>
                <a:latin typeface="Arial"/>
              </a:rPr>
              <a:t>{{AHJ_CITY}}</a:t>
            </a:r>
          </a:p>
          <a:p>
            <a:pPr algn="l"/>
            <a:r>
              <a:rPr sz="650" b="0">
                <a:solidFill>
                  <a:srgbClr val="CC0000"/>
                </a:solidFill>
                <a:latin typeface="Arial"/>
              </a:rPr>
              <a:t>{{AHJ_DEPT}}</a:t>
            </a:r>
          </a:p>
          <a:p>
            <a:pPr algn="l"/>
            <a:r>
              <a:rPr sz="650" b="0">
                <a:solidFill>
                  <a:srgbClr val="CC0000"/>
                </a:solidFill>
                <a:latin typeface="Arial"/>
              </a:rPr>
              <a:t>For {{PROJECT_NAME}} Subject to Code Compliance.</a:t>
            </a:r>
          </a:p>
          <a:p>
            <a:pPr algn="l"/>
            <a:r>
              <a:rPr sz="650" b="0">
                <a:solidFill>
                  <a:srgbClr val="CC0000"/>
                </a:solidFill>
                <a:latin typeface="Arial"/>
              </a:rPr>
              <a:t>REVISIONS NEED REVIEW</a:t>
            </a:r>
          </a:p>
        </p:txBody>
      </p:sp>
      <p:sp>
        <p:nvSpPr>
          <p:cNvPr id="16" name="Rectangle 15"/>
          <p:cNvSpPr/>
          <p:nvPr/>
        </p:nvSpPr>
        <p:spPr>
          <a:xfrm>
            <a:off x="16824960" y="9098280"/>
            <a:ext cx="3108960" cy="109728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6824960" y="9098280"/>
            <a:ext cx="3108960" cy="201168"/>
          </a:xfrm>
          <a:prstGeom prst="rect">
            <a:avLst/>
          </a:prstGeom>
          <a:solidFill>
            <a:srgbClr val="E8E8E8"/>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852392" y="9125712"/>
            <a:ext cx="640080" cy="164592"/>
          </a:xfrm>
          <a:prstGeom prst="rect">
            <a:avLst/>
          </a:prstGeom>
          <a:noFill/>
        </p:spPr>
        <p:txBody>
          <a:bodyPr wrap="square" lIns="25400" rIns="12700" tIns="12700" bIns="12700"/>
          <a:lstStyle/>
          <a:p>
            <a:pPr algn="l"/>
            <a:r>
              <a:rPr sz="600" b="1" i="0">
                <a:solidFill>
                  <a:srgbClr val="000000"/>
                </a:solidFill>
                <a:latin typeface="Arial"/>
              </a:rPr>
              <a:t>DATE</a:t>
            </a:r>
          </a:p>
        </p:txBody>
      </p:sp>
      <p:sp>
        <p:nvSpPr>
          <p:cNvPr id="19" name="TextBox 18"/>
          <p:cNvSpPr txBox="1"/>
          <p:nvPr/>
        </p:nvSpPr>
        <p:spPr>
          <a:xfrm>
            <a:off x="17510760" y="9125712"/>
            <a:ext cx="365760" cy="164592"/>
          </a:xfrm>
          <a:prstGeom prst="rect">
            <a:avLst/>
          </a:prstGeom>
          <a:noFill/>
        </p:spPr>
        <p:txBody>
          <a:bodyPr wrap="square" lIns="25400" rIns="12700" tIns="12700" bIns="12700"/>
          <a:lstStyle/>
          <a:p>
            <a:pPr algn="l"/>
            <a:r>
              <a:rPr sz="600" b="1" i="0">
                <a:solidFill>
                  <a:srgbClr val="000000"/>
                </a:solidFill>
                <a:latin typeface="Arial"/>
              </a:rPr>
              <a:t>REV</a:t>
            </a:r>
          </a:p>
        </p:txBody>
      </p:sp>
      <p:sp>
        <p:nvSpPr>
          <p:cNvPr id="20" name="TextBox 19"/>
          <p:cNvSpPr txBox="1"/>
          <p:nvPr/>
        </p:nvSpPr>
        <p:spPr>
          <a:xfrm>
            <a:off x="17922240" y="9125712"/>
            <a:ext cx="1828800" cy="164592"/>
          </a:xfrm>
          <a:prstGeom prst="rect">
            <a:avLst/>
          </a:prstGeom>
          <a:noFill/>
        </p:spPr>
        <p:txBody>
          <a:bodyPr wrap="square" lIns="25400" rIns="12700" tIns="12700" bIns="12700"/>
          <a:lstStyle/>
          <a:p>
            <a:pPr algn="l"/>
            <a:r>
              <a:rPr sz="600" b="1" i="0">
                <a:solidFill>
                  <a:srgbClr val="000000"/>
                </a:solidFill>
                <a:latin typeface="Arial"/>
              </a:rPr>
              <a:t>COMMENTS</a:t>
            </a:r>
          </a:p>
        </p:txBody>
      </p:sp>
      <p:sp>
        <p:nvSpPr>
          <p:cNvPr id="21" name="TextBox 20"/>
          <p:cNvSpPr txBox="1"/>
          <p:nvPr/>
        </p:nvSpPr>
        <p:spPr>
          <a:xfrm>
            <a:off x="16852392" y="9326880"/>
            <a:ext cx="640080" cy="164592"/>
          </a:xfrm>
          <a:prstGeom prst="rect">
            <a:avLst/>
          </a:prstGeom>
          <a:noFill/>
        </p:spPr>
        <p:txBody>
          <a:bodyPr wrap="square" lIns="25400" rIns="12700" tIns="12700" bIns="12700"/>
          <a:lstStyle/>
          <a:p>
            <a:pPr algn="l"/>
            <a:r>
              <a:rPr sz="600" b="0" i="0">
                <a:solidFill>
                  <a:srgbClr val="000000"/>
                </a:solidFill>
                <a:latin typeface="Arial"/>
              </a:rPr>
              <a:t>{{ISSUE_DATE}}</a:t>
            </a:r>
          </a:p>
        </p:txBody>
      </p:sp>
      <p:sp>
        <p:nvSpPr>
          <p:cNvPr id="22" name="TextBox 21"/>
          <p:cNvSpPr txBox="1"/>
          <p:nvPr/>
        </p:nvSpPr>
        <p:spPr>
          <a:xfrm>
            <a:off x="17510760" y="9326880"/>
            <a:ext cx="365760" cy="164592"/>
          </a:xfrm>
          <a:prstGeom prst="rect">
            <a:avLst/>
          </a:prstGeom>
          <a:noFill/>
        </p:spPr>
        <p:txBody>
          <a:bodyPr wrap="square" lIns="25400" rIns="12700" tIns="12700" bIns="12700"/>
          <a:lstStyle/>
          <a:p>
            <a:pPr algn="l"/>
            <a:r>
              <a:rPr sz="600" b="0" i="0">
                <a:solidFill>
                  <a:srgbClr val="000000"/>
                </a:solidFill>
                <a:latin typeface="Arial"/>
              </a:rPr>
              <a:t>00</a:t>
            </a:r>
          </a:p>
        </p:txBody>
      </p:sp>
      <p:sp>
        <p:nvSpPr>
          <p:cNvPr id="23" name="TextBox 22"/>
          <p:cNvSpPr txBox="1"/>
          <p:nvPr/>
        </p:nvSpPr>
        <p:spPr>
          <a:xfrm>
            <a:off x="17922240" y="9326880"/>
            <a:ext cx="1828800" cy="164592"/>
          </a:xfrm>
          <a:prstGeom prst="rect">
            <a:avLst/>
          </a:prstGeom>
          <a:noFill/>
        </p:spPr>
        <p:txBody>
          <a:bodyPr wrap="square" lIns="25400" rIns="12700" tIns="12700" bIns="12700"/>
          <a:lstStyle/>
          <a:p>
            <a:pPr algn="l"/>
            <a:r>
              <a:rPr sz="600" b="0" i="0">
                <a:solidFill>
                  <a:srgbClr val="000000"/>
                </a:solidFill>
                <a:latin typeface="Arial"/>
              </a:rPr>
              <a:t>ISSUE FOR PERMIT</a:t>
            </a:r>
          </a:p>
        </p:txBody>
      </p:sp>
      <p:sp>
        <p:nvSpPr>
          <p:cNvPr id="24" name="TextBox 23"/>
          <p:cNvSpPr txBox="1"/>
          <p:nvPr/>
        </p:nvSpPr>
        <p:spPr>
          <a:xfrm>
            <a:off x="16852392" y="9528048"/>
            <a:ext cx="64008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25" name="TextBox 24"/>
          <p:cNvSpPr txBox="1"/>
          <p:nvPr/>
        </p:nvSpPr>
        <p:spPr>
          <a:xfrm>
            <a:off x="17510760" y="9528048"/>
            <a:ext cx="36576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26" name="TextBox 25"/>
          <p:cNvSpPr txBox="1"/>
          <p:nvPr/>
        </p:nvSpPr>
        <p:spPr>
          <a:xfrm>
            <a:off x="17922240" y="9528048"/>
            <a:ext cx="182880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27" name="TextBox 26"/>
          <p:cNvSpPr txBox="1"/>
          <p:nvPr/>
        </p:nvSpPr>
        <p:spPr>
          <a:xfrm>
            <a:off x="16852392" y="9729216"/>
            <a:ext cx="64008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28" name="TextBox 27"/>
          <p:cNvSpPr txBox="1"/>
          <p:nvPr/>
        </p:nvSpPr>
        <p:spPr>
          <a:xfrm>
            <a:off x="17510760" y="9729216"/>
            <a:ext cx="36576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29" name="TextBox 28"/>
          <p:cNvSpPr txBox="1"/>
          <p:nvPr/>
        </p:nvSpPr>
        <p:spPr>
          <a:xfrm>
            <a:off x="17922240" y="9729216"/>
            <a:ext cx="182880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30" name="TextBox 29"/>
          <p:cNvSpPr txBox="1"/>
          <p:nvPr/>
        </p:nvSpPr>
        <p:spPr>
          <a:xfrm>
            <a:off x="16852392" y="9930384"/>
            <a:ext cx="64008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31" name="TextBox 30"/>
          <p:cNvSpPr txBox="1"/>
          <p:nvPr/>
        </p:nvSpPr>
        <p:spPr>
          <a:xfrm>
            <a:off x="17510760" y="9930384"/>
            <a:ext cx="36576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32" name="TextBox 31"/>
          <p:cNvSpPr txBox="1"/>
          <p:nvPr/>
        </p:nvSpPr>
        <p:spPr>
          <a:xfrm>
            <a:off x="17922240" y="9930384"/>
            <a:ext cx="182880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33" name="Rectangle 32"/>
          <p:cNvSpPr/>
          <p:nvPr/>
        </p:nvSpPr>
        <p:spPr>
          <a:xfrm>
            <a:off x="16824960" y="10195560"/>
            <a:ext cx="3108960" cy="73152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6824960" y="10213848"/>
            <a:ext cx="3108960" cy="457200"/>
          </a:xfrm>
          <a:prstGeom prst="rect">
            <a:avLst/>
          </a:prstGeom>
          <a:noFill/>
        </p:spPr>
        <p:txBody>
          <a:bodyPr wrap="square" lIns="25400" rIns="12700" tIns="12700" bIns="12700"/>
          <a:lstStyle/>
          <a:p>
            <a:pPr algn="ctr"/>
            <a:r>
              <a:rPr sz="2800" b="1" i="0">
                <a:solidFill>
                  <a:srgbClr val="0B1E35"/>
                </a:solidFill>
                <a:latin typeface="Arial"/>
              </a:rPr>
              <a:t>E1.0</a:t>
            </a:r>
          </a:p>
        </p:txBody>
      </p:sp>
      <p:sp>
        <p:nvSpPr>
          <p:cNvPr id="35" name="TextBox 34"/>
          <p:cNvSpPr txBox="1"/>
          <p:nvPr/>
        </p:nvSpPr>
        <p:spPr>
          <a:xfrm>
            <a:off x="16824960" y="10671048"/>
            <a:ext cx="3108960" cy="237744"/>
          </a:xfrm>
          <a:prstGeom prst="rect">
            <a:avLst/>
          </a:prstGeom>
          <a:noFill/>
        </p:spPr>
        <p:txBody>
          <a:bodyPr wrap="square" lIns="25400" rIns="12700" tIns="12700" bIns="12700"/>
          <a:lstStyle/>
          <a:p>
            <a:pPr algn="ctr"/>
            <a:r>
              <a:rPr sz="800" b="1" i="0">
                <a:solidFill>
                  <a:srgbClr val="000000"/>
                </a:solidFill>
                <a:latin typeface="Arial"/>
              </a:rPr>
              <a:t>PLOT PLAN</a:t>
            </a:r>
          </a:p>
        </p:txBody>
      </p:sp>
      <p:sp>
        <p:nvSpPr>
          <p:cNvPr id="36" name="Rectangle 35"/>
          <p:cNvSpPr/>
          <p:nvPr/>
        </p:nvSpPr>
        <p:spPr>
          <a:xfrm>
            <a:off x="16824960" y="10927080"/>
            <a:ext cx="3108960" cy="2487168"/>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6870680" y="10963656"/>
            <a:ext cx="3017520" cy="2395728"/>
          </a:xfrm>
          <a:prstGeom prst="rect">
            <a:avLst/>
          </a:prstGeom>
          <a:noFill/>
        </p:spPr>
        <p:txBody>
          <a:bodyPr wrap="square" lIns="25400" rIns="12700" tIns="12700" bIns="12700"/>
          <a:lstStyle/>
          <a:p>
            <a:pPr algn="l"/>
            <a:r>
              <a:rPr sz="650" b="0">
                <a:solidFill>
                  <a:srgbClr val="000000"/>
                </a:solidFill>
                <a:latin typeface="Arial"/>
              </a:rPr>
              <a:t>ISSUE DATE</a:t>
            </a:r>
          </a:p>
          <a:p>
            <a:pPr algn="l"/>
            <a:r>
              <a:rPr sz="650" b="0">
                <a:solidFill>
                  <a:srgbClr val="000000"/>
                </a:solidFill>
                <a:latin typeface="Arial"/>
              </a:rPr>
              <a:t>{{ISSUE_DATE}}</a:t>
            </a:r>
          </a:p>
          <a:p>
            <a:pPr algn="l"/>
            <a:r>
              <a:rPr sz="650" b="0">
                <a:solidFill>
                  <a:srgbClr val="000000"/>
                </a:solidFill>
                <a:latin typeface="Arial"/>
              </a:rPr>
              <a:t>REVISION DATE</a:t>
            </a:r>
          </a:p>
          <a:p>
            <a:pPr algn="l"/>
            <a:r>
              <a:rPr sz="650" b="0">
                <a:solidFill>
                  <a:srgbClr val="000000"/>
                </a:solidFill>
                <a:latin typeface="Arial"/>
              </a:rPr>
              <a:t>{{ISSUE_DATE}}</a:t>
            </a:r>
          </a:p>
          <a:p>
            <a:pPr algn="l"/>
            <a:r>
              <a:rPr sz="650" b="0">
                <a:solidFill>
                  <a:srgbClr val="000000"/>
                </a:solidFill>
                <a:latin typeface="Arial"/>
              </a:rPr>
              <a:t>DESIGNED BY</a:t>
            </a:r>
          </a:p>
          <a:p>
            <a:pPr algn="l"/>
            <a:r>
              <a:rPr sz="650" b="0">
                <a:solidFill>
                  <a:srgbClr val="000000"/>
                </a:solidFill>
                <a:latin typeface="Arial"/>
              </a:rPr>
              <a:t>{{DESIGNED_BY}}</a:t>
            </a:r>
          </a:p>
          <a:p>
            <a:pPr algn="l"/>
            <a:r>
              <a:rPr sz="650" b="0">
                <a:solidFill>
                  <a:srgbClr val="000000"/>
                </a:solidFill>
                <a:latin typeface="Arial"/>
              </a:rPr>
              <a:t>CHECKED BY</a:t>
            </a:r>
          </a:p>
          <a:p>
            <a:pPr algn="l"/>
            <a:r>
              <a:rPr sz="650" b="0">
                <a:solidFill>
                  <a:srgbClr val="000000"/>
                </a:solidFill>
                <a:latin typeface="Arial"/>
              </a:rPr>
              <a:t>{{CHECKED_BY}}</a:t>
            </a:r>
          </a:p>
          <a:p>
            <a:pPr algn="l"/>
            <a:r>
              <a:rPr sz="650" b="0">
                <a:solidFill>
                  <a:srgbClr val="000000"/>
                </a:solidFill>
                <a:latin typeface="Arial"/>
              </a:rPr>
              <a:t>JOB NO.</a:t>
            </a:r>
          </a:p>
          <a:p>
            <a:pPr algn="l"/>
            <a:r>
              <a:rPr sz="650" b="0">
                <a:solidFill>
                  <a:srgbClr val="000000"/>
                </a:solidFill>
                <a:latin typeface="Arial"/>
              </a:rPr>
              <a:t>{{JOB_NO}}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00584" y="100584"/>
            <a:ext cx="16614647" cy="13213080"/>
          </a:xfrm>
          <a:prstGeom prst="rect">
            <a:avLst/>
          </a:prstGeom>
          <a:noFill/>
          <a:ln w="9525">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109728"/>
            <a:ext cx="16596359" cy="13194792"/>
          </a:xfrm>
          <a:prstGeom prst="rect">
            <a:avLst/>
          </a:prstGeom>
          <a:solidFill>
            <a:srgbClr val="E26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 y="6580124"/>
            <a:ext cx="16596359" cy="254000"/>
          </a:xfrm>
          <a:prstGeom prst="rect">
            <a:avLst/>
          </a:prstGeom>
          <a:noFill/>
        </p:spPr>
        <p:txBody>
          <a:bodyPr wrap="square" lIns="25400" rIns="12700" tIns="12700" bIns="12700"/>
          <a:lstStyle/>
          <a:p>
            <a:pPr algn="ctr"/>
            <a:r>
              <a:rPr sz="1400" b="0" i="0">
                <a:solidFill>
                  <a:srgbClr val="FFFFFF"/>
                </a:solidFill>
                <a:latin typeface="Arial"/>
              </a:rPr>
              <a:t>E1.1 ENLARGED PLOT PLAN IMAGE
(Auto-cropped BESS equipment area)</a:t>
            </a:r>
          </a:p>
        </p:txBody>
      </p:sp>
      <p:sp>
        <p:nvSpPr>
          <p:cNvPr id="5" name="TextBox 4"/>
          <p:cNvSpPr txBox="1"/>
          <p:nvPr/>
        </p:nvSpPr>
        <p:spPr>
          <a:xfrm>
            <a:off x="292608" y="12938760"/>
            <a:ext cx="3657600" cy="228600"/>
          </a:xfrm>
          <a:prstGeom prst="rect">
            <a:avLst/>
          </a:prstGeom>
          <a:noFill/>
        </p:spPr>
        <p:txBody>
          <a:bodyPr wrap="square" lIns="25400" rIns="12700" tIns="12700" bIns="12700"/>
          <a:lstStyle/>
          <a:p>
            <a:pPr algn="l"/>
            <a:r>
              <a:rPr sz="700" b="0" i="0">
                <a:solidFill>
                  <a:srgbClr val="000000"/>
                </a:solidFill>
                <a:latin typeface="Arial"/>
              </a:rPr>
              <a:t>1 — ENLARGED PLOT PLAN · SCALE: 1" = {{ENL_SCALE}}'</a:t>
            </a:r>
          </a:p>
        </p:txBody>
      </p:sp>
      <p:sp>
        <p:nvSpPr>
          <p:cNvPr id="6" name="Rectangle 5"/>
          <p:cNvSpPr/>
          <p:nvPr/>
        </p:nvSpPr>
        <p:spPr>
          <a:xfrm>
            <a:off x="16806672" y="0"/>
            <a:ext cx="3127248" cy="13414248"/>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824960" y="0"/>
            <a:ext cx="3108960" cy="82296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870680" y="45720"/>
            <a:ext cx="3017520" cy="731520"/>
          </a:xfrm>
          <a:prstGeom prst="rect">
            <a:avLst/>
          </a:prstGeom>
          <a:noFill/>
        </p:spPr>
        <p:txBody>
          <a:bodyPr wrap="square" lIns="25400" rIns="12700" tIns="12700" bIns="12700"/>
          <a:lstStyle/>
          <a:p>
            <a:pPr algn="ctr"/>
            <a:r>
              <a:rPr sz="2000" b="1" i="0">
                <a:solidFill>
                  <a:srgbClr val="0B1E35"/>
                </a:solidFill>
                <a:latin typeface="Arial"/>
              </a:rPr>
              <a:t>ClearSky</a:t>
            </a:r>
          </a:p>
        </p:txBody>
      </p:sp>
      <p:sp>
        <p:nvSpPr>
          <p:cNvPr id="9" name="TextBox 8"/>
          <p:cNvSpPr txBox="1"/>
          <p:nvPr/>
        </p:nvSpPr>
        <p:spPr>
          <a:xfrm>
            <a:off x="16870680" y="457200"/>
            <a:ext cx="3017520" cy="320040"/>
          </a:xfrm>
          <a:prstGeom prst="rect">
            <a:avLst/>
          </a:prstGeom>
          <a:noFill/>
        </p:spPr>
        <p:txBody>
          <a:bodyPr wrap="square" lIns="25400" rIns="12700" tIns="12700" bIns="12700"/>
          <a:lstStyle/>
          <a:p>
            <a:pPr algn="ctr"/>
            <a:r>
              <a:rPr sz="700" b="1" i="0">
                <a:solidFill>
                  <a:srgbClr val="C9A84C"/>
                </a:solidFill>
                <a:latin typeface="Arial"/>
              </a:rPr>
              <a:t>BUILDERS LLC</a:t>
            </a:r>
          </a:p>
        </p:txBody>
      </p:sp>
      <p:sp>
        <p:nvSpPr>
          <p:cNvPr id="10" name="Rectangle 9"/>
          <p:cNvSpPr/>
          <p:nvPr/>
        </p:nvSpPr>
        <p:spPr>
          <a:xfrm>
            <a:off x="16824960" y="822960"/>
            <a:ext cx="3108960" cy="6858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6870680" y="859536"/>
            <a:ext cx="3017520" cy="612648"/>
          </a:xfrm>
          <a:prstGeom prst="rect">
            <a:avLst/>
          </a:prstGeom>
          <a:noFill/>
        </p:spPr>
        <p:txBody>
          <a:bodyPr wrap="square" lIns="25400" rIns="12700" tIns="12700" bIns="12700"/>
          <a:lstStyle/>
          <a:p>
            <a:pPr algn="l"/>
            <a:r>
              <a:rPr sz="650" b="0">
                <a:solidFill>
                  <a:srgbClr val="000000"/>
                </a:solidFill>
                <a:latin typeface="Arial"/>
              </a:rPr>
              <a:t>PO BOX {{GC_PO_BOX}}</a:t>
            </a:r>
          </a:p>
          <a:p>
            <a:pPr algn="l"/>
            <a:r>
              <a:rPr sz="650" b="0">
                <a:solidFill>
                  <a:srgbClr val="000000"/>
                </a:solidFill>
                <a:latin typeface="Arial"/>
              </a:rPr>
              <a:t>{{GC_CITY}}, {{GC_STATE}} {{GC_ZIP}}</a:t>
            </a:r>
          </a:p>
          <a:p>
            <a:pPr algn="l"/>
            <a:r>
              <a:rPr sz="650" b="0">
                <a:solidFill>
                  <a:srgbClr val="000000"/>
                </a:solidFill>
                <a:latin typeface="Arial"/>
              </a:rPr>
              <a:t>PH: {{GC_PHONE}}</a:t>
            </a:r>
          </a:p>
        </p:txBody>
      </p:sp>
      <p:sp>
        <p:nvSpPr>
          <p:cNvPr id="12" name="Rectangle 11"/>
          <p:cNvSpPr/>
          <p:nvPr/>
        </p:nvSpPr>
        <p:spPr>
          <a:xfrm>
            <a:off x="16824960" y="1508760"/>
            <a:ext cx="3108960" cy="5943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rot="-5400000">
            <a:off x="16916400" y="1600200"/>
            <a:ext cx="2926080" cy="5760720"/>
          </a:xfrm>
          <a:prstGeom prst="rect">
            <a:avLst/>
          </a:prstGeom>
          <a:noFill/>
        </p:spPr>
        <p:txBody>
          <a:bodyPr wrap="none">
            <a:spAutoFit/>
          </a:bodyPr>
          <a:lstStyle/>
          <a:p>
            <a:r>
              <a:rPr sz="800" b="1">
                <a:solidFill>
                  <a:srgbClr val="0B1E35"/>
                </a:solidFill>
                <a:latin typeface="Arial"/>
              </a:rPr>
              <a:t>PN - {{PROJECT_NAME}}</a:t>
            </a:r>
          </a:p>
          <a:p>
            <a:r>
              <a:rPr sz="700" b="0">
                <a:solidFill>
                  <a:srgbClr val="000000"/>
                </a:solidFill>
                <a:latin typeface="Arial"/>
              </a:rPr>
              <a:t>{{SITE_ADDR}}</a:t>
            </a:r>
          </a:p>
          <a:p>
            <a:r>
              <a:rPr sz="700" b="0">
                <a:solidFill>
                  <a:srgbClr val="000000"/>
                </a:solidFill>
                <a:latin typeface="Arial"/>
              </a:rPr>
              <a:t>{{CITY_SHORT}}, {{STATE}} {{ZIP}}</a:t>
            </a:r>
          </a:p>
          <a:p>
            <a:r>
              <a:rPr sz="700" b="0">
                <a:solidFill>
                  <a:srgbClr val="000000"/>
                </a:solidFill>
                <a:latin typeface="Arial"/>
              </a:rPr>
              <a:t>APN: {{APN}}</a:t>
            </a:r>
          </a:p>
        </p:txBody>
      </p:sp>
      <p:sp>
        <p:nvSpPr>
          <p:cNvPr id="14" name="Rectangle 13"/>
          <p:cNvSpPr/>
          <p:nvPr/>
        </p:nvSpPr>
        <p:spPr>
          <a:xfrm>
            <a:off x="16824960" y="7452360"/>
            <a:ext cx="3108960" cy="1645920"/>
          </a:xfrm>
          <a:prstGeom prst="rect">
            <a:avLst/>
          </a:prstGeom>
          <a:solidFill>
            <a:srgbClr val="FFF3A8"/>
          </a:solidFill>
          <a:ln w="1270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6870680" y="7498080"/>
            <a:ext cx="3017520" cy="1554480"/>
          </a:xfrm>
          <a:prstGeom prst="rect">
            <a:avLst/>
          </a:prstGeom>
          <a:solidFill>
            <a:srgbClr val="FFF3A8"/>
          </a:solidFill>
        </p:spPr>
        <p:txBody>
          <a:bodyPr wrap="square" lIns="25400" rIns="12700" tIns="12700" bIns="12700"/>
          <a:lstStyle/>
          <a:p>
            <a:pPr algn="l"/>
            <a:r>
              <a:rPr sz="650" b="0">
                <a:solidFill>
                  <a:srgbClr val="CC0000"/>
                </a:solidFill>
                <a:latin typeface="Arial"/>
              </a:rPr>
              <a:t>{{PERMIT_NO}}</a:t>
            </a:r>
          </a:p>
          <a:p>
            <a:pPr algn="l"/>
            <a:r>
              <a:rPr sz="650" b="0">
                <a:solidFill>
                  <a:srgbClr val="CC0000"/>
                </a:solidFill>
                <a:latin typeface="Arial"/>
              </a:rPr>
              <a:t>REVIEWED FOR COMPLIANCE</a:t>
            </a:r>
          </a:p>
          <a:p>
            <a:pPr algn="l"/>
            <a:r>
              <a:rPr sz="650" b="0">
                <a:solidFill>
                  <a:srgbClr val="CC0000"/>
                </a:solidFill>
                <a:latin typeface="Arial"/>
              </a:rPr>
              <a:t>{{AHJ_CITY}}</a:t>
            </a:r>
          </a:p>
          <a:p>
            <a:pPr algn="l"/>
            <a:r>
              <a:rPr sz="650" b="0">
                <a:solidFill>
                  <a:srgbClr val="CC0000"/>
                </a:solidFill>
                <a:latin typeface="Arial"/>
              </a:rPr>
              <a:t>{{AHJ_DEPT}}</a:t>
            </a:r>
          </a:p>
          <a:p>
            <a:pPr algn="l"/>
            <a:r>
              <a:rPr sz="650" b="0">
                <a:solidFill>
                  <a:srgbClr val="CC0000"/>
                </a:solidFill>
                <a:latin typeface="Arial"/>
              </a:rPr>
              <a:t>For {{PROJECT_NAME}} Subject to Code Compliance.</a:t>
            </a:r>
          </a:p>
          <a:p>
            <a:pPr algn="l"/>
            <a:r>
              <a:rPr sz="650" b="0">
                <a:solidFill>
                  <a:srgbClr val="CC0000"/>
                </a:solidFill>
                <a:latin typeface="Arial"/>
              </a:rPr>
              <a:t>REVISIONS NEED REVIEW</a:t>
            </a:r>
          </a:p>
        </p:txBody>
      </p:sp>
      <p:sp>
        <p:nvSpPr>
          <p:cNvPr id="16" name="Rectangle 15"/>
          <p:cNvSpPr/>
          <p:nvPr/>
        </p:nvSpPr>
        <p:spPr>
          <a:xfrm>
            <a:off x="16824960" y="9098280"/>
            <a:ext cx="3108960" cy="109728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6824960" y="9098280"/>
            <a:ext cx="3108960" cy="201168"/>
          </a:xfrm>
          <a:prstGeom prst="rect">
            <a:avLst/>
          </a:prstGeom>
          <a:solidFill>
            <a:srgbClr val="E8E8E8"/>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852392" y="9125712"/>
            <a:ext cx="640080" cy="164592"/>
          </a:xfrm>
          <a:prstGeom prst="rect">
            <a:avLst/>
          </a:prstGeom>
          <a:noFill/>
        </p:spPr>
        <p:txBody>
          <a:bodyPr wrap="square" lIns="25400" rIns="12700" tIns="12700" bIns="12700"/>
          <a:lstStyle/>
          <a:p>
            <a:pPr algn="l"/>
            <a:r>
              <a:rPr sz="600" b="1" i="0">
                <a:solidFill>
                  <a:srgbClr val="000000"/>
                </a:solidFill>
                <a:latin typeface="Arial"/>
              </a:rPr>
              <a:t>DATE</a:t>
            </a:r>
          </a:p>
        </p:txBody>
      </p:sp>
      <p:sp>
        <p:nvSpPr>
          <p:cNvPr id="19" name="TextBox 18"/>
          <p:cNvSpPr txBox="1"/>
          <p:nvPr/>
        </p:nvSpPr>
        <p:spPr>
          <a:xfrm>
            <a:off x="17510760" y="9125712"/>
            <a:ext cx="365760" cy="164592"/>
          </a:xfrm>
          <a:prstGeom prst="rect">
            <a:avLst/>
          </a:prstGeom>
          <a:noFill/>
        </p:spPr>
        <p:txBody>
          <a:bodyPr wrap="square" lIns="25400" rIns="12700" tIns="12700" bIns="12700"/>
          <a:lstStyle/>
          <a:p>
            <a:pPr algn="l"/>
            <a:r>
              <a:rPr sz="600" b="1" i="0">
                <a:solidFill>
                  <a:srgbClr val="000000"/>
                </a:solidFill>
                <a:latin typeface="Arial"/>
              </a:rPr>
              <a:t>REV</a:t>
            </a:r>
          </a:p>
        </p:txBody>
      </p:sp>
      <p:sp>
        <p:nvSpPr>
          <p:cNvPr id="20" name="TextBox 19"/>
          <p:cNvSpPr txBox="1"/>
          <p:nvPr/>
        </p:nvSpPr>
        <p:spPr>
          <a:xfrm>
            <a:off x="17922240" y="9125712"/>
            <a:ext cx="1828800" cy="164592"/>
          </a:xfrm>
          <a:prstGeom prst="rect">
            <a:avLst/>
          </a:prstGeom>
          <a:noFill/>
        </p:spPr>
        <p:txBody>
          <a:bodyPr wrap="square" lIns="25400" rIns="12700" tIns="12700" bIns="12700"/>
          <a:lstStyle/>
          <a:p>
            <a:pPr algn="l"/>
            <a:r>
              <a:rPr sz="600" b="1" i="0">
                <a:solidFill>
                  <a:srgbClr val="000000"/>
                </a:solidFill>
                <a:latin typeface="Arial"/>
              </a:rPr>
              <a:t>COMMENTS</a:t>
            </a:r>
          </a:p>
        </p:txBody>
      </p:sp>
      <p:sp>
        <p:nvSpPr>
          <p:cNvPr id="21" name="TextBox 20"/>
          <p:cNvSpPr txBox="1"/>
          <p:nvPr/>
        </p:nvSpPr>
        <p:spPr>
          <a:xfrm>
            <a:off x="16852392" y="9326880"/>
            <a:ext cx="640080" cy="164592"/>
          </a:xfrm>
          <a:prstGeom prst="rect">
            <a:avLst/>
          </a:prstGeom>
          <a:noFill/>
        </p:spPr>
        <p:txBody>
          <a:bodyPr wrap="square" lIns="25400" rIns="12700" tIns="12700" bIns="12700"/>
          <a:lstStyle/>
          <a:p>
            <a:pPr algn="l"/>
            <a:r>
              <a:rPr sz="600" b="0" i="0">
                <a:solidFill>
                  <a:srgbClr val="000000"/>
                </a:solidFill>
                <a:latin typeface="Arial"/>
              </a:rPr>
              <a:t>{{ISSUE_DATE}}</a:t>
            </a:r>
          </a:p>
        </p:txBody>
      </p:sp>
      <p:sp>
        <p:nvSpPr>
          <p:cNvPr id="22" name="TextBox 21"/>
          <p:cNvSpPr txBox="1"/>
          <p:nvPr/>
        </p:nvSpPr>
        <p:spPr>
          <a:xfrm>
            <a:off x="17510760" y="9326880"/>
            <a:ext cx="365760" cy="164592"/>
          </a:xfrm>
          <a:prstGeom prst="rect">
            <a:avLst/>
          </a:prstGeom>
          <a:noFill/>
        </p:spPr>
        <p:txBody>
          <a:bodyPr wrap="square" lIns="25400" rIns="12700" tIns="12700" bIns="12700"/>
          <a:lstStyle/>
          <a:p>
            <a:pPr algn="l"/>
            <a:r>
              <a:rPr sz="600" b="0" i="0">
                <a:solidFill>
                  <a:srgbClr val="000000"/>
                </a:solidFill>
                <a:latin typeface="Arial"/>
              </a:rPr>
              <a:t>00</a:t>
            </a:r>
          </a:p>
        </p:txBody>
      </p:sp>
      <p:sp>
        <p:nvSpPr>
          <p:cNvPr id="23" name="TextBox 22"/>
          <p:cNvSpPr txBox="1"/>
          <p:nvPr/>
        </p:nvSpPr>
        <p:spPr>
          <a:xfrm>
            <a:off x="17922240" y="9326880"/>
            <a:ext cx="1828800" cy="164592"/>
          </a:xfrm>
          <a:prstGeom prst="rect">
            <a:avLst/>
          </a:prstGeom>
          <a:noFill/>
        </p:spPr>
        <p:txBody>
          <a:bodyPr wrap="square" lIns="25400" rIns="12700" tIns="12700" bIns="12700"/>
          <a:lstStyle/>
          <a:p>
            <a:pPr algn="l"/>
            <a:r>
              <a:rPr sz="600" b="0" i="0">
                <a:solidFill>
                  <a:srgbClr val="000000"/>
                </a:solidFill>
                <a:latin typeface="Arial"/>
              </a:rPr>
              <a:t>ISSUE FOR PERMIT</a:t>
            </a:r>
          </a:p>
        </p:txBody>
      </p:sp>
      <p:sp>
        <p:nvSpPr>
          <p:cNvPr id="24" name="TextBox 23"/>
          <p:cNvSpPr txBox="1"/>
          <p:nvPr/>
        </p:nvSpPr>
        <p:spPr>
          <a:xfrm>
            <a:off x="16852392" y="9528048"/>
            <a:ext cx="64008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25" name="TextBox 24"/>
          <p:cNvSpPr txBox="1"/>
          <p:nvPr/>
        </p:nvSpPr>
        <p:spPr>
          <a:xfrm>
            <a:off x="17510760" y="9528048"/>
            <a:ext cx="36576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26" name="TextBox 25"/>
          <p:cNvSpPr txBox="1"/>
          <p:nvPr/>
        </p:nvSpPr>
        <p:spPr>
          <a:xfrm>
            <a:off x="17922240" y="9528048"/>
            <a:ext cx="182880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27" name="TextBox 26"/>
          <p:cNvSpPr txBox="1"/>
          <p:nvPr/>
        </p:nvSpPr>
        <p:spPr>
          <a:xfrm>
            <a:off x="16852392" y="9729216"/>
            <a:ext cx="64008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28" name="TextBox 27"/>
          <p:cNvSpPr txBox="1"/>
          <p:nvPr/>
        </p:nvSpPr>
        <p:spPr>
          <a:xfrm>
            <a:off x="17510760" y="9729216"/>
            <a:ext cx="36576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29" name="TextBox 28"/>
          <p:cNvSpPr txBox="1"/>
          <p:nvPr/>
        </p:nvSpPr>
        <p:spPr>
          <a:xfrm>
            <a:off x="17922240" y="9729216"/>
            <a:ext cx="182880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30" name="TextBox 29"/>
          <p:cNvSpPr txBox="1"/>
          <p:nvPr/>
        </p:nvSpPr>
        <p:spPr>
          <a:xfrm>
            <a:off x="16852392" y="9930384"/>
            <a:ext cx="64008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31" name="TextBox 30"/>
          <p:cNvSpPr txBox="1"/>
          <p:nvPr/>
        </p:nvSpPr>
        <p:spPr>
          <a:xfrm>
            <a:off x="17510760" y="9930384"/>
            <a:ext cx="36576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32" name="TextBox 31"/>
          <p:cNvSpPr txBox="1"/>
          <p:nvPr/>
        </p:nvSpPr>
        <p:spPr>
          <a:xfrm>
            <a:off x="17922240" y="9930384"/>
            <a:ext cx="182880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33" name="Rectangle 32"/>
          <p:cNvSpPr/>
          <p:nvPr/>
        </p:nvSpPr>
        <p:spPr>
          <a:xfrm>
            <a:off x="16824960" y="10195560"/>
            <a:ext cx="3108960" cy="73152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6824960" y="10213848"/>
            <a:ext cx="3108960" cy="457200"/>
          </a:xfrm>
          <a:prstGeom prst="rect">
            <a:avLst/>
          </a:prstGeom>
          <a:noFill/>
        </p:spPr>
        <p:txBody>
          <a:bodyPr wrap="square" lIns="25400" rIns="12700" tIns="12700" bIns="12700"/>
          <a:lstStyle/>
          <a:p>
            <a:pPr algn="ctr"/>
            <a:r>
              <a:rPr sz="2800" b="1" i="0">
                <a:solidFill>
                  <a:srgbClr val="0B1E35"/>
                </a:solidFill>
                <a:latin typeface="Arial"/>
              </a:rPr>
              <a:t>E1.1</a:t>
            </a:r>
          </a:p>
        </p:txBody>
      </p:sp>
      <p:sp>
        <p:nvSpPr>
          <p:cNvPr id="35" name="TextBox 34"/>
          <p:cNvSpPr txBox="1"/>
          <p:nvPr/>
        </p:nvSpPr>
        <p:spPr>
          <a:xfrm>
            <a:off x="16824960" y="10671048"/>
            <a:ext cx="3108960" cy="237744"/>
          </a:xfrm>
          <a:prstGeom prst="rect">
            <a:avLst/>
          </a:prstGeom>
          <a:noFill/>
        </p:spPr>
        <p:txBody>
          <a:bodyPr wrap="square" lIns="25400" rIns="12700" tIns="12700" bIns="12700"/>
          <a:lstStyle/>
          <a:p>
            <a:pPr algn="ctr"/>
            <a:r>
              <a:rPr sz="800" b="1" i="0">
                <a:solidFill>
                  <a:srgbClr val="000000"/>
                </a:solidFill>
                <a:latin typeface="Arial"/>
              </a:rPr>
              <a:t>ENLARGED PLOT PLAN</a:t>
            </a:r>
          </a:p>
        </p:txBody>
      </p:sp>
      <p:sp>
        <p:nvSpPr>
          <p:cNvPr id="36" name="Rectangle 35"/>
          <p:cNvSpPr/>
          <p:nvPr/>
        </p:nvSpPr>
        <p:spPr>
          <a:xfrm>
            <a:off x="16824960" y="10927080"/>
            <a:ext cx="3108960" cy="2487168"/>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6870680" y="10963656"/>
            <a:ext cx="3017520" cy="2395728"/>
          </a:xfrm>
          <a:prstGeom prst="rect">
            <a:avLst/>
          </a:prstGeom>
          <a:noFill/>
        </p:spPr>
        <p:txBody>
          <a:bodyPr wrap="square" lIns="25400" rIns="12700" tIns="12700" bIns="12700"/>
          <a:lstStyle/>
          <a:p>
            <a:pPr algn="l"/>
            <a:r>
              <a:rPr sz="650" b="0">
                <a:solidFill>
                  <a:srgbClr val="000000"/>
                </a:solidFill>
                <a:latin typeface="Arial"/>
              </a:rPr>
              <a:t>ISSUE DATE</a:t>
            </a:r>
          </a:p>
          <a:p>
            <a:pPr algn="l"/>
            <a:r>
              <a:rPr sz="650" b="0">
                <a:solidFill>
                  <a:srgbClr val="000000"/>
                </a:solidFill>
                <a:latin typeface="Arial"/>
              </a:rPr>
              <a:t>{{ISSUE_DATE}}</a:t>
            </a:r>
          </a:p>
          <a:p>
            <a:pPr algn="l"/>
            <a:r>
              <a:rPr sz="650" b="0">
                <a:solidFill>
                  <a:srgbClr val="000000"/>
                </a:solidFill>
                <a:latin typeface="Arial"/>
              </a:rPr>
              <a:t>REVISION DATE</a:t>
            </a:r>
          </a:p>
          <a:p>
            <a:pPr algn="l"/>
            <a:r>
              <a:rPr sz="650" b="0">
                <a:solidFill>
                  <a:srgbClr val="000000"/>
                </a:solidFill>
                <a:latin typeface="Arial"/>
              </a:rPr>
              <a:t>{{ISSUE_DATE}}</a:t>
            </a:r>
          </a:p>
          <a:p>
            <a:pPr algn="l"/>
            <a:r>
              <a:rPr sz="650" b="0">
                <a:solidFill>
                  <a:srgbClr val="000000"/>
                </a:solidFill>
                <a:latin typeface="Arial"/>
              </a:rPr>
              <a:t>DESIGNED BY</a:t>
            </a:r>
          </a:p>
          <a:p>
            <a:pPr algn="l"/>
            <a:r>
              <a:rPr sz="650" b="0">
                <a:solidFill>
                  <a:srgbClr val="000000"/>
                </a:solidFill>
                <a:latin typeface="Arial"/>
              </a:rPr>
              <a:t>{{DESIGNED_BY}}</a:t>
            </a:r>
          </a:p>
          <a:p>
            <a:pPr algn="l"/>
            <a:r>
              <a:rPr sz="650" b="0">
                <a:solidFill>
                  <a:srgbClr val="000000"/>
                </a:solidFill>
                <a:latin typeface="Arial"/>
              </a:rPr>
              <a:t>CHECKED BY</a:t>
            </a:r>
          </a:p>
          <a:p>
            <a:pPr algn="l"/>
            <a:r>
              <a:rPr sz="650" b="0">
                <a:solidFill>
                  <a:srgbClr val="000000"/>
                </a:solidFill>
                <a:latin typeface="Arial"/>
              </a:rPr>
              <a:t>{{CHECKED_BY}}</a:t>
            </a:r>
          </a:p>
          <a:p>
            <a:pPr algn="l"/>
            <a:r>
              <a:rPr sz="650" b="0">
                <a:solidFill>
                  <a:srgbClr val="000000"/>
                </a:solidFill>
                <a:latin typeface="Arial"/>
              </a:rPr>
              <a:t>JOB NO.</a:t>
            </a:r>
          </a:p>
          <a:p>
            <a:pPr algn="l"/>
            <a:r>
              <a:rPr sz="650" b="0">
                <a:solidFill>
                  <a:srgbClr val="000000"/>
                </a:solidFill>
                <a:latin typeface="Arial"/>
              </a:rPr>
              <a:t>{{JOB_NO}}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00584" y="100584"/>
            <a:ext cx="16614647" cy="13213080"/>
          </a:xfrm>
          <a:prstGeom prst="rect">
            <a:avLst/>
          </a:prstGeom>
          <a:noFill/>
          <a:ln w="9525">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109728"/>
            <a:ext cx="3657600" cy="731520"/>
          </a:xfrm>
          <a:prstGeom prst="rect">
            <a:avLst/>
          </a:prstGeom>
          <a:solidFill>
            <a:srgbClr val="FFFFFF"/>
          </a:solidFill>
          <a:ln w="508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55448" y="109728"/>
            <a:ext cx="3657600" cy="201168"/>
          </a:xfrm>
          <a:prstGeom prst="rect">
            <a:avLst/>
          </a:prstGeom>
          <a:noFill/>
        </p:spPr>
        <p:txBody>
          <a:bodyPr wrap="square" lIns="25400" rIns="12700" tIns="12700" bIns="12700"/>
          <a:lstStyle/>
          <a:p>
            <a:pPr algn="l"/>
            <a:r>
              <a:rPr sz="700" b="1" i="0">
                <a:solidFill>
                  <a:srgbClr val="000000"/>
                </a:solidFill>
                <a:latin typeface="Arial"/>
              </a:rPr>
              <a:t>LEGEND</a:t>
            </a:r>
          </a:p>
        </p:txBody>
      </p:sp>
      <p:sp>
        <p:nvSpPr>
          <p:cNvPr id="5" name="TextBox 4"/>
          <p:cNvSpPr txBox="1"/>
          <p:nvPr/>
        </p:nvSpPr>
        <p:spPr>
          <a:xfrm>
            <a:off x="155448" y="310896"/>
            <a:ext cx="3566160" cy="502920"/>
          </a:xfrm>
          <a:prstGeom prst="rect">
            <a:avLst/>
          </a:prstGeom>
          <a:noFill/>
        </p:spPr>
        <p:txBody>
          <a:bodyPr wrap="square" lIns="25400" rIns="12700" tIns="12700" bIns="12700"/>
          <a:lstStyle/>
          <a:p>
            <a:pPr algn="l"/>
            <a:r>
              <a:rPr sz="650" b="0">
                <a:solidFill>
                  <a:srgbClr val="000000"/>
                </a:solidFill>
                <a:latin typeface="Arial"/>
              </a:rPr>
              <a:t>🟠  TREE TO BE REMOVED  .............. {{BAT_QTY}}</a:t>
            </a:r>
          </a:p>
          <a:p>
            <a:pPr algn="l"/>
            <a:r>
              <a:rPr sz="650" b="0">
                <a:solidFill>
                  <a:srgbClr val="000000"/>
                </a:solidFill>
                <a:latin typeface="Arial"/>
              </a:rPr>
              <a:t>⭕  TREE TO BE PROTECTED  ............. {{BAT_QTY}}</a:t>
            </a:r>
          </a:p>
        </p:txBody>
      </p:sp>
      <p:sp>
        <p:nvSpPr>
          <p:cNvPr id="6" name="Rectangle 5"/>
          <p:cNvSpPr/>
          <p:nvPr/>
        </p:nvSpPr>
        <p:spPr>
          <a:xfrm>
            <a:off x="109728" y="886968"/>
            <a:ext cx="16596359" cy="12188952"/>
          </a:xfrm>
          <a:prstGeom prst="rect">
            <a:avLst/>
          </a:prstGeom>
          <a:solidFill>
            <a:srgbClr val="E26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 y="6854444"/>
            <a:ext cx="16596359" cy="254000"/>
          </a:xfrm>
          <a:prstGeom prst="rect">
            <a:avLst/>
          </a:prstGeom>
          <a:noFill/>
        </p:spPr>
        <p:txBody>
          <a:bodyPr wrap="square" lIns="25400" rIns="12700" tIns="12700" bIns="12700"/>
          <a:lstStyle/>
          <a:p>
            <a:pPr algn="ctr"/>
            <a:r>
              <a:rPr sz="1400" b="0" i="0">
                <a:solidFill>
                  <a:srgbClr val="FFFFFF"/>
                </a:solidFill>
                <a:latin typeface="Arial"/>
              </a:rPr>
              <a:t>E1.2 DEMOLITION PLAN IMAGE
(Upload or auto-generated)</a:t>
            </a:r>
          </a:p>
        </p:txBody>
      </p:sp>
      <p:sp>
        <p:nvSpPr>
          <p:cNvPr id="8" name="TextBox 7"/>
          <p:cNvSpPr txBox="1"/>
          <p:nvPr/>
        </p:nvSpPr>
        <p:spPr>
          <a:xfrm>
            <a:off x="292608" y="12938760"/>
            <a:ext cx="3657600" cy="228600"/>
          </a:xfrm>
          <a:prstGeom prst="rect">
            <a:avLst/>
          </a:prstGeom>
          <a:noFill/>
        </p:spPr>
        <p:txBody>
          <a:bodyPr wrap="square" lIns="25400" rIns="12700" tIns="12700" bIns="12700"/>
          <a:lstStyle/>
          <a:p>
            <a:pPr algn="l"/>
            <a:r>
              <a:rPr sz="700" b="0" i="0">
                <a:solidFill>
                  <a:srgbClr val="000000"/>
                </a:solidFill>
                <a:latin typeface="Arial"/>
              </a:rPr>
              <a:t>1 — DEMOLITION PLAN · SCALE: 1" = {{PLOT_SCALE}}'</a:t>
            </a:r>
          </a:p>
        </p:txBody>
      </p:sp>
      <p:sp>
        <p:nvSpPr>
          <p:cNvPr id="9" name="Rectangle 8"/>
          <p:cNvSpPr/>
          <p:nvPr/>
        </p:nvSpPr>
        <p:spPr>
          <a:xfrm>
            <a:off x="16806672" y="0"/>
            <a:ext cx="3127248" cy="13414248"/>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824960" y="0"/>
            <a:ext cx="3108960" cy="82296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6870680" y="45720"/>
            <a:ext cx="3017520" cy="731520"/>
          </a:xfrm>
          <a:prstGeom prst="rect">
            <a:avLst/>
          </a:prstGeom>
          <a:noFill/>
        </p:spPr>
        <p:txBody>
          <a:bodyPr wrap="square" lIns="25400" rIns="12700" tIns="12700" bIns="12700"/>
          <a:lstStyle/>
          <a:p>
            <a:pPr algn="ctr"/>
            <a:r>
              <a:rPr sz="2000" b="1" i="0">
                <a:solidFill>
                  <a:srgbClr val="0B1E35"/>
                </a:solidFill>
                <a:latin typeface="Arial"/>
              </a:rPr>
              <a:t>ClearSky</a:t>
            </a:r>
          </a:p>
        </p:txBody>
      </p:sp>
      <p:sp>
        <p:nvSpPr>
          <p:cNvPr id="12" name="TextBox 11"/>
          <p:cNvSpPr txBox="1"/>
          <p:nvPr/>
        </p:nvSpPr>
        <p:spPr>
          <a:xfrm>
            <a:off x="16870680" y="457200"/>
            <a:ext cx="3017520" cy="320040"/>
          </a:xfrm>
          <a:prstGeom prst="rect">
            <a:avLst/>
          </a:prstGeom>
          <a:noFill/>
        </p:spPr>
        <p:txBody>
          <a:bodyPr wrap="square" lIns="25400" rIns="12700" tIns="12700" bIns="12700"/>
          <a:lstStyle/>
          <a:p>
            <a:pPr algn="ctr"/>
            <a:r>
              <a:rPr sz="700" b="1" i="0">
                <a:solidFill>
                  <a:srgbClr val="C9A84C"/>
                </a:solidFill>
                <a:latin typeface="Arial"/>
              </a:rPr>
              <a:t>BUILDERS LLC</a:t>
            </a:r>
          </a:p>
        </p:txBody>
      </p:sp>
      <p:sp>
        <p:nvSpPr>
          <p:cNvPr id="13" name="Rectangle 12"/>
          <p:cNvSpPr/>
          <p:nvPr/>
        </p:nvSpPr>
        <p:spPr>
          <a:xfrm>
            <a:off x="16824960" y="822960"/>
            <a:ext cx="3108960" cy="6858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6870680" y="859536"/>
            <a:ext cx="3017520" cy="612648"/>
          </a:xfrm>
          <a:prstGeom prst="rect">
            <a:avLst/>
          </a:prstGeom>
          <a:noFill/>
        </p:spPr>
        <p:txBody>
          <a:bodyPr wrap="square" lIns="25400" rIns="12700" tIns="12700" bIns="12700"/>
          <a:lstStyle/>
          <a:p>
            <a:pPr algn="l"/>
            <a:r>
              <a:rPr sz="650" b="0">
                <a:solidFill>
                  <a:srgbClr val="000000"/>
                </a:solidFill>
                <a:latin typeface="Arial"/>
              </a:rPr>
              <a:t>PO BOX {{GC_PO_BOX}}</a:t>
            </a:r>
          </a:p>
          <a:p>
            <a:pPr algn="l"/>
            <a:r>
              <a:rPr sz="650" b="0">
                <a:solidFill>
                  <a:srgbClr val="000000"/>
                </a:solidFill>
                <a:latin typeface="Arial"/>
              </a:rPr>
              <a:t>{{GC_CITY}}, {{GC_STATE}} {{GC_ZIP}}</a:t>
            </a:r>
          </a:p>
          <a:p>
            <a:pPr algn="l"/>
            <a:r>
              <a:rPr sz="650" b="0">
                <a:solidFill>
                  <a:srgbClr val="000000"/>
                </a:solidFill>
                <a:latin typeface="Arial"/>
              </a:rPr>
              <a:t>PH: {{GC_PHONE}}</a:t>
            </a:r>
          </a:p>
        </p:txBody>
      </p:sp>
      <p:sp>
        <p:nvSpPr>
          <p:cNvPr id="15" name="Rectangle 14"/>
          <p:cNvSpPr/>
          <p:nvPr/>
        </p:nvSpPr>
        <p:spPr>
          <a:xfrm>
            <a:off x="16824960" y="1508760"/>
            <a:ext cx="3108960" cy="5943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rot="-5400000">
            <a:off x="16916400" y="1600200"/>
            <a:ext cx="2926080" cy="5760720"/>
          </a:xfrm>
          <a:prstGeom prst="rect">
            <a:avLst/>
          </a:prstGeom>
          <a:noFill/>
        </p:spPr>
        <p:txBody>
          <a:bodyPr wrap="none">
            <a:spAutoFit/>
          </a:bodyPr>
          <a:lstStyle/>
          <a:p>
            <a:r>
              <a:rPr sz="800" b="1">
                <a:solidFill>
                  <a:srgbClr val="0B1E35"/>
                </a:solidFill>
                <a:latin typeface="Arial"/>
              </a:rPr>
              <a:t>PN - {{PROJECT_NAME}}</a:t>
            </a:r>
          </a:p>
          <a:p>
            <a:r>
              <a:rPr sz="700" b="0">
                <a:solidFill>
                  <a:srgbClr val="000000"/>
                </a:solidFill>
                <a:latin typeface="Arial"/>
              </a:rPr>
              <a:t>{{SITE_ADDR}}</a:t>
            </a:r>
          </a:p>
          <a:p>
            <a:r>
              <a:rPr sz="700" b="0">
                <a:solidFill>
                  <a:srgbClr val="000000"/>
                </a:solidFill>
                <a:latin typeface="Arial"/>
              </a:rPr>
              <a:t>{{CITY_SHORT}}, {{STATE}} {{ZIP}}</a:t>
            </a:r>
          </a:p>
          <a:p>
            <a:r>
              <a:rPr sz="700" b="0">
                <a:solidFill>
                  <a:srgbClr val="000000"/>
                </a:solidFill>
                <a:latin typeface="Arial"/>
              </a:rPr>
              <a:t>APN: {{APN}}</a:t>
            </a:r>
          </a:p>
        </p:txBody>
      </p:sp>
      <p:sp>
        <p:nvSpPr>
          <p:cNvPr id="17" name="Rectangle 16"/>
          <p:cNvSpPr/>
          <p:nvPr/>
        </p:nvSpPr>
        <p:spPr>
          <a:xfrm>
            <a:off x="16824960" y="7452360"/>
            <a:ext cx="3108960" cy="1645920"/>
          </a:xfrm>
          <a:prstGeom prst="rect">
            <a:avLst/>
          </a:prstGeom>
          <a:solidFill>
            <a:srgbClr val="FFF3A8"/>
          </a:solidFill>
          <a:ln w="1270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870680" y="7498080"/>
            <a:ext cx="3017520" cy="1554480"/>
          </a:xfrm>
          <a:prstGeom prst="rect">
            <a:avLst/>
          </a:prstGeom>
          <a:solidFill>
            <a:srgbClr val="FFF3A8"/>
          </a:solidFill>
        </p:spPr>
        <p:txBody>
          <a:bodyPr wrap="square" lIns="25400" rIns="12700" tIns="12700" bIns="12700"/>
          <a:lstStyle/>
          <a:p>
            <a:pPr algn="l"/>
            <a:r>
              <a:rPr sz="650" b="0">
                <a:solidFill>
                  <a:srgbClr val="CC0000"/>
                </a:solidFill>
                <a:latin typeface="Arial"/>
              </a:rPr>
              <a:t>{{PERMIT_NO}}</a:t>
            </a:r>
          </a:p>
          <a:p>
            <a:pPr algn="l"/>
            <a:r>
              <a:rPr sz="650" b="0">
                <a:solidFill>
                  <a:srgbClr val="CC0000"/>
                </a:solidFill>
                <a:latin typeface="Arial"/>
              </a:rPr>
              <a:t>REVIEWED FOR COMPLIANCE</a:t>
            </a:r>
          </a:p>
          <a:p>
            <a:pPr algn="l"/>
            <a:r>
              <a:rPr sz="650" b="0">
                <a:solidFill>
                  <a:srgbClr val="CC0000"/>
                </a:solidFill>
                <a:latin typeface="Arial"/>
              </a:rPr>
              <a:t>{{AHJ_CITY}}</a:t>
            </a:r>
          </a:p>
          <a:p>
            <a:pPr algn="l"/>
            <a:r>
              <a:rPr sz="650" b="0">
                <a:solidFill>
                  <a:srgbClr val="CC0000"/>
                </a:solidFill>
                <a:latin typeface="Arial"/>
              </a:rPr>
              <a:t>{{AHJ_DEPT}}</a:t>
            </a:r>
          </a:p>
          <a:p>
            <a:pPr algn="l"/>
            <a:r>
              <a:rPr sz="650" b="0">
                <a:solidFill>
                  <a:srgbClr val="CC0000"/>
                </a:solidFill>
                <a:latin typeface="Arial"/>
              </a:rPr>
              <a:t>For {{PROJECT_NAME}} Subject to Code Compliance.</a:t>
            </a:r>
          </a:p>
          <a:p>
            <a:pPr algn="l"/>
            <a:r>
              <a:rPr sz="650" b="0">
                <a:solidFill>
                  <a:srgbClr val="CC0000"/>
                </a:solidFill>
                <a:latin typeface="Arial"/>
              </a:rPr>
              <a:t>REVISIONS NEED REVIEW</a:t>
            </a:r>
          </a:p>
        </p:txBody>
      </p:sp>
      <p:sp>
        <p:nvSpPr>
          <p:cNvPr id="19" name="Rectangle 18"/>
          <p:cNvSpPr/>
          <p:nvPr/>
        </p:nvSpPr>
        <p:spPr>
          <a:xfrm>
            <a:off x="16824960" y="9098280"/>
            <a:ext cx="3108960" cy="109728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6824960" y="9098280"/>
            <a:ext cx="3108960" cy="201168"/>
          </a:xfrm>
          <a:prstGeom prst="rect">
            <a:avLst/>
          </a:prstGeom>
          <a:solidFill>
            <a:srgbClr val="E8E8E8"/>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6852392" y="9125712"/>
            <a:ext cx="640080" cy="164592"/>
          </a:xfrm>
          <a:prstGeom prst="rect">
            <a:avLst/>
          </a:prstGeom>
          <a:noFill/>
        </p:spPr>
        <p:txBody>
          <a:bodyPr wrap="square" lIns="25400" rIns="12700" tIns="12700" bIns="12700"/>
          <a:lstStyle/>
          <a:p>
            <a:pPr algn="l"/>
            <a:r>
              <a:rPr sz="600" b="1" i="0">
                <a:solidFill>
                  <a:srgbClr val="000000"/>
                </a:solidFill>
                <a:latin typeface="Arial"/>
              </a:rPr>
              <a:t>DATE</a:t>
            </a:r>
          </a:p>
        </p:txBody>
      </p:sp>
      <p:sp>
        <p:nvSpPr>
          <p:cNvPr id="22" name="TextBox 21"/>
          <p:cNvSpPr txBox="1"/>
          <p:nvPr/>
        </p:nvSpPr>
        <p:spPr>
          <a:xfrm>
            <a:off x="17510760" y="9125712"/>
            <a:ext cx="365760" cy="164592"/>
          </a:xfrm>
          <a:prstGeom prst="rect">
            <a:avLst/>
          </a:prstGeom>
          <a:noFill/>
        </p:spPr>
        <p:txBody>
          <a:bodyPr wrap="square" lIns="25400" rIns="12700" tIns="12700" bIns="12700"/>
          <a:lstStyle/>
          <a:p>
            <a:pPr algn="l"/>
            <a:r>
              <a:rPr sz="600" b="1" i="0">
                <a:solidFill>
                  <a:srgbClr val="000000"/>
                </a:solidFill>
                <a:latin typeface="Arial"/>
              </a:rPr>
              <a:t>REV</a:t>
            </a:r>
          </a:p>
        </p:txBody>
      </p:sp>
      <p:sp>
        <p:nvSpPr>
          <p:cNvPr id="23" name="TextBox 22"/>
          <p:cNvSpPr txBox="1"/>
          <p:nvPr/>
        </p:nvSpPr>
        <p:spPr>
          <a:xfrm>
            <a:off x="17922240" y="9125712"/>
            <a:ext cx="1828800" cy="164592"/>
          </a:xfrm>
          <a:prstGeom prst="rect">
            <a:avLst/>
          </a:prstGeom>
          <a:noFill/>
        </p:spPr>
        <p:txBody>
          <a:bodyPr wrap="square" lIns="25400" rIns="12700" tIns="12700" bIns="12700"/>
          <a:lstStyle/>
          <a:p>
            <a:pPr algn="l"/>
            <a:r>
              <a:rPr sz="600" b="1" i="0">
                <a:solidFill>
                  <a:srgbClr val="000000"/>
                </a:solidFill>
                <a:latin typeface="Arial"/>
              </a:rPr>
              <a:t>COMMENTS</a:t>
            </a:r>
          </a:p>
        </p:txBody>
      </p:sp>
      <p:sp>
        <p:nvSpPr>
          <p:cNvPr id="24" name="TextBox 23"/>
          <p:cNvSpPr txBox="1"/>
          <p:nvPr/>
        </p:nvSpPr>
        <p:spPr>
          <a:xfrm>
            <a:off x="16852392" y="9326880"/>
            <a:ext cx="640080" cy="164592"/>
          </a:xfrm>
          <a:prstGeom prst="rect">
            <a:avLst/>
          </a:prstGeom>
          <a:noFill/>
        </p:spPr>
        <p:txBody>
          <a:bodyPr wrap="square" lIns="25400" rIns="12700" tIns="12700" bIns="12700"/>
          <a:lstStyle/>
          <a:p>
            <a:pPr algn="l"/>
            <a:r>
              <a:rPr sz="600" b="0" i="0">
                <a:solidFill>
                  <a:srgbClr val="000000"/>
                </a:solidFill>
                <a:latin typeface="Arial"/>
              </a:rPr>
              <a:t>{{ISSUE_DATE}}</a:t>
            </a:r>
          </a:p>
        </p:txBody>
      </p:sp>
      <p:sp>
        <p:nvSpPr>
          <p:cNvPr id="25" name="TextBox 24"/>
          <p:cNvSpPr txBox="1"/>
          <p:nvPr/>
        </p:nvSpPr>
        <p:spPr>
          <a:xfrm>
            <a:off x="17510760" y="9326880"/>
            <a:ext cx="365760" cy="164592"/>
          </a:xfrm>
          <a:prstGeom prst="rect">
            <a:avLst/>
          </a:prstGeom>
          <a:noFill/>
        </p:spPr>
        <p:txBody>
          <a:bodyPr wrap="square" lIns="25400" rIns="12700" tIns="12700" bIns="12700"/>
          <a:lstStyle/>
          <a:p>
            <a:pPr algn="l"/>
            <a:r>
              <a:rPr sz="600" b="0" i="0">
                <a:solidFill>
                  <a:srgbClr val="000000"/>
                </a:solidFill>
                <a:latin typeface="Arial"/>
              </a:rPr>
              <a:t>00</a:t>
            </a:r>
          </a:p>
        </p:txBody>
      </p:sp>
      <p:sp>
        <p:nvSpPr>
          <p:cNvPr id="26" name="TextBox 25"/>
          <p:cNvSpPr txBox="1"/>
          <p:nvPr/>
        </p:nvSpPr>
        <p:spPr>
          <a:xfrm>
            <a:off x="17922240" y="9326880"/>
            <a:ext cx="1828800" cy="164592"/>
          </a:xfrm>
          <a:prstGeom prst="rect">
            <a:avLst/>
          </a:prstGeom>
          <a:noFill/>
        </p:spPr>
        <p:txBody>
          <a:bodyPr wrap="square" lIns="25400" rIns="12700" tIns="12700" bIns="12700"/>
          <a:lstStyle/>
          <a:p>
            <a:pPr algn="l"/>
            <a:r>
              <a:rPr sz="600" b="0" i="0">
                <a:solidFill>
                  <a:srgbClr val="000000"/>
                </a:solidFill>
                <a:latin typeface="Arial"/>
              </a:rPr>
              <a:t>ISSUE FOR PERMIT</a:t>
            </a:r>
          </a:p>
        </p:txBody>
      </p:sp>
      <p:sp>
        <p:nvSpPr>
          <p:cNvPr id="27" name="TextBox 26"/>
          <p:cNvSpPr txBox="1"/>
          <p:nvPr/>
        </p:nvSpPr>
        <p:spPr>
          <a:xfrm>
            <a:off x="16852392" y="9528048"/>
            <a:ext cx="64008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28" name="TextBox 27"/>
          <p:cNvSpPr txBox="1"/>
          <p:nvPr/>
        </p:nvSpPr>
        <p:spPr>
          <a:xfrm>
            <a:off x="17510760" y="9528048"/>
            <a:ext cx="36576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29" name="TextBox 28"/>
          <p:cNvSpPr txBox="1"/>
          <p:nvPr/>
        </p:nvSpPr>
        <p:spPr>
          <a:xfrm>
            <a:off x="17922240" y="9528048"/>
            <a:ext cx="182880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30" name="TextBox 29"/>
          <p:cNvSpPr txBox="1"/>
          <p:nvPr/>
        </p:nvSpPr>
        <p:spPr>
          <a:xfrm>
            <a:off x="16852392" y="9729216"/>
            <a:ext cx="64008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31" name="TextBox 30"/>
          <p:cNvSpPr txBox="1"/>
          <p:nvPr/>
        </p:nvSpPr>
        <p:spPr>
          <a:xfrm>
            <a:off x="17510760" y="9729216"/>
            <a:ext cx="36576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32" name="TextBox 31"/>
          <p:cNvSpPr txBox="1"/>
          <p:nvPr/>
        </p:nvSpPr>
        <p:spPr>
          <a:xfrm>
            <a:off x="17922240" y="9729216"/>
            <a:ext cx="182880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33" name="TextBox 32"/>
          <p:cNvSpPr txBox="1"/>
          <p:nvPr/>
        </p:nvSpPr>
        <p:spPr>
          <a:xfrm>
            <a:off x="16852392" y="9930384"/>
            <a:ext cx="64008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34" name="TextBox 33"/>
          <p:cNvSpPr txBox="1"/>
          <p:nvPr/>
        </p:nvSpPr>
        <p:spPr>
          <a:xfrm>
            <a:off x="17510760" y="9930384"/>
            <a:ext cx="36576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35" name="TextBox 34"/>
          <p:cNvSpPr txBox="1"/>
          <p:nvPr/>
        </p:nvSpPr>
        <p:spPr>
          <a:xfrm>
            <a:off x="17922240" y="9930384"/>
            <a:ext cx="182880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36" name="Rectangle 35"/>
          <p:cNvSpPr/>
          <p:nvPr/>
        </p:nvSpPr>
        <p:spPr>
          <a:xfrm>
            <a:off x="16824960" y="10195560"/>
            <a:ext cx="3108960" cy="73152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6824960" y="10213848"/>
            <a:ext cx="3108960" cy="457200"/>
          </a:xfrm>
          <a:prstGeom prst="rect">
            <a:avLst/>
          </a:prstGeom>
          <a:noFill/>
        </p:spPr>
        <p:txBody>
          <a:bodyPr wrap="square" lIns="25400" rIns="12700" tIns="12700" bIns="12700"/>
          <a:lstStyle/>
          <a:p>
            <a:pPr algn="ctr"/>
            <a:r>
              <a:rPr sz="2800" b="1" i="0">
                <a:solidFill>
                  <a:srgbClr val="0B1E35"/>
                </a:solidFill>
                <a:latin typeface="Arial"/>
              </a:rPr>
              <a:t>E1.2</a:t>
            </a:r>
          </a:p>
        </p:txBody>
      </p:sp>
      <p:sp>
        <p:nvSpPr>
          <p:cNvPr id="38" name="TextBox 37"/>
          <p:cNvSpPr txBox="1"/>
          <p:nvPr/>
        </p:nvSpPr>
        <p:spPr>
          <a:xfrm>
            <a:off x="16824960" y="10671048"/>
            <a:ext cx="3108960" cy="237744"/>
          </a:xfrm>
          <a:prstGeom prst="rect">
            <a:avLst/>
          </a:prstGeom>
          <a:noFill/>
        </p:spPr>
        <p:txBody>
          <a:bodyPr wrap="square" lIns="25400" rIns="12700" tIns="12700" bIns="12700"/>
          <a:lstStyle/>
          <a:p>
            <a:pPr algn="ctr"/>
            <a:r>
              <a:rPr sz="800" b="1" i="0">
                <a:solidFill>
                  <a:srgbClr val="000000"/>
                </a:solidFill>
                <a:latin typeface="Arial"/>
              </a:rPr>
              <a:t>DEMOLITION PLAN</a:t>
            </a:r>
          </a:p>
        </p:txBody>
      </p:sp>
      <p:sp>
        <p:nvSpPr>
          <p:cNvPr id="39" name="Rectangle 38"/>
          <p:cNvSpPr/>
          <p:nvPr/>
        </p:nvSpPr>
        <p:spPr>
          <a:xfrm>
            <a:off x="16824960" y="10927080"/>
            <a:ext cx="3108960" cy="2487168"/>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6870680" y="10963656"/>
            <a:ext cx="3017520" cy="2395728"/>
          </a:xfrm>
          <a:prstGeom prst="rect">
            <a:avLst/>
          </a:prstGeom>
          <a:noFill/>
        </p:spPr>
        <p:txBody>
          <a:bodyPr wrap="square" lIns="25400" rIns="12700" tIns="12700" bIns="12700"/>
          <a:lstStyle/>
          <a:p>
            <a:pPr algn="l"/>
            <a:r>
              <a:rPr sz="650" b="0">
                <a:solidFill>
                  <a:srgbClr val="000000"/>
                </a:solidFill>
                <a:latin typeface="Arial"/>
              </a:rPr>
              <a:t>ISSUE DATE</a:t>
            </a:r>
          </a:p>
          <a:p>
            <a:pPr algn="l"/>
            <a:r>
              <a:rPr sz="650" b="0">
                <a:solidFill>
                  <a:srgbClr val="000000"/>
                </a:solidFill>
                <a:latin typeface="Arial"/>
              </a:rPr>
              <a:t>{{ISSUE_DATE}}</a:t>
            </a:r>
          </a:p>
          <a:p>
            <a:pPr algn="l"/>
            <a:r>
              <a:rPr sz="650" b="0">
                <a:solidFill>
                  <a:srgbClr val="000000"/>
                </a:solidFill>
                <a:latin typeface="Arial"/>
              </a:rPr>
              <a:t>REVISION DATE</a:t>
            </a:r>
          </a:p>
          <a:p>
            <a:pPr algn="l"/>
            <a:r>
              <a:rPr sz="650" b="0">
                <a:solidFill>
                  <a:srgbClr val="000000"/>
                </a:solidFill>
                <a:latin typeface="Arial"/>
              </a:rPr>
              <a:t>{{ISSUE_DATE}}</a:t>
            </a:r>
          </a:p>
          <a:p>
            <a:pPr algn="l"/>
            <a:r>
              <a:rPr sz="650" b="0">
                <a:solidFill>
                  <a:srgbClr val="000000"/>
                </a:solidFill>
                <a:latin typeface="Arial"/>
              </a:rPr>
              <a:t>DESIGNED BY</a:t>
            </a:r>
          </a:p>
          <a:p>
            <a:pPr algn="l"/>
            <a:r>
              <a:rPr sz="650" b="0">
                <a:solidFill>
                  <a:srgbClr val="000000"/>
                </a:solidFill>
                <a:latin typeface="Arial"/>
              </a:rPr>
              <a:t>{{DESIGNED_BY}}</a:t>
            </a:r>
          </a:p>
          <a:p>
            <a:pPr algn="l"/>
            <a:r>
              <a:rPr sz="650" b="0">
                <a:solidFill>
                  <a:srgbClr val="000000"/>
                </a:solidFill>
                <a:latin typeface="Arial"/>
              </a:rPr>
              <a:t>CHECKED BY</a:t>
            </a:r>
          </a:p>
          <a:p>
            <a:pPr algn="l"/>
            <a:r>
              <a:rPr sz="650" b="0">
                <a:solidFill>
                  <a:srgbClr val="000000"/>
                </a:solidFill>
                <a:latin typeface="Arial"/>
              </a:rPr>
              <a:t>{{CHECKED_BY}}</a:t>
            </a:r>
          </a:p>
          <a:p>
            <a:pPr algn="l"/>
            <a:r>
              <a:rPr sz="650" b="0">
                <a:solidFill>
                  <a:srgbClr val="000000"/>
                </a:solidFill>
                <a:latin typeface="Arial"/>
              </a:rPr>
              <a:t>JOB NO.</a:t>
            </a:r>
          </a:p>
          <a:p>
            <a:pPr algn="l"/>
            <a:r>
              <a:rPr sz="650" b="0">
                <a:solidFill>
                  <a:srgbClr val="000000"/>
                </a:solidFill>
                <a:latin typeface="Arial"/>
              </a:rPr>
              <a:t>{{JOB_NO}}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00584" y="100584"/>
            <a:ext cx="16614647" cy="13213080"/>
          </a:xfrm>
          <a:prstGeom prst="rect">
            <a:avLst/>
          </a:prstGeom>
          <a:noFill/>
          <a:ln w="9525">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109728"/>
            <a:ext cx="5808725" cy="914400"/>
          </a:xfrm>
          <a:prstGeom prst="rect">
            <a:avLst/>
          </a:prstGeom>
          <a:solidFill>
            <a:srgbClr val="FFFFFF"/>
          </a:solidFill>
          <a:ln w="508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55448" y="109728"/>
            <a:ext cx="5808725" cy="201168"/>
          </a:xfrm>
          <a:prstGeom prst="rect">
            <a:avLst/>
          </a:prstGeom>
          <a:noFill/>
        </p:spPr>
        <p:txBody>
          <a:bodyPr wrap="square" lIns="25400" rIns="12700" tIns="12700" bIns="12700"/>
          <a:lstStyle/>
          <a:p>
            <a:pPr algn="l"/>
            <a:r>
              <a:rPr sz="700" b="1" i="0">
                <a:solidFill>
                  <a:srgbClr val="000000"/>
                </a:solidFill>
                <a:latin typeface="Arial"/>
              </a:rPr>
              <a:t>SLD GENERAL NOTES</a:t>
            </a:r>
          </a:p>
        </p:txBody>
      </p:sp>
      <p:sp>
        <p:nvSpPr>
          <p:cNvPr id="5" name="TextBox 4"/>
          <p:cNvSpPr txBox="1"/>
          <p:nvPr/>
        </p:nvSpPr>
        <p:spPr>
          <a:xfrm>
            <a:off x="155448" y="310896"/>
            <a:ext cx="5717285" cy="685800"/>
          </a:xfrm>
          <a:prstGeom prst="rect">
            <a:avLst/>
          </a:prstGeom>
          <a:noFill/>
        </p:spPr>
        <p:txBody>
          <a:bodyPr wrap="square" lIns="25400" rIns="12700" tIns="12700" bIns="12700"/>
          <a:lstStyle/>
          <a:p>
            <a:pPr algn="l"/>
            <a:r>
              <a:rPr sz="600" b="0" i="0">
                <a:solidFill>
                  <a:srgbClr val="000000"/>
                </a:solidFill>
                <a:latin typeface="Arial"/>
              </a:rPr>
              <a:t>POINT OF INTERCONNECTION (POI) PER UTILITY REQUIREMENTS; SEE INTERCONNECTION AGREEMENT.
ALL EQUIPMENT TO BE LISTED PER UL STANDARDS AND APPLICABLE BESS PER UL 9540; BATTERY MODULES PER UL 1973; INVERTERS PER UL 1741.
ALL FIELD WIRING TO COMPLY WITH NEC {{CODE_YEAR}} (OR ADOPTED EDITION) — ART. 690, 705, &amp; 706.
CONDUCTORS SIZED PER ATTACHED CABLE / VOLTAGE-DROP SCHEDULE.
ANTI-ISLANDING / RAPID SHUTDOWN PER UL 1741 SA / IEEE 1547-2018.</a:t>
            </a:r>
          </a:p>
        </p:txBody>
      </p:sp>
      <p:sp>
        <p:nvSpPr>
          <p:cNvPr id="6" name="Rectangle 5"/>
          <p:cNvSpPr/>
          <p:nvPr/>
        </p:nvSpPr>
        <p:spPr>
          <a:xfrm>
            <a:off x="6250380" y="109728"/>
            <a:ext cx="4978907" cy="914400"/>
          </a:xfrm>
          <a:prstGeom prst="rect">
            <a:avLst/>
          </a:prstGeom>
          <a:solidFill>
            <a:srgbClr val="FFFFFF"/>
          </a:solidFill>
          <a:ln w="508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96100" y="109728"/>
            <a:ext cx="4978907" cy="201168"/>
          </a:xfrm>
          <a:prstGeom prst="rect">
            <a:avLst/>
          </a:prstGeom>
          <a:noFill/>
        </p:spPr>
        <p:txBody>
          <a:bodyPr wrap="square" lIns="25400" rIns="12700" tIns="12700" bIns="12700"/>
          <a:lstStyle/>
          <a:p>
            <a:pPr algn="l"/>
            <a:r>
              <a:rPr sz="700" b="1" i="0">
                <a:solidFill>
                  <a:srgbClr val="000000"/>
                </a:solidFill>
                <a:latin typeface="Arial"/>
              </a:rPr>
              <a:t>METER / SERVICE</a:t>
            </a:r>
          </a:p>
        </p:txBody>
      </p:sp>
      <p:sp>
        <p:nvSpPr>
          <p:cNvPr id="8" name="TextBox 7"/>
          <p:cNvSpPr txBox="1"/>
          <p:nvPr/>
        </p:nvSpPr>
        <p:spPr>
          <a:xfrm>
            <a:off x="6296100" y="310896"/>
            <a:ext cx="4887467" cy="685800"/>
          </a:xfrm>
          <a:prstGeom prst="rect">
            <a:avLst/>
          </a:prstGeom>
          <a:noFill/>
        </p:spPr>
        <p:txBody>
          <a:bodyPr wrap="square" lIns="25400" rIns="12700" tIns="12700" bIns="12700"/>
          <a:lstStyle/>
          <a:p>
            <a:pPr algn="l"/>
            <a:r>
              <a:rPr sz="600" b="0">
                <a:solidFill>
                  <a:srgbClr val="000000"/>
                </a:solidFill>
                <a:latin typeface="Arial"/>
              </a:rPr>
              <a:t>Utility: {{UTILITY}}</a:t>
            </a:r>
          </a:p>
          <a:p>
            <a:pPr algn="l"/>
            <a:r>
              <a:rPr sz="600" b="0">
                <a:solidFill>
                  <a:srgbClr val="000000"/>
                </a:solidFill>
                <a:latin typeface="Arial"/>
              </a:rPr>
              <a:t>Meter Number: {{METER_NO}}</a:t>
            </a:r>
          </a:p>
          <a:p>
            <a:pPr algn="l"/>
            <a:r>
              <a:rPr sz="600" b="0">
                <a:solidFill>
                  <a:srgbClr val="000000"/>
                </a:solidFill>
                <a:latin typeface="Arial"/>
              </a:rPr>
              <a:t>Service Voltage: {{VOLTAGE}} / {{PHASE}} / {{FREQ}}Hz</a:t>
            </a:r>
          </a:p>
          <a:p>
            <a:pPr algn="l"/>
            <a:r>
              <a:rPr sz="600" b="0">
                <a:solidFill>
                  <a:srgbClr val="000000"/>
                </a:solidFill>
                <a:latin typeface="Arial"/>
              </a:rPr>
              <a:t>Service Rating: {{ACDIS}}A AT MAIN</a:t>
            </a:r>
          </a:p>
          <a:p>
            <a:pPr algn="l"/>
            <a:r>
              <a:rPr sz="600" b="0">
                <a:solidFill>
                  <a:srgbClr val="000000"/>
                </a:solidFill>
                <a:latin typeface="Arial"/>
              </a:rPr>
              <a:t>Existing AIC: {{KAIC}}</a:t>
            </a:r>
          </a:p>
        </p:txBody>
      </p:sp>
      <p:sp>
        <p:nvSpPr>
          <p:cNvPr id="9" name="Rectangle 8"/>
          <p:cNvSpPr/>
          <p:nvPr/>
        </p:nvSpPr>
        <p:spPr>
          <a:xfrm>
            <a:off x="11561215" y="109728"/>
            <a:ext cx="5144871" cy="914400"/>
          </a:xfrm>
          <a:prstGeom prst="rect">
            <a:avLst/>
          </a:prstGeom>
          <a:solidFill>
            <a:srgbClr val="FFFFFF"/>
          </a:solidFill>
          <a:ln w="508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606935" y="109728"/>
            <a:ext cx="5144871" cy="201168"/>
          </a:xfrm>
          <a:prstGeom prst="rect">
            <a:avLst/>
          </a:prstGeom>
          <a:noFill/>
        </p:spPr>
        <p:txBody>
          <a:bodyPr wrap="square" lIns="25400" rIns="12700" tIns="12700" bIns="12700"/>
          <a:lstStyle/>
          <a:p>
            <a:pPr algn="l"/>
            <a:r>
              <a:rPr sz="700" b="1" i="0">
                <a:solidFill>
                  <a:srgbClr val="000000"/>
                </a:solidFill>
                <a:latin typeface="Arial"/>
              </a:rPr>
              <a:t>STORAGE NOTES</a:t>
            </a:r>
          </a:p>
        </p:txBody>
      </p:sp>
      <p:sp>
        <p:nvSpPr>
          <p:cNvPr id="11" name="TextBox 10"/>
          <p:cNvSpPr txBox="1"/>
          <p:nvPr/>
        </p:nvSpPr>
        <p:spPr>
          <a:xfrm>
            <a:off x="11606935" y="310896"/>
            <a:ext cx="5053431" cy="685800"/>
          </a:xfrm>
          <a:prstGeom prst="rect">
            <a:avLst/>
          </a:prstGeom>
          <a:noFill/>
        </p:spPr>
        <p:txBody>
          <a:bodyPr wrap="square" lIns="25400" rIns="12700" tIns="12700" bIns="12700"/>
          <a:lstStyle/>
          <a:p>
            <a:pPr algn="l"/>
            <a:r>
              <a:rPr sz="600" b="0" i="0">
                <a:solidFill>
                  <a:srgbClr val="000000"/>
                </a:solidFill>
                <a:latin typeface="Arial"/>
              </a:rPr>
              <a:t>PROPOSED STORAGE DEVICE(S) WILL NOT EXPORT TO THE UTILITY GRID. SYSTEM IS CONFIGURED AS A NON-EXPORT, BEHIND-THE-METER ENERGY STORAGE SYSTEM USING UL-LISTED INVERTERS WITH NON-EXPORT CONTROLS. SYSTEM OPERATION SHALL COMPLY WITH UTILITY INTERCONNECTION AGREEMENT AND ALL APPLICABLE STANDARDS.</a:t>
            </a:r>
          </a:p>
        </p:txBody>
      </p:sp>
      <p:sp>
        <p:nvSpPr>
          <p:cNvPr id="12" name="Rectangle 11"/>
          <p:cNvSpPr/>
          <p:nvPr/>
        </p:nvSpPr>
        <p:spPr>
          <a:xfrm>
            <a:off x="109728" y="1069848"/>
            <a:ext cx="16596359" cy="9720072"/>
          </a:xfrm>
          <a:prstGeom prst="rect">
            <a:avLst/>
          </a:prstGeom>
          <a:solidFill>
            <a:srgbClr val="E26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 y="5802884"/>
            <a:ext cx="16596359" cy="254000"/>
          </a:xfrm>
          <a:prstGeom prst="rect">
            <a:avLst/>
          </a:prstGeom>
          <a:noFill/>
        </p:spPr>
        <p:txBody>
          <a:bodyPr wrap="square" lIns="25400" rIns="12700" tIns="12700" bIns="12700"/>
          <a:lstStyle/>
          <a:p>
            <a:pPr algn="ctr"/>
            <a:r>
              <a:rPr sz="1400" b="0" i="0">
                <a:solidFill>
                  <a:srgbClr val="FFFFFF"/>
                </a:solidFill>
                <a:latin typeface="Arial"/>
              </a:rPr>
              <a:t>E2.0 SINGLE LINE DIAGRAM
(Upload your SLD image)</a:t>
            </a:r>
          </a:p>
        </p:txBody>
      </p:sp>
      <p:sp>
        <p:nvSpPr>
          <p:cNvPr id="14" name="Rectangle 13"/>
          <p:cNvSpPr/>
          <p:nvPr/>
        </p:nvSpPr>
        <p:spPr>
          <a:xfrm>
            <a:off x="109728" y="10835640"/>
            <a:ext cx="16596359" cy="201168"/>
          </a:xfrm>
          <a:prstGeom prst="rect">
            <a:avLst/>
          </a:prstGeom>
          <a:solidFill>
            <a:srgbClr val="0B1E35"/>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5448" y="10835640"/>
            <a:ext cx="16596359" cy="201168"/>
          </a:xfrm>
          <a:prstGeom prst="rect">
            <a:avLst/>
          </a:prstGeom>
          <a:noFill/>
        </p:spPr>
        <p:txBody>
          <a:bodyPr wrap="square" lIns="25400" rIns="12700" tIns="12700" bIns="12700"/>
          <a:lstStyle/>
          <a:p>
            <a:pPr algn="ctr"/>
            <a:r>
              <a:rPr sz="700" b="1" i="0">
                <a:solidFill>
                  <a:srgbClr val="FFFFFF"/>
                </a:solidFill>
                <a:latin typeface="Arial"/>
              </a:rPr>
              <a:t>CABLE SCHEDULE / VOLTAGE-DROP CALCULATIONS</a:t>
            </a:r>
          </a:p>
        </p:txBody>
      </p:sp>
      <p:sp>
        <p:nvSpPr>
          <p:cNvPr id="16" name="Rectangle 15"/>
          <p:cNvSpPr/>
          <p:nvPr/>
        </p:nvSpPr>
        <p:spPr>
          <a:xfrm>
            <a:off x="109728" y="11036808"/>
            <a:ext cx="16596359" cy="201168"/>
          </a:xfrm>
          <a:prstGeom prst="rect">
            <a:avLst/>
          </a:prstGeom>
          <a:solidFill>
            <a:srgbClr val="E8E8E8"/>
          </a:solidFill>
          <a:ln w="25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8016" y="11064240"/>
            <a:ext cx="512063" cy="164592"/>
          </a:xfrm>
          <a:prstGeom prst="rect">
            <a:avLst/>
          </a:prstGeom>
          <a:noFill/>
        </p:spPr>
        <p:txBody>
          <a:bodyPr wrap="square" lIns="25400" rIns="12700" tIns="12700" bIns="12700"/>
          <a:lstStyle/>
          <a:p>
            <a:pPr algn="l"/>
            <a:r>
              <a:rPr sz="600" b="1" i="0">
                <a:solidFill>
                  <a:srgbClr val="000000"/>
                </a:solidFill>
                <a:latin typeface="Arial"/>
              </a:rPr>
              <a:t>CIRCUIT</a:t>
            </a:r>
          </a:p>
        </p:txBody>
      </p:sp>
      <p:sp>
        <p:nvSpPr>
          <p:cNvPr id="18" name="TextBox 17"/>
          <p:cNvSpPr txBox="1"/>
          <p:nvPr/>
        </p:nvSpPr>
        <p:spPr>
          <a:xfrm>
            <a:off x="676656" y="11064240"/>
            <a:ext cx="1243584" cy="164592"/>
          </a:xfrm>
          <a:prstGeom prst="rect">
            <a:avLst/>
          </a:prstGeom>
          <a:noFill/>
        </p:spPr>
        <p:txBody>
          <a:bodyPr wrap="square" lIns="25400" rIns="12700" tIns="12700" bIns="12700"/>
          <a:lstStyle/>
          <a:p>
            <a:pPr algn="l"/>
            <a:r>
              <a:rPr sz="600" b="1" i="0">
                <a:solidFill>
                  <a:srgbClr val="000000"/>
                </a:solidFill>
                <a:latin typeface="Arial"/>
              </a:rPr>
              <a:t>FROM</a:t>
            </a:r>
          </a:p>
        </p:txBody>
      </p:sp>
      <p:sp>
        <p:nvSpPr>
          <p:cNvPr id="19" name="TextBox 18"/>
          <p:cNvSpPr txBox="1"/>
          <p:nvPr/>
        </p:nvSpPr>
        <p:spPr>
          <a:xfrm>
            <a:off x="1956816" y="11064240"/>
            <a:ext cx="1243584" cy="164592"/>
          </a:xfrm>
          <a:prstGeom prst="rect">
            <a:avLst/>
          </a:prstGeom>
          <a:noFill/>
        </p:spPr>
        <p:txBody>
          <a:bodyPr wrap="square" lIns="25400" rIns="12700" tIns="12700" bIns="12700"/>
          <a:lstStyle/>
          <a:p>
            <a:pPr algn="l"/>
            <a:r>
              <a:rPr sz="600" b="1" i="0">
                <a:solidFill>
                  <a:srgbClr val="000000"/>
                </a:solidFill>
                <a:latin typeface="Arial"/>
              </a:rPr>
              <a:t>TO</a:t>
            </a:r>
          </a:p>
        </p:txBody>
      </p:sp>
      <p:sp>
        <p:nvSpPr>
          <p:cNvPr id="20" name="TextBox 19"/>
          <p:cNvSpPr txBox="1"/>
          <p:nvPr/>
        </p:nvSpPr>
        <p:spPr>
          <a:xfrm>
            <a:off x="3236976" y="11064240"/>
            <a:ext cx="603503" cy="164592"/>
          </a:xfrm>
          <a:prstGeom prst="rect">
            <a:avLst/>
          </a:prstGeom>
          <a:noFill/>
        </p:spPr>
        <p:txBody>
          <a:bodyPr wrap="square" lIns="25400" rIns="12700" tIns="12700" bIns="12700"/>
          <a:lstStyle/>
          <a:p>
            <a:pPr algn="l"/>
            <a:r>
              <a:rPr sz="600" b="1" i="0">
                <a:solidFill>
                  <a:srgbClr val="000000"/>
                </a:solidFill>
                <a:latin typeface="Arial"/>
              </a:rPr>
              <a:t>PHASES</a:t>
            </a:r>
          </a:p>
        </p:txBody>
      </p:sp>
      <p:sp>
        <p:nvSpPr>
          <p:cNvPr id="21" name="TextBox 20"/>
          <p:cNvSpPr txBox="1"/>
          <p:nvPr/>
        </p:nvSpPr>
        <p:spPr>
          <a:xfrm>
            <a:off x="3877056" y="11064240"/>
            <a:ext cx="694944" cy="164592"/>
          </a:xfrm>
          <a:prstGeom prst="rect">
            <a:avLst/>
          </a:prstGeom>
          <a:noFill/>
        </p:spPr>
        <p:txBody>
          <a:bodyPr wrap="square" lIns="25400" rIns="12700" tIns="12700" bIns="12700"/>
          <a:lstStyle/>
          <a:p>
            <a:pPr algn="l"/>
            <a:r>
              <a:rPr sz="600" b="1" i="0">
                <a:solidFill>
                  <a:srgbClr val="000000"/>
                </a:solidFill>
                <a:latin typeface="Arial"/>
              </a:rPr>
              <a:t>VOLTAGE</a:t>
            </a:r>
          </a:p>
        </p:txBody>
      </p:sp>
      <p:sp>
        <p:nvSpPr>
          <p:cNvPr id="22" name="TextBox 21"/>
          <p:cNvSpPr txBox="1"/>
          <p:nvPr/>
        </p:nvSpPr>
        <p:spPr>
          <a:xfrm>
            <a:off x="4608576" y="11064240"/>
            <a:ext cx="786384" cy="164592"/>
          </a:xfrm>
          <a:prstGeom prst="rect">
            <a:avLst/>
          </a:prstGeom>
          <a:noFill/>
        </p:spPr>
        <p:txBody>
          <a:bodyPr wrap="square" lIns="25400" rIns="12700" tIns="12700" bIns="12700"/>
          <a:lstStyle/>
          <a:p>
            <a:pPr algn="l"/>
            <a:r>
              <a:rPr sz="600" b="1" i="0">
                <a:solidFill>
                  <a:srgbClr val="000000"/>
                </a:solidFill>
                <a:latin typeface="Arial"/>
              </a:rPr>
              <a:t>CURRENT (A)</a:t>
            </a:r>
          </a:p>
        </p:txBody>
      </p:sp>
      <p:sp>
        <p:nvSpPr>
          <p:cNvPr id="23" name="TextBox 22"/>
          <p:cNvSpPr txBox="1"/>
          <p:nvPr/>
        </p:nvSpPr>
        <p:spPr>
          <a:xfrm>
            <a:off x="5431536" y="11064240"/>
            <a:ext cx="694944" cy="164592"/>
          </a:xfrm>
          <a:prstGeom prst="rect">
            <a:avLst/>
          </a:prstGeom>
          <a:noFill/>
        </p:spPr>
        <p:txBody>
          <a:bodyPr wrap="square" lIns="25400" rIns="12700" tIns="12700" bIns="12700"/>
          <a:lstStyle/>
          <a:p>
            <a:pPr algn="l"/>
            <a:r>
              <a:rPr sz="600" b="1" i="0">
                <a:solidFill>
                  <a:srgbClr val="000000"/>
                </a:solidFill>
                <a:latin typeface="Arial"/>
              </a:rPr>
              <a:t>RUN (FT)</a:t>
            </a:r>
          </a:p>
        </p:txBody>
      </p:sp>
      <p:sp>
        <p:nvSpPr>
          <p:cNvPr id="24" name="TextBox 23"/>
          <p:cNvSpPr txBox="1"/>
          <p:nvPr/>
        </p:nvSpPr>
        <p:spPr>
          <a:xfrm>
            <a:off x="6163056" y="11064240"/>
            <a:ext cx="877824" cy="164592"/>
          </a:xfrm>
          <a:prstGeom prst="rect">
            <a:avLst/>
          </a:prstGeom>
          <a:noFill/>
        </p:spPr>
        <p:txBody>
          <a:bodyPr wrap="square" lIns="25400" rIns="12700" tIns="12700" bIns="12700"/>
          <a:lstStyle/>
          <a:p>
            <a:pPr algn="l"/>
            <a:r>
              <a:rPr sz="600" b="1" i="0">
                <a:solidFill>
                  <a:srgbClr val="000000"/>
                </a:solidFill>
                <a:latin typeface="Arial"/>
              </a:rPr>
              <a:t>CONDUCTORS</a:t>
            </a:r>
          </a:p>
        </p:txBody>
      </p:sp>
      <p:sp>
        <p:nvSpPr>
          <p:cNvPr id="25" name="TextBox 24"/>
          <p:cNvSpPr txBox="1"/>
          <p:nvPr/>
        </p:nvSpPr>
        <p:spPr>
          <a:xfrm>
            <a:off x="7077456" y="11064240"/>
            <a:ext cx="694944" cy="164592"/>
          </a:xfrm>
          <a:prstGeom prst="rect">
            <a:avLst/>
          </a:prstGeom>
          <a:noFill/>
        </p:spPr>
        <p:txBody>
          <a:bodyPr wrap="square" lIns="25400" rIns="12700" tIns="12700" bIns="12700"/>
          <a:lstStyle/>
          <a:p>
            <a:pPr algn="l"/>
            <a:r>
              <a:rPr sz="600" b="1" i="0">
                <a:solidFill>
                  <a:srgbClr val="000000"/>
                </a:solidFill>
                <a:latin typeface="Arial"/>
              </a:rPr>
              <a:t>GROUND</a:t>
            </a:r>
          </a:p>
        </p:txBody>
      </p:sp>
      <p:sp>
        <p:nvSpPr>
          <p:cNvPr id="26" name="TextBox 25"/>
          <p:cNvSpPr txBox="1"/>
          <p:nvPr/>
        </p:nvSpPr>
        <p:spPr>
          <a:xfrm>
            <a:off x="7808976" y="11064240"/>
            <a:ext cx="877824" cy="164592"/>
          </a:xfrm>
          <a:prstGeom prst="rect">
            <a:avLst/>
          </a:prstGeom>
          <a:noFill/>
        </p:spPr>
        <p:txBody>
          <a:bodyPr wrap="square" lIns="25400" rIns="12700" tIns="12700" bIns="12700"/>
          <a:lstStyle/>
          <a:p>
            <a:pPr algn="l"/>
            <a:r>
              <a:rPr sz="600" b="1" i="0">
                <a:solidFill>
                  <a:srgbClr val="000000"/>
                </a:solidFill>
                <a:latin typeface="Arial"/>
              </a:rPr>
              <a:t>CONDUIT</a:t>
            </a:r>
          </a:p>
        </p:txBody>
      </p:sp>
      <p:sp>
        <p:nvSpPr>
          <p:cNvPr id="27" name="TextBox 26"/>
          <p:cNvSpPr txBox="1"/>
          <p:nvPr/>
        </p:nvSpPr>
        <p:spPr>
          <a:xfrm>
            <a:off x="8723376" y="11064240"/>
            <a:ext cx="512063" cy="164592"/>
          </a:xfrm>
          <a:prstGeom prst="rect">
            <a:avLst/>
          </a:prstGeom>
          <a:noFill/>
        </p:spPr>
        <p:txBody>
          <a:bodyPr wrap="square" lIns="25400" rIns="12700" tIns="12700" bIns="12700"/>
          <a:lstStyle/>
          <a:p>
            <a:pPr algn="l"/>
            <a:r>
              <a:rPr sz="600" b="1" i="0">
                <a:solidFill>
                  <a:srgbClr val="000000"/>
                </a:solidFill>
                <a:latin typeface="Arial"/>
              </a:rPr>
              <a:t>VD %</a:t>
            </a:r>
          </a:p>
        </p:txBody>
      </p:sp>
      <p:sp>
        <p:nvSpPr>
          <p:cNvPr id="28" name="TextBox 27"/>
          <p:cNvSpPr txBox="1"/>
          <p:nvPr/>
        </p:nvSpPr>
        <p:spPr>
          <a:xfrm>
            <a:off x="9272016" y="11064240"/>
            <a:ext cx="786384" cy="164592"/>
          </a:xfrm>
          <a:prstGeom prst="rect">
            <a:avLst/>
          </a:prstGeom>
          <a:noFill/>
        </p:spPr>
        <p:txBody>
          <a:bodyPr wrap="square" lIns="25400" rIns="12700" tIns="12700" bIns="12700"/>
          <a:lstStyle/>
          <a:p>
            <a:pPr algn="l"/>
            <a:r>
              <a:rPr sz="600" b="1" i="0">
                <a:solidFill>
                  <a:srgbClr val="000000"/>
                </a:solidFill>
                <a:latin typeface="Arial"/>
              </a:rPr>
              <a:t>METHOD</a:t>
            </a:r>
          </a:p>
        </p:txBody>
      </p:sp>
      <p:sp>
        <p:nvSpPr>
          <p:cNvPr id="29" name="Rectangle 28"/>
          <p:cNvSpPr/>
          <p:nvPr/>
        </p:nvSpPr>
        <p:spPr>
          <a:xfrm>
            <a:off x="109728" y="11237976"/>
            <a:ext cx="16596359" cy="182880"/>
          </a:xfrm>
          <a:prstGeom prst="rect">
            <a:avLst/>
          </a:prstGeom>
          <a:solidFill>
            <a:srgbClr val="FFFFFF"/>
          </a:solidFill>
          <a:ln w="127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28016" y="11256264"/>
            <a:ext cx="512063" cy="164592"/>
          </a:xfrm>
          <a:prstGeom prst="rect">
            <a:avLst/>
          </a:prstGeom>
          <a:noFill/>
        </p:spPr>
        <p:txBody>
          <a:bodyPr wrap="square" lIns="25400" rIns="12700" tIns="12700" bIns="12700"/>
          <a:lstStyle/>
          <a:p>
            <a:pPr algn="l"/>
            <a:r>
              <a:rPr sz="550" b="0" i="0">
                <a:solidFill>
                  <a:srgbClr val="000000"/>
                </a:solidFill>
                <a:latin typeface="Arial"/>
              </a:rPr>
              <a:t>C1</a:t>
            </a:r>
          </a:p>
        </p:txBody>
      </p:sp>
      <p:sp>
        <p:nvSpPr>
          <p:cNvPr id="31" name="TextBox 30"/>
          <p:cNvSpPr txBox="1"/>
          <p:nvPr/>
        </p:nvSpPr>
        <p:spPr>
          <a:xfrm>
            <a:off x="676656" y="11256264"/>
            <a:ext cx="1243584" cy="164592"/>
          </a:xfrm>
          <a:prstGeom prst="rect">
            <a:avLst/>
          </a:prstGeom>
          <a:noFill/>
        </p:spPr>
        <p:txBody>
          <a:bodyPr wrap="square" lIns="25400" rIns="12700" tIns="12700" bIns="12700"/>
          <a:lstStyle/>
          <a:p>
            <a:pPr algn="l"/>
            <a:r>
              <a:rPr sz="550" b="0" i="0">
                <a:solidFill>
                  <a:srgbClr val="000000"/>
                </a:solidFill>
                <a:latin typeface="Arial"/>
              </a:rPr>
              <a:t>BESS BANK 1</a:t>
            </a:r>
          </a:p>
        </p:txBody>
      </p:sp>
      <p:sp>
        <p:nvSpPr>
          <p:cNvPr id="32" name="TextBox 31"/>
          <p:cNvSpPr txBox="1"/>
          <p:nvPr/>
        </p:nvSpPr>
        <p:spPr>
          <a:xfrm>
            <a:off x="1956816" y="11256264"/>
            <a:ext cx="1243584" cy="164592"/>
          </a:xfrm>
          <a:prstGeom prst="rect">
            <a:avLst/>
          </a:prstGeom>
          <a:noFill/>
        </p:spPr>
        <p:txBody>
          <a:bodyPr wrap="square" lIns="25400" rIns="12700" tIns="12700" bIns="12700"/>
          <a:lstStyle/>
          <a:p>
            <a:pPr algn="l"/>
            <a:r>
              <a:rPr sz="550" b="0" i="0">
                <a:solidFill>
                  <a:srgbClr val="000000"/>
                </a:solidFill>
                <a:latin typeface="Arial"/>
              </a:rPr>
              <a:t>INVERTER 1</a:t>
            </a:r>
          </a:p>
        </p:txBody>
      </p:sp>
      <p:sp>
        <p:nvSpPr>
          <p:cNvPr id="33" name="TextBox 32"/>
          <p:cNvSpPr txBox="1"/>
          <p:nvPr/>
        </p:nvSpPr>
        <p:spPr>
          <a:xfrm>
            <a:off x="3236976" y="11256264"/>
            <a:ext cx="603503" cy="164592"/>
          </a:xfrm>
          <a:prstGeom prst="rect">
            <a:avLst/>
          </a:prstGeom>
          <a:noFill/>
        </p:spPr>
        <p:txBody>
          <a:bodyPr wrap="square" lIns="25400" rIns="12700" tIns="12700" bIns="12700"/>
          <a:lstStyle/>
          <a:p>
            <a:pPr algn="l"/>
            <a:r>
              <a:rPr sz="550" b="0" i="0">
                <a:solidFill>
                  <a:srgbClr val="000000"/>
                </a:solidFill>
                <a:latin typeface="Arial"/>
              </a:rPr>
              <a:t>DC</a:t>
            </a:r>
          </a:p>
        </p:txBody>
      </p:sp>
      <p:sp>
        <p:nvSpPr>
          <p:cNvPr id="34" name="TextBox 33"/>
          <p:cNvSpPr txBox="1"/>
          <p:nvPr/>
        </p:nvSpPr>
        <p:spPr>
          <a:xfrm>
            <a:off x="3877056" y="11256264"/>
            <a:ext cx="694944" cy="164592"/>
          </a:xfrm>
          <a:prstGeom prst="rect">
            <a:avLst/>
          </a:prstGeom>
          <a:noFill/>
        </p:spPr>
        <p:txBody>
          <a:bodyPr wrap="square" lIns="25400" rIns="12700" tIns="12700" bIns="12700"/>
          <a:lstStyle/>
          <a:p>
            <a:pPr algn="l"/>
            <a:r>
              <a:rPr sz="550" b="0" i="0">
                <a:solidFill>
                  <a:srgbClr val="000000"/>
                </a:solidFill>
                <a:latin typeface="Arial"/>
              </a:rPr>
              <a:t>{{DCV}}</a:t>
            </a:r>
          </a:p>
        </p:txBody>
      </p:sp>
      <p:sp>
        <p:nvSpPr>
          <p:cNvPr id="35" name="TextBox 34"/>
          <p:cNvSpPr txBox="1"/>
          <p:nvPr/>
        </p:nvSpPr>
        <p:spPr>
          <a:xfrm>
            <a:off x="4608576" y="11256264"/>
            <a:ext cx="786384" cy="164592"/>
          </a:xfrm>
          <a:prstGeom prst="rect">
            <a:avLst/>
          </a:prstGeom>
          <a:noFill/>
        </p:spPr>
        <p:txBody>
          <a:bodyPr wrap="square" lIns="25400" rIns="12700" tIns="12700" bIns="12700"/>
          <a:lstStyle/>
          <a:p>
            <a:pPr algn="l"/>
            <a:r>
              <a:rPr sz="550" b="0" i="0">
                <a:solidFill>
                  <a:srgbClr val="000000"/>
                </a:solidFill>
                <a:latin typeface="Arial"/>
              </a:rPr>
              <a:t>{{ACDIS}}</a:t>
            </a:r>
          </a:p>
        </p:txBody>
      </p:sp>
      <p:sp>
        <p:nvSpPr>
          <p:cNvPr id="36" name="TextBox 35"/>
          <p:cNvSpPr txBox="1"/>
          <p:nvPr/>
        </p:nvSpPr>
        <p:spPr>
          <a:xfrm>
            <a:off x="5431536" y="11256264"/>
            <a:ext cx="694944" cy="164592"/>
          </a:xfrm>
          <a:prstGeom prst="rect">
            <a:avLst/>
          </a:prstGeom>
          <a:noFill/>
        </p:spPr>
        <p:txBody>
          <a:bodyPr wrap="square" lIns="25400" rIns="12700" tIns="12700" bIns="12700"/>
          <a:lstStyle/>
          <a:p>
            <a:pPr algn="l"/>
            <a:r>
              <a:rPr sz="550" b="0" i="0">
                <a:solidFill>
                  <a:srgbClr val="000000"/>
                </a:solidFill>
                <a:latin typeface="Arial"/>
              </a:rPr>
              <a:t>{{FENCE_LEN}}</a:t>
            </a:r>
          </a:p>
        </p:txBody>
      </p:sp>
      <p:sp>
        <p:nvSpPr>
          <p:cNvPr id="37" name="TextBox 36"/>
          <p:cNvSpPr txBox="1"/>
          <p:nvPr/>
        </p:nvSpPr>
        <p:spPr>
          <a:xfrm>
            <a:off x="6163056" y="11256264"/>
            <a:ext cx="877824" cy="164592"/>
          </a:xfrm>
          <a:prstGeom prst="rect">
            <a:avLst/>
          </a:prstGeom>
          <a:noFill/>
        </p:spPr>
        <p:txBody>
          <a:bodyPr wrap="square" lIns="25400" rIns="12700" tIns="12700" bIns="12700"/>
          <a:lstStyle/>
          <a:p>
            <a:pPr algn="l"/>
            <a:r>
              <a:rPr sz="550" b="0" i="0">
                <a:solidFill>
                  <a:srgbClr val="000000"/>
                </a:solidFill>
                <a:latin typeface="Arial"/>
              </a:rPr>
              <a:t>{{WIRE_AWG}}</a:t>
            </a:r>
          </a:p>
        </p:txBody>
      </p:sp>
      <p:sp>
        <p:nvSpPr>
          <p:cNvPr id="38" name="TextBox 37"/>
          <p:cNvSpPr txBox="1"/>
          <p:nvPr/>
        </p:nvSpPr>
        <p:spPr>
          <a:xfrm>
            <a:off x="7077456" y="11256264"/>
            <a:ext cx="694944" cy="164592"/>
          </a:xfrm>
          <a:prstGeom prst="rect">
            <a:avLst/>
          </a:prstGeom>
          <a:noFill/>
        </p:spPr>
        <p:txBody>
          <a:bodyPr wrap="square" lIns="25400" rIns="12700" tIns="12700" bIns="12700"/>
          <a:lstStyle/>
          <a:p>
            <a:pPr algn="l"/>
            <a:r>
              <a:rPr sz="550" b="0" i="0">
                <a:solidFill>
                  <a:srgbClr val="000000"/>
                </a:solidFill>
                <a:latin typeface="Arial"/>
              </a:rPr>
              <a:t>{{WIRE_AWG}}</a:t>
            </a:r>
          </a:p>
        </p:txBody>
      </p:sp>
      <p:sp>
        <p:nvSpPr>
          <p:cNvPr id="39" name="TextBox 38"/>
          <p:cNvSpPr txBox="1"/>
          <p:nvPr/>
        </p:nvSpPr>
        <p:spPr>
          <a:xfrm>
            <a:off x="7808976" y="11256264"/>
            <a:ext cx="877824" cy="164592"/>
          </a:xfrm>
          <a:prstGeom prst="rect">
            <a:avLst/>
          </a:prstGeom>
          <a:noFill/>
        </p:spPr>
        <p:txBody>
          <a:bodyPr wrap="square" lIns="25400" rIns="12700" tIns="12700" bIns="12700"/>
          <a:lstStyle/>
          <a:p>
            <a:pPr algn="l"/>
            <a:r>
              <a:rPr sz="550" b="0" i="0">
                <a:solidFill>
                  <a:srgbClr val="000000"/>
                </a:solidFill>
                <a:latin typeface="Arial"/>
              </a:rPr>
              <a:t>{{CONDUIT_SIZE}} EMT</a:t>
            </a:r>
          </a:p>
        </p:txBody>
      </p:sp>
      <p:sp>
        <p:nvSpPr>
          <p:cNvPr id="40" name="TextBox 39"/>
          <p:cNvSpPr txBox="1"/>
          <p:nvPr/>
        </p:nvSpPr>
        <p:spPr>
          <a:xfrm>
            <a:off x="8723376" y="11256264"/>
            <a:ext cx="512063" cy="164592"/>
          </a:xfrm>
          <a:prstGeom prst="rect">
            <a:avLst/>
          </a:prstGeom>
          <a:noFill/>
        </p:spPr>
        <p:txBody>
          <a:bodyPr wrap="square" lIns="25400" rIns="12700" tIns="12700" bIns="12700"/>
          <a:lstStyle/>
          <a:p>
            <a:pPr algn="l"/>
            <a:r>
              <a:rPr sz="550" b="0" i="0">
                <a:solidFill>
                  <a:srgbClr val="000000"/>
                </a:solidFill>
                <a:latin typeface="Arial"/>
              </a:rPr>
              <a:t>{{PCT}}</a:t>
            </a:r>
          </a:p>
        </p:txBody>
      </p:sp>
      <p:sp>
        <p:nvSpPr>
          <p:cNvPr id="41" name="TextBox 40"/>
          <p:cNvSpPr txBox="1"/>
          <p:nvPr/>
        </p:nvSpPr>
        <p:spPr>
          <a:xfrm>
            <a:off x="9272016" y="11256264"/>
            <a:ext cx="786384" cy="164592"/>
          </a:xfrm>
          <a:prstGeom prst="rect">
            <a:avLst/>
          </a:prstGeom>
          <a:noFill/>
        </p:spPr>
        <p:txBody>
          <a:bodyPr wrap="square" lIns="25400" rIns="12700" tIns="12700" bIns="12700"/>
          <a:lstStyle/>
          <a:p>
            <a:pPr algn="l"/>
            <a:r>
              <a:rPr sz="550" b="0" i="0">
                <a:solidFill>
                  <a:srgbClr val="000000"/>
                </a:solidFill>
                <a:latin typeface="Arial"/>
              </a:rPr>
              <a:t>NEC 310.16</a:t>
            </a:r>
          </a:p>
        </p:txBody>
      </p:sp>
      <p:sp>
        <p:nvSpPr>
          <p:cNvPr id="42" name="Rectangle 41"/>
          <p:cNvSpPr/>
          <p:nvPr/>
        </p:nvSpPr>
        <p:spPr>
          <a:xfrm>
            <a:off x="109728" y="11420856"/>
            <a:ext cx="16596359" cy="182880"/>
          </a:xfrm>
          <a:prstGeom prst="rect">
            <a:avLst/>
          </a:prstGeom>
          <a:solidFill>
            <a:srgbClr val="E8E8E8"/>
          </a:solidFill>
          <a:ln w="127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28016" y="11439144"/>
            <a:ext cx="512063" cy="164592"/>
          </a:xfrm>
          <a:prstGeom prst="rect">
            <a:avLst/>
          </a:prstGeom>
          <a:noFill/>
        </p:spPr>
        <p:txBody>
          <a:bodyPr wrap="square" lIns="25400" rIns="12700" tIns="12700" bIns="12700"/>
          <a:lstStyle/>
          <a:p>
            <a:pPr algn="l"/>
            <a:r>
              <a:rPr sz="550" b="0" i="0">
                <a:solidFill>
                  <a:srgbClr val="000000"/>
                </a:solidFill>
                <a:latin typeface="Arial"/>
              </a:rPr>
              <a:t>C2</a:t>
            </a:r>
          </a:p>
        </p:txBody>
      </p:sp>
      <p:sp>
        <p:nvSpPr>
          <p:cNvPr id="44" name="TextBox 43"/>
          <p:cNvSpPr txBox="1"/>
          <p:nvPr/>
        </p:nvSpPr>
        <p:spPr>
          <a:xfrm>
            <a:off x="676656" y="11439144"/>
            <a:ext cx="1243584" cy="164592"/>
          </a:xfrm>
          <a:prstGeom prst="rect">
            <a:avLst/>
          </a:prstGeom>
          <a:noFill/>
        </p:spPr>
        <p:txBody>
          <a:bodyPr wrap="square" lIns="25400" rIns="12700" tIns="12700" bIns="12700"/>
          <a:lstStyle/>
          <a:p>
            <a:pPr algn="l"/>
            <a:r>
              <a:rPr sz="550" b="0" i="0">
                <a:solidFill>
                  <a:srgbClr val="000000"/>
                </a:solidFill>
                <a:latin typeface="Arial"/>
              </a:rPr>
              <a:t>INVERTER 1</a:t>
            </a:r>
          </a:p>
        </p:txBody>
      </p:sp>
      <p:sp>
        <p:nvSpPr>
          <p:cNvPr id="45" name="TextBox 44"/>
          <p:cNvSpPr txBox="1"/>
          <p:nvPr/>
        </p:nvSpPr>
        <p:spPr>
          <a:xfrm>
            <a:off x="1956816" y="11439144"/>
            <a:ext cx="1243584" cy="164592"/>
          </a:xfrm>
          <a:prstGeom prst="rect">
            <a:avLst/>
          </a:prstGeom>
          <a:noFill/>
        </p:spPr>
        <p:txBody>
          <a:bodyPr wrap="square" lIns="25400" rIns="12700" tIns="12700" bIns="12700"/>
          <a:lstStyle/>
          <a:p>
            <a:pPr algn="l"/>
            <a:r>
              <a:rPr sz="550" b="0" i="0">
                <a:solidFill>
                  <a:srgbClr val="000000"/>
                </a:solidFill>
                <a:latin typeface="Arial"/>
              </a:rPr>
              <a:t>AC DISCO 1</a:t>
            </a:r>
          </a:p>
        </p:txBody>
      </p:sp>
      <p:sp>
        <p:nvSpPr>
          <p:cNvPr id="46" name="TextBox 45"/>
          <p:cNvSpPr txBox="1"/>
          <p:nvPr/>
        </p:nvSpPr>
        <p:spPr>
          <a:xfrm>
            <a:off x="3236976" y="11439144"/>
            <a:ext cx="603503" cy="164592"/>
          </a:xfrm>
          <a:prstGeom prst="rect">
            <a:avLst/>
          </a:prstGeom>
          <a:noFill/>
        </p:spPr>
        <p:txBody>
          <a:bodyPr wrap="square" lIns="25400" rIns="12700" tIns="12700" bIns="12700"/>
          <a:lstStyle/>
          <a:p>
            <a:pPr algn="l"/>
            <a:r>
              <a:rPr sz="550" b="0" i="0">
                <a:solidFill>
                  <a:srgbClr val="000000"/>
                </a:solidFill>
                <a:latin typeface="Arial"/>
              </a:rPr>
              <a:t>3-PH</a:t>
            </a:r>
          </a:p>
        </p:txBody>
      </p:sp>
      <p:sp>
        <p:nvSpPr>
          <p:cNvPr id="47" name="TextBox 46"/>
          <p:cNvSpPr txBox="1"/>
          <p:nvPr/>
        </p:nvSpPr>
        <p:spPr>
          <a:xfrm>
            <a:off x="3877056" y="11439144"/>
            <a:ext cx="694944" cy="164592"/>
          </a:xfrm>
          <a:prstGeom prst="rect">
            <a:avLst/>
          </a:prstGeom>
          <a:noFill/>
        </p:spPr>
        <p:txBody>
          <a:bodyPr wrap="square" lIns="25400" rIns="12700" tIns="12700" bIns="12700"/>
          <a:lstStyle/>
          <a:p>
            <a:pPr algn="l"/>
            <a:r>
              <a:rPr sz="550" b="0" i="0">
                <a:solidFill>
                  <a:srgbClr val="000000"/>
                </a:solidFill>
                <a:latin typeface="Arial"/>
              </a:rPr>
              <a:t>{{INV_AC}}</a:t>
            </a:r>
          </a:p>
        </p:txBody>
      </p:sp>
      <p:sp>
        <p:nvSpPr>
          <p:cNvPr id="48" name="TextBox 47"/>
          <p:cNvSpPr txBox="1"/>
          <p:nvPr/>
        </p:nvSpPr>
        <p:spPr>
          <a:xfrm>
            <a:off x="4608576" y="11439144"/>
            <a:ext cx="786384" cy="164592"/>
          </a:xfrm>
          <a:prstGeom prst="rect">
            <a:avLst/>
          </a:prstGeom>
          <a:noFill/>
        </p:spPr>
        <p:txBody>
          <a:bodyPr wrap="square" lIns="25400" rIns="12700" tIns="12700" bIns="12700"/>
          <a:lstStyle/>
          <a:p>
            <a:pPr algn="l"/>
            <a:r>
              <a:rPr sz="550" b="0" i="0">
                <a:solidFill>
                  <a:srgbClr val="000000"/>
                </a:solidFill>
                <a:latin typeface="Arial"/>
              </a:rPr>
              <a:t>{{ACDIS}}</a:t>
            </a:r>
          </a:p>
        </p:txBody>
      </p:sp>
      <p:sp>
        <p:nvSpPr>
          <p:cNvPr id="49" name="TextBox 48"/>
          <p:cNvSpPr txBox="1"/>
          <p:nvPr/>
        </p:nvSpPr>
        <p:spPr>
          <a:xfrm>
            <a:off x="5431536" y="11439144"/>
            <a:ext cx="694944" cy="164592"/>
          </a:xfrm>
          <a:prstGeom prst="rect">
            <a:avLst/>
          </a:prstGeom>
          <a:noFill/>
        </p:spPr>
        <p:txBody>
          <a:bodyPr wrap="square" lIns="25400" rIns="12700" tIns="12700" bIns="12700"/>
          <a:lstStyle/>
          <a:p>
            <a:pPr algn="l"/>
            <a:r>
              <a:rPr sz="550" b="0" i="0">
                <a:solidFill>
                  <a:srgbClr val="000000"/>
                </a:solidFill>
                <a:latin typeface="Arial"/>
              </a:rPr>
              <a:t>{{FENCE_LEN}}</a:t>
            </a:r>
          </a:p>
        </p:txBody>
      </p:sp>
      <p:sp>
        <p:nvSpPr>
          <p:cNvPr id="50" name="TextBox 49"/>
          <p:cNvSpPr txBox="1"/>
          <p:nvPr/>
        </p:nvSpPr>
        <p:spPr>
          <a:xfrm>
            <a:off x="6163056" y="11439144"/>
            <a:ext cx="877824" cy="164592"/>
          </a:xfrm>
          <a:prstGeom prst="rect">
            <a:avLst/>
          </a:prstGeom>
          <a:noFill/>
        </p:spPr>
        <p:txBody>
          <a:bodyPr wrap="square" lIns="25400" rIns="12700" tIns="12700" bIns="12700"/>
          <a:lstStyle/>
          <a:p>
            <a:pPr algn="l"/>
            <a:r>
              <a:rPr sz="550" b="0" i="0">
                <a:solidFill>
                  <a:srgbClr val="000000"/>
                </a:solidFill>
                <a:latin typeface="Arial"/>
              </a:rPr>
              <a:t>{{WIRE_AWG}}</a:t>
            </a:r>
          </a:p>
        </p:txBody>
      </p:sp>
      <p:sp>
        <p:nvSpPr>
          <p:cNvPr id="51" name="TextBox 50"/>
          <p:cNvSpPr txBox="1"/>
          <p:nvPr/>
        </p:nvSpPr>
        <p:spPr>
          <a:xfrm>
            <a:off x="7077456" y="11439144"/>
            <a:ext cx="694944" cy="164592"/>
          </a:xfrm>
          <a:prstGeom prst="rect">
            <a:avLst/>
          </a:prstGeom>
          <a:noFill/>
        </p:spPr>
        <p:txBody>
          <a:bodyPr wrap="square" lIns="25400" rIns="12700" tIns="12700" bIns="12700"/>
          <a:lstStyle/>
          <a:p>
            <a:pPr algn="l"/>
            <a:r>
              <a:rPr sz="550" b="0" i="0">
                <a:solidFill>
                  <a:srgbClr val="000000"/>
                </a:solidFill>
                <a:latin typeface="Arial"/>
              </a:rPr>
              <a:t>{{WIRE_AWG}}</a:t>
            </a:r>
          </a:p>
        </p:txBody>
      </p:sp>
      <p:sp>
        <p:nvSpPr>
          <p:cNvPr id="52" name="TextBox 51"/>
          <p:cNvSpPr txBox="1"/>
          <p:nvPr/>
        </p:nvSpPr>
        <p:spPr>
          <a:xfrm>
            <a:off x="7808976" y="11439144"/>
            <a:ext cx="877824" cy="164592"/>
          </a:xfrm>
          <a:prstGeom prst="rect">
            <a:avLst/>
          </a:prstGeom>
          <a:noFill/>
        </p:spPr>
        <p:txBody>
          <a:bodyPr wrap="square" lIns="25400" rIns="12700" tIns="12700" bIns="12700"/>
          <a:lstStyle/>
          <a:p>
            <a:pPr algn="l"/>
            <a:r>
              <a:rPr sz="550" b="0" i="0">
                <a:solidFill>
                  <a:srgbClr val="000000"/>
                </a:solidFill>
                <a:latin typeface="Arial"/>
              </a:rPr>
              <a:t>{{CONDUIT_SIZE}} EMT</a:t>
            </a:r>
          </a:p>
        </p:txBody>
      </p:sp>
      <p:sp>
        <p:nvSpPr>
          <p:cNvPr id="53" name="TextBox 52"/>
          <p:cNvSpPr txBox="1"/>
          <p:nvPr/>
        </p:nvSpPr>
        <p:spPr>
          <a:xfrm>
            <a:off x="8723376" y="11439144"/>
            <a:ext cx="512063" cy="164592"/>
          </a:xfrm>
          <a:prstGeom prst="rect">
            <a:avLst/>
          </a:prstGeom>
          <a:noFill/>
        </p:spPr>
        <p:txBody>
          <a:bodyPr wrap="square" lIns="25400" rIns="12700" tIns="12700" bIns="12700"/>
          <a:lstStyle/>
          <a:p>
            <a:pPr algn="l"/>
            <a:r>
              <a:rPr sz="550" b="0" i="0">
                <a:solidFill>
                  <a:srgbClr val="000000"/>
                </a:solidFill>
                <a:latin typeface="Arial"/>
              </a:rPr>
              <a:t>{{PCT}}</a:t>
            </a:r>
          </a:p>
        </p:txBody>
      </p:sp>
      <p:sp>
        <p:nvSpPr>
          <p:cNvPr id="54" name="TextBox 53"/>
          <p:cNvSpPr txBox="1"/>
          <p:nvPr/>
        </p:nvSpPr>
        <p:spPr>
          <a:xfrm>
            <a:off x="9272016" y="11439144"/>
            <a:ext cx="786384" cy="164592"/>
          </a:xfrm>
          <a:prstGeom prst="rect">
            <a:avLst/>
          </a:prstGeom>
          <a:noFill/>
        </p:spPr>
        <p:txBody>
          <a:bodyPr wrap="square" lIns="25400" rIns="12700" tIns="12700" bIns="12700"/>
          <a:lstStyle/>
          <a:p>
            <a:pPr algn="l"/>
            <a:r>
              <a:rPr sz="550" b="0" i="0">
                <a:solidFill>
                  <a:srgbClr val="000000"/>
                </a:solidFill>
                <a:latin typeface="Arial"/>
              </a:rPr>
              <a:t>NEC 310.16</a:t>
            </a:r>
          </a:p>
        </p:txBody>
      </p:sp>
      <p:sp>
        <p:nvSpPr>
          <p:cNvPr id="55" name="Rectangle 54"/>
          <p:cNvSpPr/>
          <p:nvPr/>
        </p:nvSpPr>
        <p:spPr>
          <a:xfrm>
            <a:off x="109728" y="11603736"/>
            <a:ext cx="16596359" cy="182880"/>
          </a:xfrm>
          <a:prstGeom prst="rect">
            <a:avLst/>
          </a:prstGeom>
          <a:solidFill>
            <a:srgbClr val="FFFFFF"/>
          </a:solidFill>
          <a:ln w="127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28016" y="11622024"/>
            <a:ext cx="512063" cy="164592"/>
          </a:xfrm>
          <a:prstGeom prst="rect">
            <a:avLst/>
          </a:prstGeom>
          <a:noFill/>
        </p:spPr>
        <p:txBody>
          <a:bodyPr wrap="square" lIns="25400" rIns="12700" tIns="12700" bIns="12700"/>
          <a:lstStyle/>
          <a:p>
            <a:pPr algn="l"/>
            <a:r>
              <a:rPr sz="550" b="0" i="0">
                <a:solidFill>
                  <a:srgbClr val="000000"/>
                </a:solidFill>
                <a:latin typeface="Arial"/>
              </a:rPr>
              <a:t>C3</a:t>
            </a:r>
          </a:p>
        </p:txBody>
      </p:sp>
      <p:sp>
        <p:nvSpPr>
          <p:cNvPr id="57" name="TextBox 56"/>
          <p:cNvSpPr txBox="1"/>
          <p:nvPr/>
        </p:nvSpPr>
        <p:spPr>
          <a:xfrm>
            <a:off x="676656" y="11622024"/>
            <a:ext cx="1243584" cy="164592"/>
          </a:xfrm>
          <a:prstGeom prst="rect">
            <a:avLst/>
          </a:prstGeom>
          <a:noFill/>
        </p:spPr>
        <p:txBody>
          <a:bodyPr wrap="square" lIns="25400" rIns="12700" tIns="12700" bIns="12700"/>
          <a:lstStyle/>
          <a:p>
            <a:pPr algn="l"/>
            <a:r>
              <a:rPr sz="550" b="0" i="0">
                <a:solidFill>
                  <a:srgbClr val="000000"/>
                </a:solidFill>
                <a:latin typeface="Arial"/>
              </a:rPr>
              <a:t>BESS BANK 2</a:t>
            </a:r>
          </a:p>
        </p:txBody>
      </p:sp>
      <p:sp>
        <p:nvSpPr>
          <p:cNvPr id="58" name="TextBox 57"/>
          <p:cNvSpPr txBox="1"/>
          <p:nvPr/>
        </p:nvSpPr>
        <p:spPr>
          <a:xfrm>
            <a:off x="1956816" y="11622024"/>
            <a:ext cx="1243584" cy="164592"/>
          </a:xfrm>
          <a:prstGeom prst="rect">
            <a:avLst/>
          </a:prstGeom>
          <a:noFill/>
        </p:spPr>
        <p:txBody>
          <a:bodyPr wrap="square" lIns="25400" rIns="12700" tIns="12700" bIns="12700"/>
          <a:lstStyle/>
          <a:p>
            <a:pPr algn="l"/>
            <a:r>
              <a:rPr sz="550" b="0" i="0">
                <a:solidFill>
                  <a:srgbClr val="000000"/>
                </a:solidFill>
                <a:latin typeface="Arial"/>
              </a:rPr>
              <a:t>INVERTER 2</a:t>
            </a:r>
          </a:p>
        </p:txBody>
      </p:sp>
      <p:sp>
        <p:nvSpPr>
          <p:cNvPr id="59" name="TextBox 58"/>
          <p:cNvSpPr txBox="1"/>
          <p:nvPr/>
        </p:nvSpPr>
        <p:spPr>
          <a:xfrm>
            <a:off x="3236976" y="11622024"/>
            <a:ext cx="603503" cy="164592"/>
          </a:xfrm>
          <a:prstGeom prst="rect">
            <a:avLst/>
          </a:prstGeom>
          <a:noFill/>
        </p:spPr>
        <p:txBody>
          <a:bodyPr wrap="square" lIns="25400" rIns="12700" tIns="12700" bIns="12700"/>
          <a:lstStyle/>
          <a:p>
            <a:pPr algn="l"/>
            <a:r>
              <a:rPr sz="550" b="0" i="0">
                <a:solidFill>
                  <a:srgbClr val="000000"/>
                </a:solidFill>
                <a:latin typeface="Arial"/>
              </a:rPr>
              <a:t>DC</a:t>
            </a:r>
          </a:p>
        </p:txBody>
      </p:sp>
      <p:sp>
        <p:nvSpPr>
          <p:cNvPr id="60" name="TextBox 59"/>
          <p:cNvSpPr txBox="1"/>
          <p:nvPr/>
        </p:nvSpPr>
        <p:spPr>
          <a:xfrm>
            <a:off x="3877056" y="11622024"/>
            <a:ext cx="694944" cy="164592"/>
          </a:xfrm>
          <a:prstGeom prst="rect">
            <a:avLst/>
          </a:prstGeom>
          <a:noFill/>
        </p:spPr>
        <p:txBody>
          <a:bodyPr wrap="square" lIns="25400" rIns="12700" tIns="12700" bIns="12700"/>
          <a:lstStyle/>
          <a:p>
            <a:pPr algn="l"/>
            <a:r>
              <a:rPr sz="550" b="0" i="0">
                <a:solidFill>
                  <a:srgbClr val="000000"/>
                </a:solidFill>
                <a:latin typeface="Arial"/>
              </a:rPr>
              <a:t>{{DCV}}</a:t>
            </a:r>
          </a:p>
        </p:txBody>
      </p:sp>
      <p:sp>
        <p:nvSpPr>
          <p:cNvPr id="61" name="TextBox 60"/>
          <p:cNvSpPr txBox="1"/>
          <p:nvPr/>
        </p:nvSpPr>
        <p:spPr>
          <a:xfrm>
            <a:off x="4608576" y="11622024"/>
            <a:ext cx="786384" cy="164592"/>
          </a:xfrm>
          <a:prstGeom prst="rect">
            <a:avLst/>
          </a:prstGeom>
          <a:noFill/>
        </p:spPr>
        <p:txBody>
          <a:bodyPr wrap="square" lIns="25400" rIns="12700" tIns="12700" bIns="12700"/>
          <a:lstStyle/>
          <a:p>
            <a:pPr algn="l"/>
            <a:r>
              <a:rPr sz="550" b="0" i="0">
                <a:solidFill>
                  <a:srgbClr val="000000"/>
                </a:solidFill>
                <a:latin typeface="Arial"/>
              </a:rPr>
              <a:t>{{ACDIS}}</a:t>
            </a:r>
          </a:p>
        </p:txBody>
      </p:sp>
      <p:sp>
        <p:nvSpPr>
          <p:cNvPr id="62" name="TextBox 61"/>
          <p:cNvSpPr txBox="1"/>
          <p:nvPr/>
        </p:nvSpPr>
        <p:spPr>
          <a:xfrm>
            <a:off x="5431536" y="11622024"/>
            <a:ext cx="694944" cy="164592"/>
          </a:xfrm>
          <a:prstGeom prst="rect">
            <a:avLst/>
          </a:prstGeom>
          <a:noFill/>
        </p:spPr>
        <p:txBody>
          <a:bodyPr wrap="square" lIns="25400" rIns="12700" tIns="12700" bIns="12700"/>
          <a:lstStyle/>
          <a:p>
            <a:pPr algn="l"/>
            <a:r>
              <a:rPr sz="550" b="0" i="0">
                <a:solidFill>
                  <a:srgbClr val="000000"/>
                </a:solidFill>
                <a:latin typeface="Arial"/>
              </a:rPr>
              <a:t>{{FENCE_LEN}}</a:t>
            </a:r>
          </a:p>
        </p:txBody>
      </p:sp>
      <p:sp>
        <p:nvSpPr>
          <p:cNvPr id="63" name="TextBox 62"/>
          <p:cNvSpPr txBox="1"/>
          <p:nvPr/>
        </p:nvSpPr>
        <p:spPr>
          <a:xfrm>
            <a:off x="6163056" y="11622024"/>
            <a:ext cx="877824" cy="164592"/>
          </a:xfrm>
          <a:prstGeom prst="rect">
            <a:avLst/>
          </a:prstGeom>
          <a:noFill/>
        </p:spPr>
        <p:txBody>
          <a:bodyPr wrap="square" lIns="25400" rIns="12700" tIns="12700" bIns="12700"/>
          <a:lstStyle/>
          <a:p>
            <a:pPr algn="l"/>
            <a:r>
              <a:rPr sz="550" b="0" i="0">
                <a:solidFill>
                  <a:srgbClr val="000000"/>
                </a:solidFill>
                <a:latin typeface="Arial"/>
              </a:rPr>
              <a:t>{{WIRE_AWG}}</a:t>
            </a:r>
          </a:p>
        </p:txBody>
      </p:sp>
      <p:sp>
        <p:nvSpPr>
          <p:cNvPr id="64" name="TextBox 63"/>
          <p:cNvSpPr txBox="1"/>
          <p:nvPr/>
        </p:nvSpPr>
        <p:spPr>
          <a:xfrm>
            <a:off x="7077456" y="11622024"/>
            <a:ext cx="694944" cy="164592"/>
          </a:xfrm>
          <a:prstGeom prst="rect">
            <a:avLst/>
          </a:prstGeom>
          <a:noFill/>
        </p:spPr>
        <p:txBody>
          <a:bodyPr wrap="square" lIns="25400" rIns="12700" tIns="12700" bIns="12700"/>
          <a:lstStyle/>
          <a:p>
            <a:pPr algn="l"/>
            <a:r>
              <a:rPr sz="550" b="0" i="0">
                <a:solidFill>
                  <a:srgbClr val="000000"/>
                </a:solidFill>
                <a:latin typeface="Arial"/>
              </a:rPr>
              <a:t>{{WIRE_AWG}}</a:t>
            </a:r>
          </a:p>
        </p:txBody>
      </p:sp>
      <p:sp>
        <p:nvSpPr>
          <p:cNvPr id="65" name="TextBox 64"/>
          <p:cNvSpPr txBox="1"/>
          <p:nvPr/>
        </p:nvSpPr>
        <p:spPr>
          <a:xfrm>
            <a:off x="7808976" y="11622024"/>
            <a:ext cx="877824" cy="164592"/>
          </a:xfrm>
          <a:prstGeom prst="rect">
            <a:avLst/>
          </a:prstGeom>
          <a:noFill/>
        </p:spPr>
        <p:txBody>
          <a:bodyPr wrap="square" lIns="25400" rIns="12700" tIns="12700" bIns="12700"/>
          <a:lstStyle/>
          <a:p>
            <a:pPr algn="l"/>
            <a:r>
              <a:rPr sz="550" b="0" i="0">
                <a:solidFill>
                  <a:srgbClr val="000000"/>
                </a:solidFill>
                <a:latin typeface="Arial"/>
              </a:rPr>
              <a:t>{{CONDUIT_SIZE}} EMT</a:t>
            </a:r>
          </a:p>
        </p:txBody>
      </p:sp>
      <p:sp>
        <p:nvSpPr>
          <p:cNvPr id="66" name="TextBox 65"/>
          <p:cNvSpPr txBox="1"/>
          <p:nvPr/>
        </p:nvSpPr>
        <p:spPr>
          <a:xfrm>
            <a:off x="8723376" y="11622024"/>
            <a:ext cx="512063" cy="164592"/>
          </a:xfrm>
          <a:prstGeom prst="rect">
            <a:avLst/>
          </a:prstGeom>
          <a:noFill/>
        </p:spPr>
        <p:txBody>
          <a:bodyPr wrap="square" lIns="25400" rIns="12700" tIns="12700" bIns="12700"/>
          <a:lstStyle/>
          <a:p>
            <a:pPr algn="l"/>
            <a:r>
              <a:rPr sz="550" b="0" i="0">
                <a:solidFill>
                  <a:srgbClr val="000000"/>
                </a:solidFill>
                <a:latin typeface="Arial"/>
              </a:rPr>
              <a:t>{{PCT}}</a:t>
            </a:r>
          </a:p>
        </p:txBody>
      </p:sp>
      <p:sp>
        <p:nvSpPr>
          <p:cNvPr id="67" name="TextBox 66"/>
          <p:cNvSpPr txBox="1"/>
          <p:nvPr/>
        </p:nvSpPr>
        <p:spPr>
          <a:xfrm>
            <a:off x="9272016" y="11622024"/>
            <a:ext cx="786384" cy="164592"/>
          </a:xfrm>
          <a:prstGeom prst="rect">
            <a:avLst/>
          </a:prstGeom>
          <a:noFill/>
        </p:spPr>
        <p:txBody>
          <a:bodyPr wrap="square" lIns="25400" rIns="12700" tIns="12700" bIns="12700"/>
          <a:lstStyle/>
          <a:p>
            <a:pPr algn="l"/>
            <a:r>
              <a:rPr sz="550" b="0" i="0">
                <a:solidFill>
                  <a:srgbClr val="000000"/>
                </a:solidFill>
                <a:latin typeface="Arial"/>
              </a:rPr>
              <a:t>NEC 310.16</a:t>
            </a:r>
          </a:p>
        </p:txBody>
      </p:sp>
      <p:sp>
        <p:nvSpPr>
          <p:cNvPr id="68" name="Rectangle 67"/>
          <p:cNvSpPr/>
          <p:nvPr/>
        </p:nvSpPr>
        <p:spPr>
          <a:xfrm>
            <a:off x="109728" y="11786616"/>
            <a:ext cx="16596359" cy="182880"/>
          </a:xfrm>
          <a:prstGeom prst="rect">
            <a:avLst/>
          </a:prstGeom>
          <a:solidFill>
            <a:srgbClr val="E8E8E8"/>
          </a:solidFill>
          <a:ln w="127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28016" y="11804904"/>
            <a:ext cx="512063" cy="164592"/>
          </a:xfrm>
          <a:prstGeom prst="rect">
            <a:avLst/>
          </a:prstGeom>
          <a:noFill/>
        </p:spPr>
        <p:txBody>
          <a:bodyPr wrap="square" lIns="25400" rIns="12700" tIns="12700" bIns="12700"/>
          <a:lstStyle/>
          <a:p>
            <a:pPr algn="l"/>
            <a:r>
              <a:rPr sz="550" b="0" i="0">
                <a:solidFill>
                  <a:srgbClr val="000000"/>
                </a:solidFill>
                <a:latin typeface="Arial"/>
              </a:rPr>
              <a:t>C4</a:t>
            </a:r>
          </a:p>
        </p:txBody>
      </p:sp>
      <p:sp>
        <p:nvSpPr>
          <p:cNvPr id="70" name="TextBox 69"/>
          <p:cNvSpPr txBox="1"/>
          <p:nvPr/>
        </p:nvSpPr>
        <p:spPr>
          <a:xfrm>
            <a:off x="676656" y="11804904"/>
            <a:ext cx="1243584" cy="164592"/>
          </a:xfrm>
          <a:prstGeom prst="rect">
            <a:avLst/>
          </a:prstGeom>
          <a:noFill/>
        </p:spPr>
        <p:txBody>
          <a:bodyPr wrap="square" lIns="25400" rIns="12700" tIns="12700" bIns="12700"/>
          <a:lstStyle/>
          <a:p>
            <a:pPr algn="l"/>
            <a:r>
              <a:rPr sz="550" b="0" i="0">
                <a:solidFill>
                  <a:srgbClr val="000000"/>
                </a:solidFill>
                <a:latin typeface="Arial"/>
              </a:rPr>
              <a:t>INVERTER 2</a:t>
            </a:r>
          </a:p>
        </p:txBody>
      </p:sp>
      <p:sp>
        <p:nvSpPr>
          <p:cNvPr id="71" name="TextBox 70"/>
          <p:cNvSpPr txBox="1"/>
          <p:nvPr/>
        </p:nvSpPr>
        <p:spPr>
          <a:xfrm>
            <a:off x="1956816" y="11804904"/>
            <a:ext cx="1243584" cy="164592"/>
          </a:xfrm>
          <a:prstGeom prst="rect">
            <a:avLst/>
          </a:prstGeom>
          <a:noFill/>
        </p:spPr>
        <p:txBody>
          <a:bodyPr wrap="square" lIns="25400" rIns="12700" tIns="12700" bIns="12700"/>
          <a:lstStyle/>
          <a:p>
            <a:pPr algn="l"/>
            <a:r>
              <a:rPr sz="550" b="0" i="0">
                <a:solidFill>
                  <a:srgbClr val="000000"/>
                </a:solidFill>
                <a:latin typeface="Arial"/>
              </a:rPr>
              <a:t>AC DISCO 1</a:t>
            </a:r>
          </a:p>
        </p:txBody>
      </p:sp>
      <p:sp>
        <p:nvSpPr>
          <p:cNvPr id="72" name="TextBox 71"/>
          <p:cNvSpPr txBox="1"/>
          <p:nvPr/>
        </p:nvSpPr>
        <p:spPr>
          <a:xfrm>
            <a:off x="3236976" y="11804904"/>
            <a:ext cx="603503" cy="164592"/>
          </a:xfrm>
          <a:prstGeom prst="rect">
            <a:avLst/>
          </a:prstGeom>
          <a:noFill/>
        </p:spPr>
        <p:txBody>
          <a:bodyPr wrap="square" lIns="25400" rIns="12700" tIns="12700" bIns="12700"/>
          <a:lstStyle/>
          <a:p>
            <a:pPr algn="l"/>
            <a:r>
              <a:rPr sz="550" b="0" i="0">
                <a:solidFill>
                  <a:srgbClr val="000000"/>
                </a:solidFill>
                <a:latin typeface="Arial"/>
              </a:rPr>
              <a:t>3-PH</a:t>
            </a:r>
          </a:p>
        </p:txBody>
      </p:sp>
      <p:sp>
        <p:nvSpPr>
          <p:cNvPr id="73" name="TextBox 72"/>
          <p:cNvSpPr txBox="1"/>
          <p:nvPr/>
        </p:nvSpPr>
        <p:spPr>
          <a:xfrm>
            <a:off x="3877056" y="11804904"/>
            <a:ext cx="694944" cy="164592"/>
          </a:xfrm>
          <a:prstGeom prst="rect">
            <a:avLst/>
          </a:prstGeom>
          <a:noFill/>
        </p:spPr>
        <p:txBody>
          <a:bodyPr wrap="square" lIns="25400" rIns="12700" tIns="12700" bIns="12700"/>
          <a:lstStyle/>
          <a:p>
            <a:pPr algn="l"/>
            <a:r>
              <a:rPr sz="550" b="0" i="0">
                <a:solidFill>
                  <a:srgbClr val="000000"/>
                </a:solidFill>
                <a:latin typeface="Arial"/>
              </a:rPr>
              <a:t>{{INV_AC}}</a:t>
            </a:r>
          </a:p>
        </p:txBody>
      </p:sp>
      <p:sp>
        <p:nvSpPr>
          <p:cNvPr id="74" name="TextBox 73"/>
          <p:cNvSpPr txBox="1"/>
          <p:nvPr/>
        </p:nvSpPr>
        <p:spPr>
          <a:xfrm>
            <a:off x="4608576" y="11804904"/>
            <a:ext cx="786384" cy="164592"/>
          </a:xfrm>
          <a:prstGeom prst="rect">
            <a:avLst/>
          </a:prstGeom>
          <a:noFill/>
        </p:spPr>
        <p:txBody>
          <a:bodyPr wrap="square" lIns="25400" rIns="12700" tIns="12700" bIns="12700"/>
          <a:lstStyle/>
          <a:p>
            <a:pPr algn="l"/>
            <a:r>
              <a:rPr sz="550" b="0" i="0">
                <a:solidFill>
                  <a:srgbClr val="000000"/>
                </a:solidFill>
                <a:latin typeface="Arial"/>
              </a:rPr>
              <a:t>{{ACDIS}}</a:t>
            </a:r>
          </a:p>
        </p:txBody>
      </p:sp>
      <p:sp>
        <p:nvSpPr>
          <p:cNvPr id="75" name="TextBox 74"/>
          <p:cNvSpPr txBox="1"/>
          <p:nvPr/>
        </p:nvSpPr>
        <p:spPr>
          <a:xfrm>
            <a:off x="5431536" y="11804904"/>
            <a:ext cx="694944" cy="164592"/>
          </a:xfrm>
          <a:prstGeom prst="rect">
            <a:avLst/>
          </a:prstGeom>
          <a:noFill/>
        </p:spPr>
        <p:txBody>
          <a:bodyPr wrap="square" lIns="25400" rIns="12700" tIns="12700" bIns="12700"/>
          <a:lstStyle/>
          <a:p>
            <a:pPr algn="l"/>
            <a:r>
              <a:rPr sz="550" b="0" i="0">
                <a:solidFill>
                  <a:srgbClr val="000000"/>
                </a:solidFill>
                <a:latin typeface="Arial"/>
              </a:rPr>
              <a:t>{{FENCE_LEN}}</a:t>
            </a:r>
          </a:p>
        </p:txBody>
      </p:sp>
      <p:sp>
        <p:nvSpPr>
          <p:cNvPr id="76" name="TextBox 75"/>
          <p:cNvSpPr txBox="1"/>
          <p:nvPr/>
        </p:nvSpPr>
        <p:spPr>
          <a:xfrm>
            <a:off x="6163056" y="11804904"/>
            <a:ext cx="877824" cy="164592"/>
          </a:xfrm>
          <a:prstGeom prst="rect">
            <a:avLst/>
          </a:prstGeom>
          <a:noFill/>
        </p:spPr>
        <p:txBody>
          <a:bodyPr wrap="square" lIns="25400" rIns="12700" tIns="12700" bIns="12700"/>
          <a:lstStyle/>
          <a:p>
            <a:pPr algn="l"/>
            <a:r>
              <a:rPr sz="550" b="0" i="0">
                <a:solidFill>
                  <a:srgbClr val="000000"/>
                </a:solidFill>
                <a:latin typeface="Arial"/>
              </a:rPr>
              <a:t>{{WIRE_AWG}}</a:t>
            </a:r>
          </a:p>
        </p:txBody>
      </p:sp>
      <p:sp>
        <p:nvSpPr>
          <p:cNvPr id="77" name="TextBox 76"/>
          <p:cNvSpPr txBox="1"/>
          <p:nvPr/>
        </p:nvSpPr>
        <p:spPr>
          <a:xfrm>
            <a:off x="7077456" y="11804904"/>
            <a:ext cx="694944" cy="164592"/>
          </a:xfrm>
          <a:prstGeom prst="rect">
            <a:avLst/>
          </a:prstGeom>
          <a:noFill/>
        </p:spPr>
        <p:txBody>
          <a:bodyPr wrap="square" lIns="25400" rIns="12700" tIns="12700" bIns="12700"/>
          <a:lstStyle/>
          <a:p>
            <a:pPr algn="l"/>
            <a:r>
              <a:rPr sz="550" b="0" i="0">
                <a:solidFill>
                  <a:srgbClr val="000000"/>
                </a:solidFill>
                <a:latin typeface="Arial"/>
              </a:rPr>
              <a:t>{{WIRE_AWG}}</a:t>
            </a:r>
          </a:p>
        </p:txBody>
      </p:sp>
      <p:sp>
        <p:nvSpPr>
          <p:cNvPr id="78" name="TextBox 77"/>
          <p:cNvSpPr txBox="1"/>
          <p:nvPr/>
        </p:nvSpPr>
        <p:spPr>
          <a:xfrm>
            <a:off x="7808976" y="11804904"/>
            <a:ext cx="877824" cy="164592"/>
          </a:xfrm>
          <a:prstGeom prst="rect">
            <a:avLst/>
          </a:prstGeom>
          <a:noFill/>
        </p:spPr>
        <p:txBody>
          <a:bodyPr wrap="square" lIns="25400" rIns="12700" tIns="12700" bIns="12700"/>
          <a:lstStyle/>
          <a:p>
            <a:pPr algn="l"/>
            <a:r>
              <a:rPr sz="550" b="0" i="0">
                <a:solidFill>
                  <a:srgbClr val="000000"/>
                </a:solidFill>
                <a:latin typeface="Arial"/>
              </a:rPr>
              <a:t>{{CONDUIT_SIZE}} EMT</a:t>
            </a:r>
          </a:p>
        </p:txBody>
      </p:sp>
      <p:sp>
        <p:nvSpPr>
          <p:cNvPr id="79" name="TextBox 78"/>
          <p:cNvSpPr txBox="1"/>
          <p:nvPr/>
        </p:nvSpPr>
        <p:spPr>
          <a:xfrm>
            <a:off x="8723376" y="11804904"/>
            <a:ext cx="512063" cy="164592"/>
          </a:xfrm>
          <a:prstGeom prst="rect">
            <a:avLst/>
          </a:prstGeom>
          <a:noFill/>
        </p:spPr>
        <p:txBody>
          <a:bodyPr wrap="square" lIns="25400" rIns="12700" tIns="12700" bIns="12700"/>
          <a:lstStyle/>
          <a:p>
            <a:pPr algn="l"/>
            <a:r>
              <a:rPr sz="550" b="0" i="0">
                <a:solidFill>
                  <a:srgbClr val="000000"/>
                </a:solidFill>
                <a:latin typeface="Arial"/>
              </a:rPr>
              <a:t>{{PCT}}</a:t>
            </a:r>
          </a:p>
        </p:txBody>
      </p:sp>
      <p:sp>
        <p:nvSpPr>
          <p:cNvPr id="80" name="TextBox 79"/>
          <p:cNvSpPr txBox="1"/>
          <p:nvPr/>
        </p:nvSpPr>
        <p:spPr>
          <a:xfrm>
            <a:off x="9272016" y="11804904"/>
            <a:ext cx="786384" cy="164592"/>
          </a:xfrm>
          <a:prstGeom prst="rect">
            <a:avLst/>
          </a:prstGeom>
          <a:noFill/>
        </p:spPr>
        <p:txBody>
          <a:bodyPr wrap="square" lIns="25400" rIns="12700" tIns="12700" bIns="12700"/>
          <a:lstStyle/>
          <a:p>
            <a:pPr algn="l"/>
            <a:r>
              <a:rPr sz="550" b="0" i="0">
                <a:solidFill>
                  <a:srgbClr val="000000"/>
                </a:solidFill>
                <a:latin typeface="Arial"/>
              </a:rPr>
              <a:t>NEC 310.16</a:t>
            </a:r>
          </a:p>
        </p:txBody>
      </p:sp>
      <p:sp>
        <p:nvSpPr>
          <p:cNvPr id="81" name="Rectangle 80"/>
          <p:cNvSpPr/>
          <p:nvPr/>
        </p:nvSpPr>
        <p:spPr>
          <a:xfrm>
            <a:off x="109728" y="11969496"/>
            <a:ext cx="16596359" cy="182880"/>
          </a:xfrm>
          <a:prstGeom prst="rect">
            <a:avLst/>
          </a:prstGeom>
          <a:solidFill>
            <a:srgbClr val="FFFFFF"/>
          </a:solidFill>
          <a:ln w="127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28016" y="11987784"/>
            <a:ext cx="512063" cy="164592"/>
          </a:xfrm>
          <a:prstGeom prst="rect">
            <a:avLst/>
          </a:prstGeom>
          <a:noFill/>
        </p:spPr>
        <p:txBody>
          <a:bodyPr wrap="square" lIns="25400" rIns="12700" tIns="12700" bIns="12700"/>
          <a:lstStyle/>
          <a:p>
            <a:pPr algn="l"/>
            <a:r>
              <a:rPr sz="550" b="0" i="0">
                <a:solidFill>
                  <a:srgbClr val="000000"/>
                </a:solidFill>
                <a:latin typeface="Arial"/>
              </a:rPr>
              <a:t>C5</a:t>
            </a:r>
          </a:p>
        </p:txBody>
      </p:sp>
      <p:sp>
        <p:nvSpPr>
          <p:cNvPr id="83" name="TextBox 82"/>
          <p:cNvSpPr txBox="1"/>
          <p:nvPr/>
        </p:nvSpPr>
        <p:spPr>
          <a:xfrm>
            <a:off x="676656" y="11987784"/>
            <a:ext cx="1243584" cy="164592"/>
          </a:xfrm>
          <a:prstGeom prst="rect">
            <a:avLst/>
          </a:prstGeom>
          <a:noFill/>
        </p:spPr>
        <p:txBody>
          <a:bodyPr wrap="square" lIns="25400" rIns="12700" tIns="12700" bIns="12700"/>
          <a:lstStyle/>
          <a:p>
            <a:pPr algn="l"/>
            <a:r>
              <a:rPr sz="550" b="0" i="0">
                <a:solidFill>
                  <a:srgbClr val="000000"/>
                </a:solidFill>
                <a:latin typeface="Arial"/>
              </a:rPr>
              <a:t>AC DISCO 1</a:t>
            </a:r>
          </a:p>
        </p:txBody>
      </p:sp>
      <p:sp>
        <p:nvSpPr>
          <p:cNvPr id="84" name="TextBox 83"/>
          <p:cNvSpPr txBox="1"/>
          <p:nvPr/>
        </p:nvSpPr>
        <p:spPr>
          <a:xfrm>
            <a:off x="1956816" y="11987784"/>
            <a:ext cx="1243584" cy="164592"/>
          </a:xfrm>
          <a:prstGeom prst="rect">
            <a:avLst/>
          </a:prstGeom>
          <a:noFill/>
        </p:spPr>
        <p:txBody>
          <a:bodyPr wrap="square" lIns="25400" rIns="12700" tIns="12700" bIns="12700"/>
          <a:lstStyle/>
          <a:p>
            <a:pPr algn="l"/>
            <a:r>
              <a:rPr sz="550" b="0" i="0">
                <a:solidFill>
                  <a:srgbClr val="000000"/>
                </a:solidFill>
                <a:latin typeface="Arial"/>
              </a:rPr>
              <a:t>(N) SWITCHGEAR</a:t>
            </a:r>
          </a:p>
        </p:txBody>
      </p:sp>
      <p:sp>
        <p:nvSpPr>
          <p:cNvPr id="85" name="TextBox 84"/>
          <p:cNvSpPr txBox="1"/>
          <p:nvPr/>
        </p:nvSpPr>
        <p:spPr>
          <a:xfrm>
            <a:off x="3236976" y="11987784"/>
            <a:ext cx="603503" cy="164592"/>
          </a:xfrm>
          <a:prstGeom prst="rect">
            <a:avLst/>
          </a:prstGeom>
          <a:noFill/>
        </p:spPr>
        <p:txBody>
          <a:bodyPr wrap="square" lIns="25400" rIns="12700" tIns="12700" bIns="12700"/>
          <a:lstStyle/>
          <a:p>
            <a:pPr algn="l"/>
            <a:r>
              <a:rPr sz="550" b="0" i="0">
                <a:solidFill>
                  <a:srgbClr val="000000"/>
                </a:solidFill>
                <a:latin typeface="Arial"/>
              </a:rPr>
              <a:t>3-PH</a:t>
            </a:r>
          </a:p>
        </p:txBody>
      </p:sp>
      <p:sp>
        <p:nvSpPr>
          <p:cNvPr id="86" name="TextBox 85"/>
          <p:cNvSpPr txBox="1"/>
          <p:nvPr/>
        </p:nvSpPr>
        <p:spPr>
          <a:xfrm>
            <a:off x="3877056" y="11987784"/>
            <a:ext cx="694944" cy="164592"/>
          </a:xfrm>
          <a:prstGeom prst="rect">
            <a:avLst/>
          </a:prstGeom>
          <a:noFill/>
        </p:spPr>
        <p:txBody>
          <a:bodyPr wrap="square" lIns="25400" rIns="12700" tIns="12700" bIns="12700"/>
          <a:lstStyle/>
          <a:p>
            <a:pPr algn="l"/>
            <a:r>
              <a:rPr sz="550" b="0" i="0">
                <a:solidFill>
                  <a:srgbClr val="000000"/>
                </a:solidFill>
                <a:latin typeface="Arial"/>
              </a:rPr>
              <a:t>{{INV_AC}}</a:t>
            </a:r>
          </a:p>
        </p:txBody>
      </p:sp>
      <p:sp>
        <p:nvSpPr>
          <p:cNvPr id="87" name="TextBox 86"/>
          <p:cNvSpPr txBox="1"/>
          <p:nvPr/>
        </p:nvSpPr>
        <p:spPr>
          <a:xfrm>
            <a:off x="4608576" y="11987784"/>
            <a:ext cx="786384" cy="164592"/>
          </a:xfrm>
          <a:prstGeom prst="rect">
            <a:avLst/>
          </a:prstGeom>
          <a:noFill/>
        </p:spPr>
        <p:txBody>
          <a:bodyPr wrap="square" lIns="25400" rIns="12700" tIns="12700" bIns="12700"/>
          <a:lstStyle/>
          <a:p>
            <a:pPr algn="l"/>
            <a:r>
              <a:rPr sz="550" b="0" i="0">
                <a:solidFill>
                  <a:srgbClr val="000000"/>
                </a:solidFill>
                <a:latin typeface="Arial"/>
              </a:rPr>
              <a:t>{{ACDIS}}</a:t>
            </a:r>
          </a:p>
        </p:txBody>
      </p:sp>
      <p:sp>
        <p:nvSpPr>
          <p:cNvPr id="88" name="TextBox 87"/>
          <p:cNvSpPr txBox="1"/>
          <p:nvPr/>
        </p:nvSpPr>
        <p:spPr>
          <a:xfrm>
            <a:off x="5431536" y="11987784"/>
            <a:ext cx="694944" cy="164592"/>
          </a:xfrm>
          <a:prstGeom prst="rect">
            <a:avLst/>
          </a:prstGeom>
          <a:noFill/>
        </p:spPr>
        <p:txBody>
          <a:bodyPr wrap="square" lIns="25400" rIns="12700" tIns="12700" bIns="12700"/>
          <a:lstStyle/>
          <a:p>
            <a:pPr algn="l"/>
            <a:r>
              <a:rPr sz="550" b="0" i="0">
                <a:solidFill>
                  <a:srgbClr val="000000"/>
                </a:solidFill>
                <a:latin typeface="Arial"/>
              </a:rPr>
              <a:t>{{FENCE_LEN}}</a:t>
            </a:r>
          </a:p>
        </p:txBody>
      </p:sp>
      <p:sp>
        <p:nvSpPr>
          <p:cNvPr id="89" name="TextBox 88"/>
          <p:cNvSpPr txBox="1"/>
          <p:nvPr/>
        </p:nvSpPr>
        <p:spPr>
          <a:xfrm>
            <a:off x="6163056" y="11987784"/>
            <a:ext cx="877824" cy="164592"/>
          </a:xfrm>
          <a:prstGeom prst="rect">
            <a:avLst/>
          </a:prstGeom>
          <a:noFill/>
        </p:spPr>
        <p:txBody>
          <a:bodyPr wrap="square" lIns="25400" rIns="12700" tIns="12700" bIns="12700"/>
          <a:lstStyle/>
          <a:p>
            <a:pPr algn="l"/>
            <a:r>
              <a:rPr sz="550" b="0" i="0">
                <a:solidFill>
                  <a:srgbClr val="000000"/>
                </a:solidFill>
                <a:latin typeface="Arial"/>
              </a:rPr>
              <a:t>{{WIRE_AWG}}</a:t>
            </a:r>
          </a:p>
        </p:txBody>
      </p:sp>
      <p:sp>
        <p:nvSpPr>
          <p:cNvPr id="90" name="TextBox 89"/>
          <p:cNvSpPr txBox="1"/>
          <p:nvPr/>
        </p:nvSpPr>
        <p:spPr>
          <a:xfrm>
            <a:off x="7077456" y="11987784"/>
            <a:ext cx="694944" cy="164592"/>
          </a:xfrm>
          <a:prstGeom prst="rect">
            <a:avLst/>
          </a:prstGeom>
          <a:noFill/>
        </p:spPr>
        <p:txBody>
          <a:bodyPr wrap="square" lIns="25400" rIns="12700" tIns="12700" bIns="12700"/>
          <a:lstStyle/>
          <a:p>
            <a:pPr algn="l"/>
            <a:r>
              <a:rPr sz="550" b="0" i="0">
                <a:solidFill>
                  <a:srgbClr val="000000"/>
                </a:solidFill>
                <a:latin typeface="Arial"/>
              </a:rPr>
              <a:t>{{WIRE_AWG}}</a:t>
            </a:r>
          </a:p>
        </p:txBody>
      </p:sp>
      <p:sp>
        <p:nvSpPr>
          <p:cNvPr id="91" name="TextBox 90"/>
          <p:cNvSpPr txBox="1"/>
          <p:nvPr/>
        </p:nvSpPr>
        <p:spPr>
          <a:xfrm>
            <a:off x="7808976" y="11987784"/>
            <a:ext cx="877824" cy="164592"/>
          </a:xfrm>
          <a:prstGeom prst="rect">
            <a:avLst/>
          </a:prstGeom>
          <a:noFill/>
        </p:spPr>
        <p:txBody>
          <a:bodyPr wrap="square" lIns="25400" rIns="12700" tIns="12700" bIns="12700"/>
          <a:lstStyle/>
          <a:p>
            <a:pPr algn="l"/>
            <a:r>
              <a:rPr sz="550" b="0" i="0">
                <a:solidFill>
                  <a:srgbClr val="000000"/>
                </a:solidFill>
                <a:latin typeface="Arial"/>
              </a:rPr>
              <a:t>{{CONDUIT_SIZE}} EMT</a:t>
            </a:r>
          </a:p>
        </p:txBody>
      </p:sp>
      <p:sp>
        <p:nvSpPr>
          <p:cNvPr id="92" name="TextBox 91"/>
          <p:cNvSpPr txBox="1"/>
          <p:nvPr/>
        </p:nvSpPr>
        <p:spPr>
          <a:xfrm>
            <a:off x="8723376" y="11987784"/>
            <a:ext cx="512063" cy="164592"/>
          </a:xfrm>
          <a:prstGeom prst="rect">
            <a:avLst/>
          </a:prstGeom>
          <a:noFill/>
        </p:spPr>
        <p:txBody>
          <a:bodyPr wrap="square" lIns="25400" rIns="12700" tIns="12700" bIns="12700"/>
          <a:lstStyle/>
          <a:p>
            <a:pPr algn="l"/>
            <a:r>
              <a:rPr sz="550" b="0" i="0">
                <a:solidFill>
                  <a:srgbClr val="000000"/>
                </a:solidFill>
                <a:latin typeface="Arial"/>
              </a:rPr>
              <a:t>{{PCT}}</a:t>
            </a:r>
          </a:p>
        </p:txBody>
      </p:sp>
      <p:sp>
        <p:nvSpPr>
          <p:cNvPr id="93" name="TextBox 92"/>
          <p:cNvSpPr txBox="1"/>
          <p:nvPr/>
        </p:nvSpPr>
        <p:spPr>
          <a:xfrm>
            <a:off x="9272016" y="11987784"/>
            <a:ext cx="786384" cy="164592"/>
          </a:xfrm>
          <a:prstGeom prst="rect">
            <a:avLst/>
          </a:prstGeom>
          <a:noFill/>
        </p:spPr>
        <p:txBody>
          <a:bodyPr wrap="square" lIns="25400" rIns="12700" tIns="12700" bIns="12700"/>
          <a:lstStyle/>
          <a:p>
            <a:pPr algn="l"/>
            <a:r>
              <a:rPr sz="550" b="0" i="0">
                <a:solidFill>
                  <a:srgbClr val="000000"/>
                </a:solidFill>
                <a:latin typeface="Arial"/>
              </a:rPr>
              <a:t>NEC 310.16</a:t>
            </a:r>
          </a:p>
        </p:txBody>
      </p:sp>
      <p:sp>
        <p:nvSpPr>
          <p:cNvPr id="94" name="Rectangle 93"/>
          <p:cNvSpPr/>
          <p:nvPr/>
        </p:nvSpPr>
        <p:spPr>
          <a:xfrm>
            <a:off x="109728" y="12152376"/>
            <a:ext cx="16596359" cy="182880"/>
          </a:xfrm>
          <a:prstGeom prst="rect">
            <a:avLst/>
          </a:prstGeom>
          <a:solidFill>
            <a:srgbClr val="E8E8E8"/>
          </a:solidFill>
          <a:ln w="127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128016" y="12170664"/>
            <a:ext cx="512063" cy="164592"/>
          </a:xfrm>
          <a:prstGeom prst="rect">
            <a:avLst/>
          </a:prstGeom>
          <a:noFill/>
        </p:spPr>
        <p:txBody>
          <a:bodyPr wrap="square" lIns="25400" rIns="12700" tIns="12700" bIns="12700"/>
          <a:lstStyle/>
          <a:p>
            <a:pPr algn="l"/>
            <a:r>
              <a:rPr sz="550" b="0" i="0">
                <a:solidFill>
                  <a:srgbClr val="000000"/>
                </a:solidFill>
                <a:latin typeface="Arial"/>
              </a:rPr>
              <a:t>C6</a:t>
            </a:r>
          </a:p>
        </p:txBody>
      </p:sp>
      <p:sp>
        <p:nvSpPr>
          <p:cNvPr id="96" name="TextBox 95"/>
          <p:cNvSpPr txBox="1"/>
          <p:nvPr/>
        </p:nvSpPr>
        <p:spPr>
          <a:xfrm>
            <a:off x="676656" y="12170664"/>
            <a:ext cx="1243584" cy="164592"/>
          </a:xfrm>
          <a:prstGeom prst="rect">
            <a:avLst/>
          </a:prstGeom>
          <a:noFill/>
        </p:spPr>
        <p:txBody>
          <a:bodyPr wrap="square" lIns="25400" rIns="12700" tIns="12700" bIns="12700"/>
          <a:lstStyle/>
          <a:p>
            <a:pPr algn="l"/>
            <a:r>
              <a:rPr sz="550" b="0" i="0">
                <a:solidFill>
                  <a:srgbClr val="000000"/>
                </a:solidFill>
                <a:latin typeface="Arial"/>
              </a:rPr>
              <a:t>XFMR SEC</a:t>
            </a:r>
          </a:p>
        </p:txBody>
      </p:sp>
      <p:sp>
        <p:nvSpPr>
          <p:cNvPr id="97" name="TextBox 96"/>
          <p:cNvSpPr txBox="1"/>
          <p:nvPr/>
        </p:nvSpPr>
        <p:spPr>
          <a:xfrm>
            <a:off x="1956816" y="12170664"/>
            <a:ext cx="1243584" cy="164592"/>
          </a:xfrm>
          <a:prstGeom prst="rect">
            <a:avLst/>
          </a:prstGeom>
          <a:noFill/>
        </p:spPr>
        <p:txBody>
          <a:bodyPr wrap="square" lIns="25400" rIns="12700" tIns="12700" bIns="12700"/>
          <a:lstStyle/>
          <a:p>
            <a:pPr algn="l"/>
            <a:r>
              <a:rPr sz="550" b="0" i="0">
                <a:solidFill>
                  <a:srgbClr val="000000"/>
                </a:solidFill>
                <a:latin typeface="Arial"/>
              </a:rPr>
              <a:t>AUX DISCO</a:t>
            </a:r>
          </a:p>
        </p:txBody>
      </p:sp>
      <p:sp>
        <p:nvSpPr>
          <p:cNvPr id="98" name="TextBox 97"/>
          <p:cNvSpPr txBox="1"/>
          <p:nvPr/>
        </p:nvSpPr>
        <p:spPr>
          <a:xfrm>
            <a:off x="3236976" y="12170664"/>
            <a:ext cx="603503" cy="164592"/>
          </a:xfrm>
          <a:prstGeom prst="rect">
            <a:avLst/>
          </a:prstGeom>
          <a:noFill/>
        </p:spPr>
        <p:txBody>
          <a:bodyPr wrap="square" lIns="25400" rIns="12700" tIns="12700" bIns="12700"/>
          <a:lstStyle/>
          <a:p>
            <a:pPr algn="l"/>
            <a:r>
              <a:rPr sz="550" b="0" i="0">
                <a:solidFill>
                  <a:srgbClr val="000000"/>
                </a:solidFill>
                <a:latin typeface="Arial"/>
              </a:rPr>
              <a:t>3-PH</a:t>
            </a:r>
          </a:p>
        </p:txBody>
      </p:sp>
      <p:sp>
        <p:nvSpPr>
          <p:cNvPr id="99" name="TextBox 98"/>
          <p:cNvSpPr txBox="1"/>
          <p:nvPr/>
        </p:nvSpPr>
        <p:spPr>
          <a:xfrm>
            <a:off x="3877056" y="12170664"/>
            <a:ext cx="694944" cy="164592"/>
          </a:xfrm>
          <a:prstGeom prst="rect">
            <a:avLst/>
          </a:prstGeom>
          <a:noFill/>
        </p:spPr>
        <p:txBody>
          <a:bodyPr wrap="square" lIns="25400" rIns="12700" tIns="12700" bIns="12700"/>
          <a:lstStyle/>
          <a:p>
            <a:pPr algn="l"/>
            <a:r>
              <a:rPr sz="550" b="0" i="0">
                <a:solidFill>
                  <a:srgbClr val="000000"/>
                </a:solidFill>
                <a:latin typeface="Arial"/>
              </a:rPr>
              <a:t>{{INV_AC}}</a:t>
            </a:r>
          </a:p>
        </p:txBody>
      </p:sp>
      <p:sp>
        <p:nvSpPr>
          <p:cNvPr id="100" name="TextBox 99"/>
          <p:cNvSpPr txBox="1"/>
          <p:nvPr/>
        </p:nvSpPr>
        <p:spPr>
          <a:xfrm>
            <a:off x="4608576" y="12170664"/>
            <a:ext cx="786384" cy="164592"/>
          </a:xfrm>
          <a:prstGeom prst="rect">
            <a:avLst/>
          </a:prstGeom>
          <a:noFill/>
        </p:spPr>
        <p:txBody>
          <a:bodyPr wrap="square" lIns="25400" rIns="12700" tIns="12700" bIns="12700"/>
          <a:lstStyle/>
          <a:p>
            <a:pPr algn="l"/>
            <a:r>
              <a:rPr sz="550" b="0" i="0">
                <a:solidFill>
                  <a:srgbClr val="000000"/>
                </a:solidFill>
                <a:latin typeface="Arial"/>
              </a:rPr>
              <a:t>{{ACDIS}}</a:t>
            </a:r>
          </a:p>
        </p:txBody>
      </p:sp>
      <p:sp>
        <p:nvSpPr>
          <p:cNvPr id="101" name="TextBox 100"/>
          <p:cNvSpPr txBox="1"/>
          <p:nvPr/>
        </p:nvSpPr>
        <p:spPr>
          <a:xfrm>
            <a:off x="5431536" y="12170664"/>
            <a:ext cx="694944" cy="164592"/>
          </a:xfrm>
          <a:prstGeom prst="rect">
            <a:avLst/>
          </a:prstGeom>
          <a:noFill/>
        </p:spPr>
        <p:txBody>
          <a:bodyPr wrap="square" lIns="25400" rIns="12700" tIns="12700" bIns="12700"/>
          <a:lstStyle/>
          <a:p>
            <a:pPr algn="l"/>
            <a:r>
              <a:rPr sz="550" b="0" i="0">
                <a:solidFill>
                  <a:srgbClr val="000000"/>
                </a:solidFill>
                <a:latin typeface="Arial"/>
              </a:rPr>
              <a:t>{{FENCE_LEN}}</a:t>
            </a:r>
          </a:p>
        </p:txBody>
      </p:sp>
      <p:sp>
        <p:nvSpPr>
          <p:cNvPr id="102" name="TextBox 101"/>
          <p:cNvSpPr txBox="1"/>
          <p:nvPr/>
        </p:nvSpPr>
        <p:spPr>
          <a:xfrm>
            <a:off x="6163056" y="12170664"/>
            <a:ext cx="877824" cy="164592"/>
          </a:xfrm>
          <a:prstGeom prst="rect">
            <a:avLst/>
          </a:prstGeom>
          <a:noFill/>
        </p:spPr>
        <p:txBody>
          <a:bodyPr wrap="square" lIns="25400" rIns="12700" tIns="12700" bIns="12700"/>
          <a:lstStyle/>
          <a:p>
            <a:pPr algn="l"/>
            <a:r>
              <a:rPr sz="550" b="0" i="0">
                <a:solidFill>
                  <a:srgbClr val="000000"/>
                </a:solidFill>
                <a:latin typeface="Arial"/>
              </a:rPr>
              <a:t>{{WIRE_AWG}}</a:t>
            </a:r>
          </a:p>
        </p:txBody>
      </p:sp>
      <p:sp>
        <p:nvSpPr>
          <p:cNvPr id="103" name="TextBox 102"/>
          <p:cNvSpPr txBox="1"/>
          <p:nvPr/>
        </p:nvSpPr>
        <p:spPr>
          <a:xfrm>
            <a:off x="7077456" y="12170664"/>
            <a:ext cx="694944" cy="164592"/>
          </a:xfrm>
          <a:prstGeom prst="rect">
            <a:avLst/>
          </a:prstGeom>
          <a:noFill/>
        </p:spPr>
        <p:txBody>
          <a:bodyPr wrap="square" lIns="25400" rIns="12700" tIns="12700" bIns="12700"/>
          <a:lstStyle/>
          <a:p>
            <a:pPr algn="l"/>
            <a:r>
              <a:rPr sz="550" b="0" i="0">
                <a:solidFill>
                  <a:srgbClr val="000000"/>
                </a:solidFill>
                <a:latin typeface="Arial"/>
              </a:rPr>
              <a:t>{{WIRE_AWG}}</a:t>
            </a:r>
          </a:p>
        </p:txBody>
      </p:sp>
      <p:sp>
        <p:nvSpPr>
          <p:cNvPr id="104" name="TextBox 103"/>
          <p:cNvSpPr txBox="1"/>
          <p:nvPr/>
        </p:nvSpPr>
        <p:spPr>
          <a:xfrm>
            <a:off x="7808976" y="12170664"/>
            <a:ext cx="877824" cy="164592"/>
          </a:xfrm>
          <a:prstGeom prst="rect">
            <a:avLst/>
          </a:prstGeom>
          <a:noFill/>
        </p:spPr>
        <p:txBody>
          <a:bodyPr wrap="square" lIns="25400" rIns="12700" tIns="12700" bIns="12700"/>
          <a:lstStyle/>
          <a:p>
            <a:pPr algn="l"/>
            <a:r>
              <a:rPr sz="550" b="0" i="0">
                <a:solidFill>
                  <a:srgbClr val="000000"/>
                </a:solidFill>
                <a:latin typeface="Arial"/>
              </a:rPr>
              <a:t>{{CONDUIT_SIZE}} EMT</a:t>
            </a:r>
          </a:p>
        </p:txBody>
      </p:sp>
      <p:sp>
        <p:nvSpPr>
          <p:cNvPr id="105" name="TextBox 104"/>
          <p:cNvSpPr txBox="1"/>
          <p:nvPr/>
        </p:nvSpPr>
        <p:spPr>
          <a:xfrm>
            <a:off x="8723376" y="12170664"/>
            <a:ext cx="512063" cy="164592"/>
          </a:xfrm>
          <a:prstGeom prst="rect">
            <a:avLst/>
          </a:prstGeom>
          <a:noFill/>
        </p:spPr>
        <p:txBody>
          <a:bodyPr wrap="square" lIns="25400" rIns="12700" tIns="12700" bIns="12700"/>
          <a:lstStyle/>
          <a:p>
            <a:pPr algn="l"/>
            <a:r>
              <a:rPr sz="550" b="0" i="0">
                <a:solidFill>
                  <a:srgbClr val="000000"/>
                </a:solidFill>
                <a:latin typeface="Arial"/>
              </a:rPr>
              <a:t>{{PCT}}</a:t>
            </a:r>
          </a:p>
        </p:txBody>
      </p:sp>
      <p:sp>
        <p:nvSpPr>
          <p:cNvPr id="106" name="TextBox 105"/>
          <p:cNvSpPr txBox="1"/>
          <p:nvPr/>
        </p:nvSpPr>
        <p:spPr>
          <a:xfrm>
            <a:off x="9272016" y="12170664"/>
            <a:ext cx="786384" cy="164592"/>
          </a:xfrm>
          <a:prstGeom prst="rect">
            <a:avLst/>
          </a:prstGeom>
          <a:noFill/>
        </p:spPr>
        <p:txBody>
          <a:bodyPr wrap="square" lIns="25400" rIns="12700" tIns="12700" bIns="12700"/>
          <a:lstStyle/>
          <a:p>
            <a:pPr algn="l"/>
            <a:r>
              <a:rPr sz="550" b="0" i="0">
                <a:solidFill>
                  <a:srgbClr val="000000"/>
                </a:solidFill>
                <a:latin typeface="Arial"/>
              </a:rPr>
              <a:t>NEC 310.16</a:t>
            </a:r>
          </a:p>
        </p:txBody>
      </p:sp>
      <p:sp>
        <p:nvSpPr>
          <p:cNvPr id="107" name="Rectangle 106"/>
          <p:cNvSpPr/>
          <p:nvPr/>
        </p:nvSpPr>
        <p:spPr>
          <a:xfrm>
            <a:off x="109728" y="12335256"/>
            <a:ext cx="16596359" cy="182880"/>
          </a:xfrm>
          <a:prstGeom prst="rect">
            <a:avLst/>
          </a:prstGeom>
          <a:solidFill>
            <a:srgbClr val="FFFFFF"/>
          </a:solidFill>
          <a:ln w="127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128016" y="12353544"/>
            <a:ext cx="512063" cy="164592"/>
          </a:xfrm>
          <a:prstGeom prst="rect">
            <a:avLst/>
          </a:prstGeom>
          <a:noFill/>
        </p:spPr>
        <p:txBody>
          <a:bodyPr wrap="square" lIns="25400" rIns="12700" tIns="12700" bIns="12700"/>
          <a:lstStyle/>
          <a:p>
            <a:pPr algn="l"/>
            <a:r>
              <a:rPr sz="550" b="0" i="0">
                <a:solidFill>
                  <a:srgbClr val="000000"/>
                </a:solidFill>
                <a:latin typeface="Arial"/>
              </a:rPr>
              <a:t>C7</a:t>
            </a:r>
          </a:p>
        </p:txBody>
      </p:sp>
      <p:sp>
        <p:nvSpPr>
          <p:cNvPr id="109" name="TextBox 108"/>
          <p:cNvSpPr txBox="1"/>
          <p:nvPr/>
        </p:nvSpPr>
        <p:spPr>
          <a:xfrm>
            <a:off x="676656" y="12353544"/>
            <a:ext cx="1243584" cy="164592"/>
          </a:xfrm>
          <a:prstGeom prst="rect">
            <a:avLst/>
          </a:prstGeom>
          <a:noFill/>
        </p:spPr>
        <p:txBody>
          <a:bodyPr wrap="square" lIns="25400" rIns="12700" tIns="12700" bIns="12700"/>
          <a:lstStyle/>
          <a:p>
            <a:pPr algn="l"/>
            <a:r>
              <a:rPr sz="550" b="0" i="0">
                <a:solidFill>
                  <a:srgbClr val="000000"/>
                </a:solidFill>
                <a:latin typeface="Arial"/>
              </a:rPr>
              <a:t>AUX DISCO</a:t>
            </a:r>
          </a:p>
        </p:txBody>
      </p:sp>
      <p:sp>
        <p:nvSpPr>
          <p:cNvPr id="110" name="TextBox 109"/>
          <p:cNvSpPr txBox="1"/>
          <p:nvPr/>
        </p:nvSpPr>
        <p:spPr>
          <a:xfrm>
            <a:off x="1956816" y="12353544"/>
            <a:ext cx="1243584" cy="164592"/>
          </a:xfrm>
          <a:prstGeom prst="rect">
            <a:avLst/>
          </a:prstGeom>
          <a:noFill/>
        </p:spPr>
        <p:txBody>
          <a:bodyPr wrap="square" lIns="25400" rIns="12700" tIns="12700" bIns="12700"/>
          <a:lstStyle/>
          <a:p>
            <a:pPr algn="l"/>
            <a:r>
              <a:rPr sz="550" b="0" i="0">
                <a:solidFill>
                  <a:srgbClr val="000000"/>
                </a:solidFill>
                <a:latin typeface="Arial"/>
              </a:rPr>
              <a:t>AUX LOADS</a:t>
            </a:r>
          </a:p>
        </p:txBody>
      </p:sp>
      <p:sp>
        <p:nvSpPr>
          <p:cNvPr id="111" name="TextBox 110"/>
          <p:cNvSpPr txBox="1"/>
          <p:nvPr/>
        </p:nvSpPr>
        <p:spPr>
          <a:xfrm>
            <a:off x="3236976" y="12353544"/>
            <a:ext cx="603503" cy="164592"/>
          </a:xfrm>
          <a:prstGeom prst="rect">
            <a:avLst/>
          </a:prstGeom>
          <a:noFill/>
        </p:spPr>
        <p:txBody>
          <a:bodyPr wrap="square" lIns="25400" rIns="12700" tIns="12700" bIns="12700"/>
          <a:lstStyle/>
          <a:p>
            <a:pPr algn="l"/>
            <a:r>
              <a:rPr sz="550" b="0" i="0">
                <a:solidFill>
                  <a:srgbClr val="000000"/>
                </a:solidFill>
                <a:latin typeface="Arial"/>
              </a:rPr>
              <a:t>3-PH</a:t>
            </a:r>
          </a:p>
        </p:txBody>
      </p:sp>
      <p:sp>
        <p:nvSpPr>
          <p:cNvPr id="112" name="TextBox 111"/>
          <p:cNvSpPr txBox="1"/>
          <p:nvPr/>
        </p:nvSpPr>
        <p:spPr>
          <a:xfrm>
            <a:off x="3877056" y="12353544"/>
            <a:ext cx="694944" cy="164592"/>
          </a:xfrm>
          <a:prstGeom prst="rect">
            <a:avLst/>
          </a:prstGeom>
          <a:noFill/>
        </p:spPr>
        <p:txBody>
          <a:bodyPr wrap="square" lIns="25400" rIns="12700" tIns="12700" bIns="12700"/>
          <a:lstStyle/>
          <a:p>
            <a:pPr algn="l"/>
            <a:r>
              <a:rPr sz="550" b="0" i="0">
                <a:solidFill>
                  <a:srgbClr val="000000"/>
                </a:solidFill>
                <a:latin typeface="Arial"/>
              </a:rPr>
              <a:t>{{INV_AC}}</a:t>
            </a:r>
          </a:p>
        </p:txBody>
      </p:sp>
      <p:sp>
        <p:nvSpPr>
          <p:cNvPr id="113" name="TextBox 112"/>
          <p:cNvSpPr txBox="1"/>
          <p:nvPr/>
        </p:nvSpPr>
        <p:spPr>
          <a:xfrm>
            <a:off x="4608576" y="12353544"/>
            <a:ext cx="786384" cy="164592"/>
          </a:xfrm>
          <a:prstGeom prst="rect">
            <a:avLst/>
          </a:prstGeom>
          <a:noFill/>
        </p:spPr>
        <p:txBody>
          <a:bodyPr wrap="square" lIns="25400" rIns="12700" tIns="12700" bIns="12700"/>
          <a:lstStyle/>
          <a:p>
            <a:pPr algn="l"/>
            <a:r>
              <a:rPr sz="550" b="0" i="0">
                <a:solidFill>
                  <a:srgbClr val="000000"/>
                </a:solidFill>
                <a:latin typeface="Arial"/>
              </a:rPr>
              <a:t>{{ACDIS}}</a:t>
            </a:r>
          </a:p>
        </p:txBody>
      </p:sp>
      <p:sp>
        <p:nvSpPr>
          <p:cNvPr id="114" name="TextBox 113"/>
          <p:cNvSpPr txBox="1"/>
          <p:nvPr/>
        </p:nvSpPr>
        <p:spPr>
          <a:xfrm>
            <a:off x="5431536" y="12353544"/>
            <a:ext cx="694944" cy="164592"/>
          </a:xfrm>
          <a:prstGeom prst="rect">
            <a:avLst/>
          </a:prstGeom>
          <a:noFill/>
        </p:spPr>
        <p:txBody>
          <a:bodyPr wrap="square" lIns="25400" rIns="12700" tIns="12700" bIns="12700"/>
          <a:lstStyle/>
          <a:p>
            <a:pPr algn="l"/>
            <a:r>
              <a:rPr sz="550" b="0" i="0">
                <a:solidFill>
                  <a:srgbClr val="000000"/>
                </a:solidFill>
                <a:latin typeface="Arial"/>
              </a:rPr>
              <a:t>{{FENCE_LEN}}</a:t>
            </a:r>
          </a:p>
        </p:txBody>
      </p:sp>
      <p:sp>
        <p:nvSpPr>
          <p:cNvPr id="115" name="TextBox 114"/>
          <p:cNvSpPr txBox="1"/>
          <p:nvPr/>
        </p:nvSpPr>
        <p:spPr>
          <a:xfrm>
            <a:off x="6163056" y="12353544"/>
            <a:ext cx="877824" cy="164592"/>
          </a:xfrm>
          <a:prstGeom prst="rect">
            <a:avLst/>
          </a:prstGeom>
          <a:noFill/>
        </p:spPr>
        <p:txBody>
          <a:bodyPr wrap="square" lIns="25400" rIns="12700" tIns="12700" bIns="12700"/>
          <a:lstStyle/>
          <a:p>
            <a:pPr algn="l"/>
            <a:r>
              <a:rPr sz="550" b="0" i="0">
                <a:solidFill>
                  <a:srgbClr val="000000"/>
                </a:solidFill>
                <a:latin typeface="Arial"/>
              </a:rPr>
              <a:t>{{WIRE_AWG}}</a:t>
            </a:r>
          </a:p>
        </p:txBody>
      </p:sp>
      <p:sp>
        <p:nvSpPr>
          <p:cNvPr id="116" name="TextBox 115"/>
          <p:cNvSpPr txBox="1"/>
          <p:nvPr/>
        </p:nvSpPr>
        <p:spPr>
          <a:xfrm>
            <a:off x="7077456" y="12353544"/>
            <a:ext cx="694944" cy="164592"/>
          </a:xfrm>
          <a:prstGeom prst="rect">
            <a:avLst/>
          </a:prstGeom>
          <a:noFill/>
        </p:spPr>
        <p:txBody>
          <a:bodyPr wrap="square" lIns="25400" rIns="12700" tIns="12700" bIns="12700"/>
          <a:lstStyle/>
          <a:p>
            <a:pPr algn="l"/>
            <a:r>
              <a:rPr sz="550" b="0" i="0">
                <a:solidFill>
                  <a:srgbClr val="000000"/>
                </a:solidFill>
                <a:latin typeface="Arial"/>
              </a:rPr>
              <a:t>{{WIRE_AWG}}</a:t>
            </a:r>
          </a:p>
        </p:txBody>
      </p:sp>
      <p:sp>
        <p:nvSpPr>
          <p:cNvPr id="117" name="TextBox 116"/>
          <p:cNvSpPr txBox="1"/>
          <p:nvPr/>
        </p:nvSpPr>
        <p:spPr>
          <a:xfrm>
            <a:off x="7808976" y="12353544"/>
            <a:ext cx="877824" cy="164592"/>
          </a:xfrm>
          <a:prstGeom prst="rect">
            <a:avLst/>
          </a:prstGeom>
          <a:noFill/>
        </p:spPr>
        <p:txBody>
          <a:bodyPr wrap="square" lIns="25400" rIns="12700" tIns="12700" bIns="12700"/>
          <a:lstStyle/>
          <a:p>
            <a:pPr algn="l"/>
            <a:r>
              <a:rPr sz="550" b="0" i="0">
                <a:solidFill>
                  <a:srgbClr val="000000"/>
                </a:solidFill>
                <a:latin typeface="Arial"/>
              </a:rPr>
              <a:t>{{CONDUIT_SIZE}} EMT</a:t>
            </a:r>
          </a:p>
        </p:txBody>
      </p:sp>
      <p:sp>
        <p:nvSpPr>
          <p:cNvPr id="118" name="TextBox 117"/>
          <p:cNvSpPr txBox="1"/>
          <p:nvPr/>
        </p:nvSpPr>
        <p:spPr>
          <a:xfrm>
            <a:off x="8723376" y="12353544"/>
            <a:ext cx="512063" cy="164592"/>
          </a:xfrm>
          <a:prstGeom prst="rect">
            <a:avLst/>
          </a:prstGeom>
          <a:noFill/>
        </p:spPr>
        <p:txBody>
          <a:bodyPr wrap="square" lIns="25400" rIns="12700" tIns="12700" bIns="12700"/>
          <a:lstStyle/>
          <a:p>
            <a:pPr algn="l"/>
            <a:r>
              <a:rPr sz="550" b="0" i="0">
                <a:solidFill>
                  <a:srgbClr val="000000"/>
                </a:solidFill>
                <a:latin typeface="Arial"/>
              </a:rPr>
              <a:t>{{PCT}}</a:t>
            </a:r>
          </a:p>
        </p:txBody>
      </p:sp>
      <p:sp>
        <p:nvSpPr>
          <p:cNvPr id="119" name="TextBox 118"/>
          <p:cNvSpPr txBox="1"/>
          <p:nvPr/>
        </p:nvSpPr>
        <p:spPr>
          <a:xfrm>
            <a:off x="9272016" y="12353544"/>
            <a:ext cx="786384" cy="164592"/>
          </a:xfrm>
          <a:prstGeom prst="rect">
            <a:avLst/>
          </a:prstGeom>
          <a:noFill/>
        </p:spPr>
        <p:txBody>
          <a:bodyPr wrap="square" lIns="25400" rIns="12700" tIns="12700" bIns="12700"/>
          <a:lstStyle/>
          <a:p>
            <a:pPr algn="l"/>
            <a:r>
              <a:rPr sz="550" b="0" i="0">
                <a:solidFill>
                  <a:srgbClr val="000000"/>
                </a:solidFill>
                <a:latin typeface="Arial"/>
              </a:rPr>
              <a:t>NEC 310.16</a:t>
            </a:r>
          </a:p>
        </p:txBody>
      </p:sp>
      <p:sp>
        <p:nvSpPr>
          <p:cNvPr id="120" name="Rectangle 119"/>
          <p:cNvSpPr/>
          <p:nvPr/>
        </p:nvSpPr>
        <p:spPr>
          <a:xfrm>
            <a:off x="16806672" y="0"/>
            <a:ext cx="3127248" cy="13414248"/>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16824960" y="0"/>
            <a:ext cx="3108960" cy="82296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16870680" y="45720"/>
            <a:ext cx="3017520" cy="731520"/>
          </a:xfrm>
          <a:prstGeom prst="rect">
            <a:avLst/>
          </a:prstGeom>
          <a:noFill/>
        </p:spPr>
        <p:txBody>
          <a:bodyPr wrap="square" lIns="25400" rIns="12700" tIns="12700" bIns="12700"/>
          <a:lstStyle/>
          <a:p>
            <a:pPr algn="ctr"/>
            <a:r>
              <a:rPr sz="2000" b="1" i="0">
                <a:solidFill>
                  <a:srgbClr val="0B1E35"/>
                </a:solidFill>
                <a:latin typeface="Arial"/>
              </a:rPr>
              <a:t>ClearSky</a:t>
            </a:r>
          </a:p>
        </p:txBody>
      </p:sp>
      <p:sp>
        <p:nvSpPr>
          <p:cNvPr id="123" name="TextBox 122"/>
          <p:cNvSpPr txBox="1"/>
          <p:nvPr/>
        </p:nvSpPr>
        <p:spPr>
          <a:xfrm>
            <a:off x="16870680" y="457200"/>
            <a:ext cx="3017520" cy="320040"/>
          </a:xfrm>
          <a:prstGeom prst="rect">
            <a:avLst/>
          </a:prstGeom>
          <a:noFill/>
        </p:spPr>
        <p:txBody>
          <a:bodyPr wrap="square" lIns="25400" rIns="12700" tIns="12700" bIns="12700"/>
          <a:lstStyle/>
          <a:p>
            <a:pPr algn="ctr"/>
            <a:r>
              <a:rPr sz="700" b="1" i="0">
                <a:solidFill>
                  <a:srgbClr val="C9A84C"/>
                </a:solidFill>
                <a:latin typeface="Arial"/>
              </a:rPr>
              <a:t>BUILDERS LLC</a:t>
            </a:r>
          </a:p>
        </p:txBody>
      </p:sp>
      <p:sp>
        <p:nvSpPr>
          <p:cNvPr id="124" name="Rectangle 123"/>
          <p:cNvSpPr/>
          <p:nvPr/>
        </p:nvSpPr>
        <p:spPr>
          <a:xfrm>
            <a:off x="16824960" y="822960"/>
            <a:ext cx="3108960" cy="6858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16870680" y="859536"/>
            <a:ext cx="3017520" cy="612648"/>
          </a:xfrm>
          <a:prstGeom prst="rect">
            <a:avLst/>
          </a:prstGeom>
          <a:noFill/>
        </p:spPr>
        <p:txBody>
          <a:bodyPr wrap="square" lIns="25400" rIns="12700" tIns="12700" bIns="12700"/>
          <a:lstStyle/>
          <a:p>
            <a:pPr algn="l"/>
            <a:r>
              <a:rPr sz="650" b="0">
                <a:solidFill>
                  <a:srgbClr val="000000"/>
                </a:solidFill>
                <a:latin typeface="Arial"/>
              </a:rPr>
              <a:t>PO BOX {{GC_PO_BOX}}</a:t>
            </a:r>
          </a:p>
          <a:p>
            <a:pPr algn="l"/>
            <a:r>
              <a:rPr sz="650" b="0">
                <a:solidFill>
                  <a:srgbClr val="000000"/>
                </a:solidFill>
                <a:latin typeface="Arial"/>
              </a:rPr>
              <a:t>{{GC_CITY}}, {{GC_STATE}} {{GC_ZIP}}</a:t>
            </a:r>
          </a:p>
          <a:p>
            <a:pPr algn="l"/>
            <a:r>
              <a:rPr sz="650" b="0">
                <a:solidFill>
                  <a:srgbClr val="000000"/>
                </a:solidFill>
                <a:latin typeface="Arial"/>
              </a:rPr>
              <a:t>PH: {{GC_PHONE}}</a:t>
            </a:r>
          </a:p>
        </p:txBody>
      </p:sp>
      <p:sp>
        <p:nvSpPr>
          <p:cNvPr id="126" name="Rectangle 125"/>
          <p:cNvSpPr/>
          <p:nvPr/>
        </p:nvSpPr>
        <p:spPr>
          <a:xfrm>
            <a:off x="16824960" y="1508760"/>
            <a:ext cx="3108960" cy="5943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rot="-5400000">
            <a:off x="16916400" y="1600200"/>
            <a:ext cx="2926080" cy="5760720"/>
          </a:xfrm>
          <a:prstGeom prst="rect">
            <a:avLst/>
          </a:prstGeom>
          <a:noFill/>
        </p:spPr>
        <p:txBody>
          <a:bodyPr wrap="none">
            <a:spAutoFit/>
          </a:bodyPr>
          <a:lstStyle/>
          <a:p>
            <a:r>
              <a:rPr sz="800" b="1">
                <a:solidFill>
                  <a:srgbClr val="0B1E35"/>
                </a:solidFill>
                <a:latin typeface="Arial"/>
              </a:rPr>
              <a:t>PN - {{PROJECT_NAME}}</a:t>
            </a:r>
          </a:p>
          <a:p>
            <a:r>
              <a:rPr sz="700" b="0">
                <a:solidFill>
                  <a:srgbClr val="000000"/>
                </a:solidFill>
                <a:latin typeface="Arial"/>
              </a:rPr>
              <a:t>{{SITE_ADDR}}</a:t>
            </a:r>
          </a:p>
          <a:p>
            <a:r>
              <a:rPr sz="700" b="0">
                <a:solidFill>
                  <a:srgbClr val="000000"/>
                </a:solidFill>
                <a:latin typeface="Arial"/>
              </a:rPr>
              <a:t>{{CITY_SHORT}}, {{STATE}} {{ZIP}}</a:t>
            </a:r>
          </a:p>
          <a:p>
            <a:r>
              <a:rPr sz="700" b="0">
                <a:solidFill>
                  <a:srgbClr val="000000"/>
                </a:solidFill>
                <a:latin typeface="Arial"/>
              </a:rPr>
              <a:t>APN: {{APN}}</a:t>
            </a:r>
          </a:p>
        </p:txBody>
      </p:sp>
      <p:sp>
        <p:nvSpPr>
          <p:cNvPr id="128" name="Rectangle 127"/>
          <p:cNvSpPr/>
          <p:nvPr/>
        </p:nvSpPr>
        <p:spPr>
          <a:xfrm>
            <a:off x="16824960" y="7452360"/>
            <a:ext cx="3108960" cy="1645920"/>
          </a:xfrm>
          <a:prstGeom prst="rect">
            <a:avLst/>
          </a:prstGeom>
          <a:solidFill>
            <a:srgbClr val="FFF3A8"/>
          </a:solidFill>
          <a:ln w="1270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16870680" y="7498080"/>
            <a:ext cx="3017520" cy="1554480"/>
          </a:xfrm>
          <a:prstGeom prst="rect">
            <a:avLst/>
          </a:prstGeom>
          <a:solidFill>
            <a:srgbClr val="FFF3A8"/>
          </a:solidFill>
        </p:spPr>
        <p:txBody>
          <a:bodyPr wrap="square" lIns="25400" rIns="12700" tIns="12700" bIns="12700"/>
          <a:lstStyle/>
          <a:p>
            <a:pPr algn="l"/>
            <a:r>
              <a:rPr sz="650" b="0">
                <a:solidFill>
                  <a:srgbClr val="CC0000"/>
                </a:solidFill>
                <a:latin typeface="Arial"/>
              </a:rPr>
              <a:t>{{PERMIT_NO}}</a:t>
            </a:r>
          </a:p>
          <a:p>
            <a:pPr algn="l"/>
            <a:r>
              <a:rPr sz="650" b="0">
                <a:solidFill>
                  <a:srgbClr val="CC0000"/>
                </a:solidFill>
                <a:latin typeface="Arial"/>
              </a:rPr>
              <a:t>REVIEWED FOR COMPLIANCE</a:t>
            </a:r>
          </a:p>
          <a:p>
            <a:pPr algn="l"/>
            <a:r>
              <a:rPr sz="650" b="0">
                <a:solidFill>
                  <a:srgbClr val="CC0000"/>
                </a:solidFill>
                <a:latin typeface="Arial"/>
              </a:rPr>
              <a:t>{{AHJ_CITY}}</a:t>
            </a:r>
          </a:p>
          <a:p>
            <a:pPr algn="l"/>
            <a:r>
              <a:rPr sz="650" b="0">
                <a:solidFill>
                  <a:srgbClr val="CC0000"/>
                </a:solidFill>
                <a:latin typeface="Arial"/>
              </a:rPr>
              <a:t>{{AHJ_DEPT}}</a:t>
            </a:r>
          </a:p>
          <a:p>
            <a:pPr algn="l"/>
            <a:r>
              <a:rPr sz="650" b="0">
                <a:solidFill>
                  <a:srgbClr val="CC0000"/>
                </a:solidFill>
                <a:latin typeface="Arial"/>
              </a:rPr>
              <a:t>For {{PROJECT_NAME}} Subject to Code Compliance.</a:t>
            </a:r>
          </a:p>
          <a:p>
            <a:pPr algn="l"/>
            <a:r>
              <a:rPr sz="650" b="0">
                <a:solidFill>
                  <a:srgbClr val="CC0000"/>
                </a:solidFill>
                <a:latin typeface="Arial"/>
              </a:rPr>
              <a:t>REVISIONS NEED REVIEW</a:t>
            </a:r>
          </a:p>
        </p:txBody>
      </p:sp>
      <p:sp>
        <p:nvSpPr>
          <p:cNvPr id="130" name="Rectangle 129"/>
          <p:cNvSpPr/>
          <p:nvPr/>
        </p:nvSpPr>
        <p:spPr>
          <a:xfrm>
            <a:off x="16824960" y="9098280"/>
            <a:ext cx="3108960" cy="109728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16824960" y="9098280"/>
            <a:ext cx="3108960" cy="201168"/>
          </a:xfrm>
          <a:prstGeom prst="rect">
            <a:avLst/>
          </a:prstGeom>
          <a:solidFill>
            <a:srgbClr val="E8E8E8"/>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16852392" y="9125712"/>
            <a:ext cx="640080" cy="164592"/>
          </a:xfrm>
          <a:prstGeom prst="rect">
            <a:avLst/>
          </a:prstGeom>
          <a:noFill/>
        </p:spPr>
        <p:txBody>
          <a:bodyPr wrap="square" lIns="25400" rIns="12700" tIns="12700" bIns="12700"/>
          <a:lstStyle/>
          <a:p>
            <a:pPr algn="l"/>
            <a:r>
              <a:rPr sz="600" b="1" i="0">
                <a:solidFill>
                  <a:srgbClr val="000000"/>
                </a:solidFill>
                <a:latin typeface="Arial"/>
              </a:rPr>
              <a:t>DATE</a:t>
            </a:r>
          </a:p>
        </p:txBody>
      </p:sp>
      <p:sp>
        <p:nvSpPr>
          <p:cNvPr id="133" name="TextBox 132"/>
          <p:cNvSpPr txBox="1"/>
          <p:nvPr/>
        </p:nvSpPr>
        <p:spPr>
          <a:xfrm>
            <a:off x="17510760" y="9125712"/>
            <a:ext cx="365760" cy="164592"/>
          </a:xfrm>
          <a:prstGeom prst="rect">
            <a:avLst/>
          </a:prstGeom>
          <a:noFill/>
        </p:spPr>
        <p:txBody>
          <a:bodyPr wrap="square" lIns="25400" rIns="12700" tIns="12700" bIns="12700"/>
          <a:lstStyle/>
          <a:p>
            <a:pPr algn="l"/>
            <a:r>
              <a:rPr sz="600" b="1" i="0">
                <a:solidFill>
                  <a:srgbClr val="000000"/>
                </a:solidFill>
                <a:latin typeface="Arial"/>
              </a:rPr>
              <a:t>REV</a:t>
            </a:r>
          </a:p>
        </p:txBody>
      </p:sp>
      <p:sp>
        <p:nvSpPr>
          <p:cNvPr id="134" name="TextBox 133"/>
          <p:cNvSpPr txBox="1"/>
          <p:nvPr/>
        </p:nvSpPr>
        <p:spPr>
          <a:xfrm>
            <a:off x="17922240" y="9125712"/>
            <a:ext cx="1828800" cy="164592"/>
          </a:xfrm>
          <a:prstGeom prst="rect">
            <a:avLst/>
          </a:prstGeom>
          <a:noFill/>
        </p:spPr>
        <p:txBody>
          <a:bodyPr wrap="square" lIns="25400" rIns="12700" tIns="12700" bIns="12700"/>
          <a:lstStyle/>
          <a:p>
            <a:pPr algn="l"/>
            <a:r>
              <a:rPr sz="600" b="1" i="0">
                <a:solidFill>
                  <a:srgbClr val="000000"/>
                </a:solidFill>
                <a:latin typeface="Arial"/>
              </a:rPr>
              <a:t>COMMENTS</a:t>
            </a:r>
          </a:p>
        </p:txBody>
      </p:sp>
      <p:sp>
        <p:nvSpPr>
          <p:cNvPr id="135" name="TextBox 134"/>
          <p:cNvSpPr txBox="1"/>
          <p:nvPr/>
        </p:nvSpPr>
        <p:spPr>
          <a:xfrm>
            <a:off x="16852392" y="9326880"/>
            <a:ext cx="640080" cy="164592"/>
          </a:xfrm>
          <a:prstGeom prst="rect">
            <a:avLst/>
          </a:prstGeom>
          <a:noFill/>
        </p:spPr>
        <p:txBody>
          <a:bodyPr wrap="square" lIns="25400" rIns="12700" tIns="12700" bIns="12700"/>
          <a:lstStyle/>
          <a:p>
            <a:pPr algn="l"/>
            <a:r>
              <a:rPr sz="600" b="0" i="0">
                <a:solidFill>
                  <a:srgbClr val="000000"/>
                </a:solidFill>
                <a:latin typeface="Arial"/>
              </a:rPr>
              <a:t>{{ISSUE_DATE}}</a:t>
            </a:r>
          </a:p>
        </p:txBody>
      </p:sp>
      <p:sp>
        <p:nvSpPr>
          <p:cNvPr id="136" name="TextBox 135"/>
          <p:cNvSpPr txBox="1"/>
          <p:nvPr/>
        </p:nvSpPr>
        <p:spPr>
          <a:xfrm>
            <a:off x="17510760" y="9326880"/>
            <a:ext cx="365760" cy="164592"/>
          </a:xfrm>
          <a:prstGeom prst="rect">
            <a:avLst/>
          </a:prstGeom>
          <a:noFill/>
        </p:spPr>
        <p:txBody>
          <a:bodyPr wrap="square" lIns="25400" rIns="12700" tIns="12700" bIns="12700"/>
          <a:lstStyle/>
          <a:p>
            <a:pPr algn="l"/>
            <a:r>
              <a:rPr sz="600" b="0" i="0">
                <a:solidFill>
                  <a:srgbClr val="000000"/>
                </a:solidFill>
                <a:latin typeface="Arial"/>
              </a:rPr>
              <a:t>00</a:t>
            </a:r>
          </a:p>
        </p:txBody>
      </p:sp>
      <p:sp>
        <p:nvSpPr>
          <p:cNvPr id="137" name="TextBox 136"/>
          <p:cNvSpPr txBox="1"/>
          <p:nvPr/>
        </p:nvSpPr>
        <p:spPr>
          <a:xfrm>
            <a:off x="17922240" y="9326880"/>
            <a:ext cx="1828800" cy="164592"/>
          </a:xfrm>
          <a:prstGeom prst="rect">
            <a:avLst/>
          </a:prstGeom>
          <a:noFill/>
        </p:spPr>
        <p:txBody>
          <a:bodyPr wrap="square" lIns="25400" rIns="12700" tIns="12700" bIns="12700"/>
          <a:lstStyle/>
          <a:p>
            <a:pPr algn="l"/>
            <a:r>
              <a:rPr sz="600" b="0" i="0">
                <a:solidFill>
                  <a:srgbClr val="000000"/>
                </a:solidFill>
                <a:latin typeface="Arial"/>
              </a:rPr>
              <a:t>ISSUE FOR PERMIT</a:t>
            </a:r>
          </a:p>
        </p:txBody>
      </p:sp>
      <p:sp>
        <p:nvSpPr>
          <p:cNvPr id="138" name="TextBox 137"/>
          <p:cNvSpPr txBox="1"/>
          <p:nvPr/>
        </p:nvSpPr>
        <p:spPr>
          <a:xfrm>
            <a:off x="16852392" y="9528048"/>
            <a:ext cx="64008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139" name="TextBox 138"/>
          <p:cNvSpPr txBox="1"/>
          <p:nvPr/>
        </p:nvSpPr>
        <p:spPr>
          <a:xfrm>
            <a:off x="17510760" y="9528048"/>
            <a:ext cx="36576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140" name="TextBox 139"/>
          <p:cNvSpPr txBox="1"/>
          <p:nvPr/>
        </p:nvSpPr>
        <p:spPr>
          <a:xfrm>
            <a:off x="17922240" y="9528048"/>
            <a:ext cx="182880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141" name="TextBox 140"/>
          <p:cNvSpPr txBox="1"/>
          <p:nvPr/>
        </p:nvSpPr>
        <p:spPr>
          <a:xfrm>
            <a:off x="16852392" y="9729216"/>
            <a:ext cx="64008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142" name="TextBox 141"/>
          <p:cNvSpPr txBox="1"/>
          <p:nvPr/>
        </p:nvSpPr>
        <p:spPr>
          <a:xfrm>
            <a:off x="17510760" y="9729216"/>
            <a:ext cx="36576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143" name="TextBox 142"/>
          <p:cNvSpPr txBox="1"/>
          <p:nvPr/>
        </p:nvSpPr>
        <p:spPr>
          <a:xfrm>
            <a:off x="17922240" y="9729216"/>
            <a:ext cx="182880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144" name="TextBox 143"/>
          <p:cNvSpPr txBox="1"/>
          <p:nvPr/>
        </p:nvSpPr>
        <p:spPr>
          <a:xfrm>
            <a:off x="16852392" y="9930384"/>
            <a:ext cx="64008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145" name="TextBox 144"/>
          <p:cNvSpPr txBox="1"/>
          <p:nvPr/>
        </p:nvSpPr>
        <p:spPr>
          <a:xfrm>
            <a:off x="17510760" y="9930384"/>
            <a:ext cx="36576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146" name="TextBox 145"/>
          <p:cNvSpPr txBox="1"/>
          <p:nvPr/>
        </p:nvSpPr>
        <p:spPr>
          <a:xfrm>
            <a:off x="17922240" y="9930384"/>
            <a:ext cx="182880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147" name="Rectangle 146"/>
          <p:cNvSpPr/>
          <p:nvPr/>
        </p:nvSpPr>
        <p:spPr>
          <a:xfrm>
            <a:off x="16824960" y="10195560"/>
            <a:ext cx="3108960" cy="73152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16824960" y="10213848"/>
            <a:ext cx="3108960" cy="457200"/>
          </a:xfrm>
          <a:prstGeom prst="rect">
            <a:avLst/>
          </a:prstGeom>
          <a:noFill/>
        </p:spPr>
        <p:txBody>
          <a:bodyPr wrap="square" lIns="25400" rIns="12700" tIns="12700" bIns="12700"/>
          <a:lstStyle/>
          <a:p>
            <a:pPr algn="ctr"/>
            <a:r>
              <a:rPr sz="2800" b="1" i="0">
                <a:solidFill>
                  <a:srgbClr val="0B1E35"/>
                </a:solidFill>
                <a:latin typeface="Arial"/>
              </a:rPr>
              <a:t>E2.0</a:t>
            </a:r>
          </a:p>
        </p:txBody>
      </p:sp>
      <p:sp>
        <p:nvSpPr>
          <p:cNvPr id="149" name="TextBox 148"/>
          <p:cNvSpPr txBox="1"/>
          <p:nvPr/>
        </p:nvSpPr>
        <p:spPr>
          <a:xfrm>
            <a:off x="16824960" y="10671048"/>
            <a:ext cx="3108960" cy="237744"/>
          </a:xfrm>
          <a:prstGeom prst="rect">
            <a:avLst/>
          </a:prstGeom>
          <a:noFill/>
        </p:spPr>
        <p:txBody>
          <a:bodyPr wrap="square" lIns="25400" rIns="12700" tIns="12700" bIns="12700"/>
          <a:lstStyle/>
          <a:p>
            <a:pPr algn="ctr"/>
            <a:r>
              <a:rPr sz="800" b="1" i="0">
                <a:solidFill>
                  <a:srgbClr val="000000"/>
                </a:solidFill>
                <a:latin typeface="Arial"/>
              </a:rPr>
              <a:t>SINGLE LINE DIAGRAM</a:t>
            </a:r>
          </a:p>
        </p:txBody>
      </p:sp>
      <p:sp>
        <p:nvSpPr>
          <p:cNvPr id="150" name="Rectangle 149"/>
          <p:cNvSpPr/>
          <p:nvPr/>
        </p:nvSpPr>
        <p:spPr>
          <a:xfrm>
            <a:off x="16824960" y="10927080"/>
            <a:ext cx="3108960" cy="2487168"/>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16870680" y="10963656"/>
            <a:ext cx="3017520" cy="2395728"/>
          </a:xfrm>
          <a:prstGeom prst="rect">
            <a:avLst/>
          </a:prstGeom>
          <a:noFill/>
        </p:spPr>
        <p:txBody>
          <a:bodyPr wrap="square" lIns="25400" rIns="12700" tIns="12700" bIns="12700"/>
          <a:lstStyle/>
          <a:p>
            <a:pPr algn="l"/>
            <a:r>
              <a:rPr sz="650" b="0">
                <a:solidFill>
                  <a:srgbClr val="000000"/>
                </a:solidFill>
                <a:latin typeface="Arial"/>
              </a:rPr>
              <a:t>ISSUE DATE</a:t>
            </a:r>
          </a:p>
          <a:p>
            <a:pPr algn="l"/>
            <a:r>
              <a:rPr sz="650" b="0">
                <a:solidFill>
                  <a:srgbClr val="000000"/>
                </a:solidFill>
                <a:latin typeface="Arial"/>
              </a:rPr>
              <a:t>{{ISSUE_DATE}}</a:t>
            </a:r>
          </a:p>
          <a:p>
            <a:pPr algn="l"/>
            <a:r>
              <a:rPr sz="650" b="0">
                <a:solidFill>
                  <a:srgbClr val="000000"/>
                </a:solidFill>
                <a:latin typeface="Arial"/>
              </a:rPr>
              <a:t>REVISION DATE</a:t>
            </a:r>
          </a:p>
          <a:p>
            <a:pPr algn="l"/>
            <a:r>
              <a:rPr sz="650" b="0">
                <a:solidFill>
                  <a:srgbClr val="000000"/>
                </a:solidFill>
                <a:latin typeface="Arial"/>
              </a:rPr>
              <a:t>{{ISSUE_DATE}}</a:t>
            </a:r>
          </a:p>
          <a:p>
            <a:pPr algn="l"/>
            <a:r>
              <a:rPr sz="650" b="0">
                <a:solidFill>
                  <a:srgbClr val="000000"/>
                </a:solidFill>
                <a:latin typeface="Arial"/>
              </a:rPr>
              <a:t>DESIGNED BY</a:t>
            </a:r>
          </a:p>
          <a:p>
            <a:pPr algn="l"/>
            <a:r>
              <a:rPr sz="650" b="0">
                <a:solidFill>
                  <a:srgbClr val="000000"/>
                </a:solidFill>
                <a:latin typeface="Arial"/>
              </a:rPr>
              <a:t>{{DESIGNED_BY}}</a:t>
            </a:r>
          </a:p>
          <a:p>
            <a:pPr algn="l"/>
            <a:r>
              <a:rPr sz="650" b="0">
                <a:solidFill>
                  <a:srgbClr val="000000"/>
                </a:solidFill>
                <a:latin typeface="Arial"/>
              </a:rPr>
              <a:t>CHECKED BY</a:t>
            </a:r>
          </a:p>
          <a:p>
            <a:pPr algn="l"/>
            <a:r>
              <a:rPr sz="650" b="0">
                <a:solidFill>
                  <a:srgbClr val="000000"/>
                </a:solidFill>
                <a:latin typeface="Arial"/>
              </a:rPr>
              <a:t>{{CHECKED_BY}}</a:t>
            </a:r>
          </a:p>
          <a:p>
            <a:pPr algn="l"/>
            <a:r>
              <a:rPr sz="650" b="0">
                <a:solidFill>
                  <a:srgbClr val="000000"/>
                </a:solidFill>
                <a:latin typeface="Arial"/>
              </a:rPr>
              <a:t>JOB NO.</a:t>
            </a:r>
          </a:p>
          <a:p>
            <a:pPr algn="l"/>
            <a:r>
              <a:rPr sz="650" b="0">
                <a:solidFill>
                  <a:srgbClr val="000000"/>
                </a:solidFill>
                <a:latin typeface="Arial"/>
              </a:rPr>
              <a:t>{{JOB_NO}}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00584" y="100584"/>
            <a:ext cx="16614647" cy="13213080"/>
          </a:xfrm>
          <a:prstGeom prst="rect">
            <a:avLst/>
          </a:prstGeom>
          <a:noFill/>
          <a:ln w="9525">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201168"/>
            <a:ext cx="16413479" cy="274320"/>
          </a:xfrm>
          <a:prstGeom prst="rect">
            <a:avLst/>
          </a:prstGeom>
          <a:noFill/>
        </p:spPr>
        <p:txBody>
          <a:bodyPr wrap="square" lIns="25400" rIns="12700" tIns="12700" bIns="12700"/>
          <a:lstStyle/>
          <a:p>
            <a:pPr algn="l"/>
            <a:r>
              <a:rPr sz="900" b="1" i="0">
                <a:solidFill>
                  <a:srgbClr val="0B1E35"/>
                </a:solidFill>
                <a:latin typeface="Arial"/>
              </a:rPr>
              <a:t>SIGNAGE REQUIREMENTS — PER NEC 706.15 AND IFC 1207</a:t>
            </a:r>
          </a:p>
        </p:txBody>
      </p:sp>
      <p:sp>
        <p:nvSpPr>
          <p:cNvPr id="4" name="TextBox 3"/>
          <p:cNvSpPr txBox="1"/>
          <p:nvPr/>
        </p:nvSpPr>
        <p:spPr>
          <a:xfrm>
            <a:off x="109728" y="356616"/>
            <a:ext cx="7302397" cy="228600"/>
          </a:xfrm>
          <a:prstGeom prst="rect">
            <a:avLst/>
          </a:prstGeom>
          <a:noFill/>
        </p:spPr>
        <p:txBody>
          <a:bodyPr wrap="square" lIns="25400" rIns="12700" tIns="12700" bIns="12700"/>
          <a:lstStyle/>
          <a:p>
            <a:pPr algn="l"/>
            <a:r>
              <a:rPr sz="650" b="0" i="0">
                <a:solidFill>
                  <a:srgbClr val="000000"/>
                </a:solidFill>
                <a:latin typeface="Arial"/>
              </a:rPr>
              <a:t>LOCATION: BESS    QUANTITY: 1    TEXT: HEADER 34pt (0.472") SUB 18pt (0.25")</a:t>
            </a:r>
          </a:p>
        </p:txBody>
      </p:sp>
      <p:sp>
        <p:nvSpPr>
          <p:cNvPr id="5" name="Rectangle 4"/>
          <p:cNvSpPr/>
          <p:nvPr/>
        </p:nvSpPr>
        <p:spPr>
          <a:xfrm>
            <a:off x="109728" y="612648"/>
            <a:ext cx="7302397" cy="3200400"/>
          </a:xfrm>
          <a:prstGeom prst="rect">
            <a:avLst/>
          </a:prstGeom>
          <a:solidFill>
            <a:srgbClr val="FFFFFF"/>
          </a:solidFill>
          <a:ln w="2540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01168" y="704088"/>
            <a:ext cx="7119517" cy="411480"/>
          </a:xfrm>
          <a:prstGeom prst="rect">
            <a:avLst/>
          </a:prstGeom>
          <a:noFill/>
        </p:spPr>
        <p:txBody>
          <a:bodyPr wrap="square" lIns="25400" rIns="12700" tIns="12700" bIns="12700"/>
          <a:lstStyle/>
          <a:p>
            <a:pPr algn="ctr"/>
            <a:r>
              <a:rPr sz="2400" b="1" i="0">
                <a:solidFill>
                  <a:srgbClr val="CC0000"/>
                </a:solidFill>
                <a:latin typeface="Arial"/>
              </a:rPr>
              <a:t>CAUTION:</a:t>
            </a:r>
          </a:p>
        </p:txBody>
      </p:sp>
      <p:sp>
        <p:nvSpPr>
          <p:cNvPr id="7" name="TextBox 6"/>
          <p:cNvSpPr txBox="1"/>
          <p:nvPr/>
        </p:nvSpPr>
        <p:spPr>
          <a:xfrm>
            <a:off x="201168" y="1115568"/>
            <a:ext cx="7119517" cy="457200"/>
          </a:xfrm>
          <a:prstGeom prst="rect">
            <a:avLst/>
          </a:prstGeom>
          <a:noFill/>
        </p:spPr>
        <p:txBody>
          <a:bodyPr wrap="square" lIns="25400" rIns="12700" tIns="12700" bIns="12700"/>
          <a:lstStyle/>
          <a:p>
            <a:pPr algn="ctr"/>
            <a:r>
              <a:rPr sz="900" b="1" i="0">
                <a:solidFill>
                  <a:srgbClr val="000000"/>
                </a:solidFill>
                <a:latin typeface="Arial"/>
              </a:rPr>
              <a:t>THIS SERVICE SUPPLIED BY ALTERNATIVE POWER
SOURCES WITH DISCONNECTS LOCATED AS SHOWN</a:t>
            </a:r>
          </a:p>
        </p:txBody>
      </p:sp>
      <p:sp>
        <p:nvSpPr>
          <p:cNvPr id="8" name="Rectangle 7"/>
          <p:cNvSpPr/>
          <p:nvPr/>
        </p:nvSpPr>
        <p:spPr>
          <a:xfrm>
            <a:off x="201168" y="1709928"/>
            <a:ext cx="7119517" cy="1645920"/>
          </a:xfrm>
          <a:prstGeom prst="rect">
            <a:avLst/>
          </a:prstGeom>
          <a:solidFill>
            <a:srgbClr val="E26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1168" y="2405888"/>
            <a:ext cx="7119517" cy="254000"/>
          </a:xfrm>
          <a:prstGeom prst="rect">
            <a:avLst/>
          </a:prstGeom>
          <a:noFill/>
        </p:spPr>
        <p:txBody>
          <a:bodyPr wrap="square" lIns="25400" rIns="12700" tIns="12700" bIns="12700"/>
          <a:lstStyle/>
          <a:p>
            <a:pPr algn="ctr"/>
            <a:r>
              <a:rPr sz="1400" b="0" i="0">
                <a:solidFill>
                  <a:srgbClr val="FFFFFF"/>
                </a:solidFill>
                <a:latin typeface="Arial"/>
              </a:rPr>
              <a:t>E4.0 BESS SIGN MAP</a:t>
            </a:r>
          </a:p>
        </p:txBody>
      </p:sp>
      <p:sp>
        <p:nvSpPr>
          <p:cNvPr id="10" name="TextBox 9"/>
          <p:cNvSpPr txBox="1"/>
          <p:nvPr/>
        </p:nvSpPr>
        <p:spPr>
          <a:xfrm>
            <a:off x="7835493" y="356616"/>
            <a:ext cx="7302397" cy="228600"/>
          </a:xfrm>
          <a:prstGeom prst="rect">
            <a:avLst/>
          </a:prstGeom>
          <a:noFill/>
        </p:spPr>
        <p:txBody>
          <a:bodyPr wrap="square" lIns="25400" rIns="12700" tIns="12700" bIns="12700"/>
          <a:lstStyle/>
          <a:p>
            <a:pPr algn="l"/>
            <a:r>
              <a:rPr sz="650" b="0" i="0">
                <a:solidFill>
                  <a:srgbClr val="000000"/>
                </a:solidFill>
                <a:latin typeface="Arial"/>
              </a:rPr>
              <a:t>LOCATION: MSB    QUANTITY: 1    TEXT: HEADER 34pt (0.472") SUB 18pt (0.25")</a:t>
            </a:r>
          </a:p>
        </p:txBody>
      </p:sp>
      <p:sp>
        <p:nvSpPr>
          <p:cNvPr id="11" name="Rectangle 10"/>
          <p:cNvSpPr/>
          <p:nvPr/>
        </p:nvSpPr>
        <p:spPr>
          <a:xfrm>
            <a:off x="7835493" y="612648"/>
            <a:ext cx="7302397" cy="3200400"/>
          </a:xfrm>
          <a:prstGeom prst="rect">
            <a:avLst/>
          </a:prstGeom>
          <a:solidFill>
            <a:srgbClr val="FFFFFF"/>
          </a:solidFill>
          <a:ln w="2540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26933" y="704088"/>
            <a:ext cx="7119517" cy="411480"/>
          </a:xfrm>
          <a:prstGeom prst="rect">
            <a:avLst/>
          </a:prstGeom>
          <a:noFill/>
        </p:spPr>
        <p:txBody>
          <a:bodyPr wrap="square" lIns="25400" rIns="12700" tIns="12700" bIns="12700"/>
          <a:lstStyle/>
          <a:p>
            <a:pPr algn="ctr"/>
            <a:r>
              <a:rPr sz="2400" b="1" i="0">
                <a:solidFill>
                  <a:srgbClr val="CC0000"/>
                </a:solidFill>
                <a:latin typeface="Arial"/>
              </a:rPr>
              <a:t>CAUTION:</a:t>
            </a:r>
          </a:p>
        </p:txBody>
      </p:sp>
      <p:sp>
        <p:nvSpPr>
          <p:cNvPr id="13" name="TextBox 12"/>
          <p:cNvSpPr txBox="1"/>
          <p:nvPr/>
        </p:nvSpPr>
        <p:spPr>
          <a:xfrm>
            <a:off x="7926933" y="1115568"/>
            <a:ext cx="7119517" cy="457200"/>
          </a:xfrm>
          <a:prstGeom prst="rect">
            <a:avLst/>
          </a:prstGeom>
          <a:noFill/>
        </p:spPr>
        <p:txBody>
          <a:bodyPr wrap="square" lIns="25400" rIns="12700" tIns="12700" bIns="12700"/>
          <a:lstStyle/>
          <a:p>
            <a:pPr algn="ctr"/>
            <a:r>
              <a:rPr sz="900" b="1" i="0">
                <a:solidFill>
                  <a:srgbClr val="000000"/>
                </a:solidFill>
                <a:latin typeface="Arial"/>
              </a:rPr>
              <a:t>THIS SERVICE SUPPLIED BY ALTERNATIVE POWER
SOURCES WITH DISCONNECTS LOCATED AS SHOWN</a:t>
            </a:r>
          </a:p>
        </p:txBody>
      </p:sp>
      <p:sp>
        <p:nvSpPr>
          <p:cNvPr id="14" name="Rectangle 13"/>
          <p:cNvSpPr/>
          <p:nvPr/>
        </p:nvSpPr>
        <p:spPr>
          <a:xfrm>
            <a:off x="7926933" y="1709928"/>
            <a:ext cx="7119517" cy="1645920"/>
          </a:xfrm>
          <a:prstGeom prst="rect">
            <a:avLst/>
          </a:prstGeom>
          <a:solidFill>
            <a:srgbClr val="E26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26933" y="2405888"/>
            <a:ext cx="7119517" cy="254000"/>
          </a:xfrm>
          <a:prstGeom prst="rect">
            <a:avLst/>
          </a:prstGeom>
          <a:noFill/>
        </p:spPr>
        <p:txBody>
          <a:bodyPr wrap="square" lIns="25400" rIns="12700" tIns="12700" bIns="12700"/>
          <a:lstStyle/>
          <a:p>
            <a:pPr algn="ctr"/>
            <a:r>
              <a:rPr sz="1400" b="0" i="0">
                <a:solidFill>
                  <a:srgbClr val="FFFFFF"/>
                </a:solidFill>
                <a:latin typeface="Arial"/>
              </a:rPr>
              <a:t>E4.0 MSB SIGN MAP</a:t>
            </a:r>
          </a:p>
        </p:txBody>
      </p:sp>
      <p:sp>
        <p:nvSpPr>
          <p:cNvPr id="16" name="TextBox 15"/>
          <p:cNvSpPr txBox="1"/>
          <p:nvPr/>
        </p:nvSpPr>
        <p:spPr>
          <a:xfrm>
            <a:off x="109728" y="3922776"/>
            <a:ext cx="4011929" cy="228600"/>
          </a:xfrm>
          <a:prstGeom prst="rect">
            <a:avLst/>
          </a:prstGeom>
          <a:noFill/>
        </p:spPr>
        <p:txBody>
          <a:bodyPr wrap="square" lIns="25400" rIns="12700" tIns="12700" bIns="12700"/>
          <a:lstStyle/>
          <a:p>
            <a:pPr algn="l"/>
            <a:r>
              <a:rPr sz="600" b="0" i="0">
                <a:solidFill>
                  <a:srgbClr val="000000"/>
                </a:solidFill>
                <a:latin typeface="Arial"/>
              </a:rPr>
              <a:t>LOCATION: BESS ENCLOSURE
(GREAT POWER)</a:t>
            </a:r>
          </a:p>
        </p:txBody>
      </p:sp>
      <p:sp>
        <p:nvSpPr>
          <p:cNvPr id="17" name="Rectangle 16"/>
          <p:cNvSpPr/>
          <p:nvPr/>
        </p:nvSpPr>
        <p:spPr>
          <a:xfrm>
            <a:off x="109728" y="4178808"/>
            <a:ext cx="4011929" cy="109728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55448" y="4270248"/>
            <a:ext cx="3920489" cy="914400"/>
          </a:xfrm>
          <a:prstGeom prst="rect">
            <a:avLst/>
          </a:prstGeom>
          <a:noFill/>
        </p:spPr>
        <p:txBody>
          <a:bodyPr wrap="square" lIns="25400" rIns="12700" tIns="12700" bIns="12700"/>
          <a:lstStyle/>
          <a:p>
            <a:pPr algn="ctr"/>
            <a:r>
              <a:rPr sz="1100" b="1" i="0">
                <a:solidFill>
                  <a:srgbClr val="000000"/>
                </a:solidFill>
                <a:latin typeface="Arial"/>
              </a:rPr>
              <a:t>ENERGY STORAGE SYSTEM DISCONNECT</a:t>
            </a:r>
          </a:p>
        </p:txBody>
      </p:sp>
      <p:sp>
        <p:nvSpPr>
          <p:cNvPr id="19" name="TextBox 18"/>
          <p:cNvSpPr txBox="1"/>
          <p:nvPr/>
        </p:nvSpPr>
        <p:spPr>
          <a:xfrm>
            <a:off x="4258817" y="3922776"/>
            <a:ext cx="4011929" cy="228600"/>
          </a:xfrm>
          <a:prstGeom prst="rect">
            <a:avLst/>
          </a:prstGeom>
          <a:noFill/>
        </p:spPr>
        <p:txBody>
          <a:bodyPr wrap="square" lIns="25400" rIns="12700" tIns="12700" bIns="12700"/>
          <a:lstStyle/>
          <a:p>
            <a:pPr algn="l"/>
            <a:r>
              <a:rPr sz="600" b="0" i="0">
                <a:solidFill>
                  <a:srgbClr val="000000"/>
                </a:solidFill>
                <a:latin typeface="Arial"/>
              </a:rPr>
              <a:t>LOCATION: BESS ENCLOSURE</a:t>
            </a:r>
          </a:p>
        </p:txBody>
      </p:sp>
      <p:sp>
        <p:nvSpPr>
          <p:cNvPr id="20" name="Rectangle 19"/>
          <p:cNvSpPr/>
          <p:nvPr/>
        </p:nvSpPr>
        <p:spPr>
          <a:xfrm>
            <a:off x="4258817" y="4178808"/>
            <a:ext cx="4011929" cy="109728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04537" y="4270248"/>
            <a:ext cx="3920489" cy="914400"/>
          </a:xfrm>
          <a:prstGeom prst="rect">
            <a:avLst/>
          </a:prstGeom>
          <a:noFill/>
        </p:spPr>
        <p:txBody>
          <a:bodyPr wrap="square" lIns="25400" rIns="12700" tIns="12700" bIns="12700"/>
          <a:lstStyle/>
          <a:p>
            <a:pPr algn="ctr"/>
            <a:r>
              <a:rPr sz="1100" b="1" i="0">
                <a:solidFill>
                  <a:srgbClr val="000000"/>
                </a:solidFill>
                <a:latin typeface="Arial"/>
              </a:rPr>
              <a:t>ENERGY STORAGE SYSTEM</a:t>
            </a:r>
          </a:p>
        </p:txBody>
      </p:sp>
      <p:sp>
        <p:nvSpPr>
          <p:cNvPr id="22" name="TextBox 21"/>
          <p:cNvSpPr txBox="1"/>
          <p:nvPr/>
        </p:nvSpPr>
        <p:spPr>
          <a:xfrm>
            <a:off x="8407907" y="3922776"/>
            <a:ext cx="4011929" cy="228600"/>
          </a:xfrm>
          <a:prstGeom prst="rect">
            <a:avLst/>
          </a:prstGeom>
          <a:noFill/>
        </p:spPr>
        <p:txBody>
          <a:bodyPr wrap="square" lIns="25400" rIns="12700" tIns="12700" bIns="12700"/>
          <a:lstStyle/>
          <a:p>
            <a:pPr algn="l"/>
            <a:r>
              <a:rPr sz="600" b="0" i="0">
                <a:solidFill>
                  <a:srgbClr val="000000"/>
                </a:solidFill>
                <a:latin typeface="Arial"/>
              </a:rPr>
              <a:t>LOCATION: BESS ENCLOSURE
(DYNAPOWER)</a:t>
            </a:r>
          </a:p>
        </p:txBody>
      </p:sp>
      <p:sp>
        <p:nvSpPr>
          <p:cNvPr id="23" name="Rectangle 22"/>
          <p:cNvSpPr/>
          <p:nvPr/>
        </p:nvSpPr>
        <p:spPr>
          <a:xfrm>
            <a:off x="8407907" y="4178808"/>
            <a:ext cx="4011929" cy="109728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53627" y="4270248"/>
            <a:ext cx="3920489" cy="914400"/>
          </a:xfrm>
          <a:prstGeom prst="rect">
            <a:avLst/>
          </a:prstGeom>
          <a:noFill/>
        </p:spPr>
        <p:txBody>
          <a:bodyPr wrap="square" lIns="25400" rIns="12700" tIns="12700" bIns="12700"/>
          <a:lstStyle/>
          <a:p>
            <a:pPr algn="ctr"/>
            <a:r>
              <a:rPr sz="1100" b="1" i="0">
                <a:solidFill>
                  <a:srgbClr val="000000"/>
                </a:solidFill>
                <a:latin typeface="Arial"/>
              </a:rPr>
              <a:t>ENERGY STORAGE SYSTEM INVERTER</a:t>
            </a:r>
          </a:p>
        </p:txBody>
      </p:sp>
      <p:sp>
        <p:nvSpPr>
          <p:cNvPr id="25" name="TextBox 24"/>
          <p:cNvSpPr txBox="1"/>
          <p:nvPr/>
        </p:nvSpPr>
        <p:spPr>
          <a:xfrm>
            <a:off x="12556997" y="3922776"/>
            <a:ext cx="4011929" cy="228600"/>
          </a:xfrm>
          <a:prstGeom prst="rect">
            <a:avLst/>
          </a:prstGeom>
          <a:noFill/>
        </p:spPr>
        <p:txBody>
          <a:bodyPr wrap="square" lIns="25400" rIns="12700" tIns="12700" bIns="12700"/>
          <a:lstStyle/>
          <a:p>
            <a:pPr algn="l"/>
            <a:r>
              <a:rPr sz="600" b="0" i="0">
                <a:solidFill>
                  <a:srgbClr val="000000"/>
                </a:solidFill>
                <a:latin typeface="Arial"/>
              </a:rPr>
              <a:t>LOCATION: BESS ENCLOSURE</a:t>
            </a:r>
          </a:p>
        </p:txBody>
      </p:sp>
      <p:sp>
        <p:nvSpPr>
          <p:cNvPr id="26" name="Rectangle 25"/>
          <p:cNvSpPr/>
          <p:nvPr/>
        </p:nvSpPr>
        <p:spPr>
          <a:xfrm>
            <a:off x="12556997" y="4178808"/>
            <a:ext cx="4011929" cy="109728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2602717" y="4270248"/>
            <a:ext cx="3920489" cy="914400"/>
          </a:xfrm>
          <a:prstGeom prst="rect">
            <a:avLst/>
          </a:prstGeom>
          <a:noFill/>
        </p:spPr>
        <p:txBody>
          <a:bodyPr wrap="square" lIns="25400" rIns="12700" tIns="12700" bIns="12700"/>
          <a:lstStyle/>
          <a:p>
            <a:pPr algn="ctr"/>
            <a:r>
              <a:rPr sz="1100" b="1" i="0">
                <a:solidFill>
                  <a:srgbClr val="000000"/>
                </a:solidFill>
                <a:latin typeface="Arial"/>
              </a:rPr>
              <a:t>LITHIUM IRON PHOSPHATE TECHNOLOGY</a:t>
            </a:r>
          </a:p>
        </p:txBody>
      </p:sp>
      <p:sp>
        <p:nvSpPr>
          <p:cNvPr id="28" name="TextBox 27"/>
          <p:cNvSpPr txBox="1"/>
          <p:nvPr/>
        </p:nvSpPr>
        <p:spPr>
          <a:xfrm>
            <a:off x="109728" y="5257800"/>
            <a:ext cx="5808725" cy="182880"/>
          </a:xfrm>
          <a:prstGeom prst="rect">
            <a:avLst/>
          </a:prstGeom>
          <a:noFill/>
        </p:spPr>
        <p:txBody>
          <a:bodyPr wrap="square" lIns="25400" rIns="12700" tIns="12700" bIns="12700"/>
          <a:lstStyle/>
          <a:p>
            <a:pPr algn="l"/>
            <a:r>
              <a:rPr sz="600" b="0" i="0">
                <a:solidFill>
                  <a:srgbClr val="000000"/>
                </a:solidFill>
                <a:latin typeface="Arial"/>
              </a:rPr>
              <a:t>LOCATION: BOLTSWITCH CABINET  QUANTITY: 1</a:t>
            </a:r>
          </a:p>
        </p:txBody>
      </p:sp>
      <p:sp>
        <p:nvSpPr>
          <p:cNvPr id="29" name="Rectangle 28"/>
          <p:cNvSpPr/>
          <p:nvPr/>
        </p:nvSpPr>
        <p:spPr>
          <a:xfrm>
            <a:off x="109728" y="5458968"/>
            <a:ext cx="5808725" cy="82296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55448" y="5504688"/>
            <a:ext cx="5717285" cy="731520"/>
          </a:xfrm>
          <a:prstGeom prst="rect">
            <a:avLst/>
          </a:prstGeom>
          <a:noFill/>
        </p:spPr>
        <p:txBody>
          <a:bodyPr wrap="square" lIns="25400" rIns="12700" tIns="12700" bIns="12700"/>
          <a:lstStyle/>
          <a:p>
            <a:pPr algn="l"/>
            <a:r>
              <a:rPr sz="800" b="0" i="0">
                <a:solidFill>
                  <a:srgbClr val="000000"/>
                </a:solidFill>
                <a:latin typeface="Arial"/>
              </a:rPr>
              <a:t>AC DISCONNECT
BOLTSWITCH CABINET
OPERATING CURRENT: {{ACDIS}}A
OPERATING VOLTAGE: {{INV_AC}}V</a:t>
            </a:r>
          </a:p>
        </p:txBody>
      </p:sp>
      <p:sp>
        <p:nvSpPr>
          <p:cNvPr id="31" name="TextBox 30"/>
          <p:cNvSpPr txBox="1"/>
          <p:nvPr/>
        </p:nvSpPr>
        <p:spPr>
          <a:xfrm>
            <a:off x="6101333" y="5257800"/>
            <a:ext cx="5808725" cy="182880"/>
          </a:xfrm>
          <a:prstGeom prst="rect">
            <a:avLst/>
          </a:prstGeom>
          <a:noFill/>
        </p:spPr>
        <p:txBody>
          <a:bodyPr wrap="square" lIns="25400" rIns="12700" tIns="12700" bIns="12700"/>
          <a:lstStyle/>
          <a:p>
            <a:pPr algn="l"/>
            <a:r>
              <a:rPr sz="600" b="0" i="0">
                <a:solidFill>
                  <a:srgbClr val="000000"/>
                </a:solidFill>
                <a:latin typeface="Arial"/>
              </a:rPr>
              <a:t>LOCATION: XFMR  QUANTITY: 1</a:t>
            </a:r>
          </a:p>
        </p:txBody>
      </p:sp>
      <p:sp>
        <p:nvSpPr>
          <p:cNvPr id="32" name="Rectangle 31"/>
          <p:cNvSpPr/>
          <p:nvPr/>
        </p:nvSpPr>
        <p:spPr>
          <a:xfrm>
            <a:off x="6101333" y="5458968"/>
            <a:ext cx="5808725" cy="82296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147053" y="5504688"/>
            <a:ext cx="5717285" cy="731520"/>
          </a:xfrm>
          <a:prstGeom prst="rect">
            <a:avLst/>
          </a:prstGeom>
          <a:noFill/>
        </p:spPr>
        <p:txBody>
          <a:bodyPr wrap="square" lIns="25400" rIns="12700" tIns="12700" bIns="12700"/>
          <a:lstStyle/>
          <a:p>
            <a:pPr algn="l"/>
            <a:r>
              <a:rPr sz="800" b="0" i="0">
                <a:solidFill>
                  <a:srgbClr val="000000"/>
                </a:solidFill>
                <a:latin typeface="Arial"/>
              </a:rPr>
              <a:t>ISOLATION XFMR
XFMR SIZE: {{XFMR_SIZE}}KVA
OPERATING VOLTAGE: {{V_PRI}}/{{V_SEC}}V</a:t>
            </a:r>
          </a:p>
        </p:txBody>
      </p:sp>
      <p:sp>
        <p:nvSpPr>
          <p:cNvPr id="34" name="Rectangle 33"/>
          <p:cNvSpPr/>
          <p:nvPr/>
        </p:nvSpPr>
        <p:spPr>
          <a:xfrm>
            <a:off x="16806672" y="0"/>
            <a:ext cx="3127248" cy="13414248"/>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6824960" y="0"/>
            <a:ext cx="3108960" cy="82296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6870680" y="45720"/>
            <a:ext cx="3017520" cy="731520"/>
          </a:xfrm>
          <a:prstGeom prst="rect">
            <a:avLst/>
          </a:prstGeom>
          <a:noFill/>
        </p:spPr>
        <p:txBody>
          <a:bodyPr wrap="square" lIns="25400" rIns="12700" tIns="12700" bIns="12700"/>
          <a:lstStyle/>
          <a:p>
            <a:pPr algn="ctr"/>
            <a:r>
              <a:rPr sz="2000" b="1" i="0">
                <a:solidFill>
                  <a:srgbClr val="0B1E35"/>
                </a:solidFill>
                <a:latin typeface="Arial"/>
              </a:rPr>
              <a:t>ClearSky</a:t>
            </a:r>
          </a:p>
        </p:txBody>
      </p:sp>
      <p:sp>
        <p:nvSpPr>
          <p:cNvPr id="37" name="TextBox 36"/>
          <p:cNvSpPr txBox="1"/>
          <p:nvPr/>
        </p:nvSpPr>
        <p:spPr>
          <a:xfrm>
            <a:off x="16870680" y="457200"/>
            <a:ext cx="3017520" cy="320040"/>
          </a:xfrm>
          <a:prstGeom prst="rect">
            <a:avLst/>
          </a:prstGeom>
          <a:noFill/>
        </p:spPr>
        <p:txBody>
          <a:bodyPr wrap="square" lIns="25400" rIns="12700" tIns="12700" bIns="12700"/>
          <a:lstStyle/>
          <a:p>
            <a:pPr algn="ctr"/>
            <a:r>
              <a:rPr sz="700" b="1" i="0">
                <a:solidFill>
                  <a:srgbClr val="C9A84C"/>
                </a:solidFill>
                <a:latin typeface="Arial"/>
              </a:rPr>
              <a:t>BUILDERS LLC</a:t>
            </a:r>
          </a:p>
        </p:txBody>
      </p:sp>
      <p:sp>
        <p:nvSpPr>
          <p:cNvPr id="38" name="Rectangle 37"/>
          <p:cNvSpPr/>
          <p:nvPr/>
        </p:nvSpPr>
        <p:spPr>
          <a:xfrm>
            <a:off x="16824960" y="822960"/>
            <a:ext cx="3108960" cy="6858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6870680" y="859536"/>
            <a:ext cx="3017520" cy="612648"/>
          </a:xfrm>
          <a:prstGeom prst="rect">
            <a:avLst/>
          </a:prstGeom>
          <a:noFill/>
        </p:spPr>
        <p:txBody>
          <a:bodyPr wrap="square" lIns="25400" rIns="12700" tIns="12700" bIns="12700"/>
          <a:lstStyle/>
          <a:p>
            <a:pPr algn="l"/>
            <a:r>
              <a:rPr sz="650" b="0">
                <a:solidFill>
                  <a:srgbClr val="000000"/>
                </a:solidFill>
                <a:latin typeface="Arial"/>
              </a:rPr>
              <a:t>PO BOX {{GC_PO_BOX}}</a:t>
            </a:r>
          </a:p>
          <a:p>
            <a:pPr algn="l"/>
            <a:r>
              <a:rPr sz="650" b="0">
                <a:solidFill>
                  <a:srgbClr val="000000"/>
                </a:solidFill>
                <a:latin typeface="Arial"/>
              </a:rPr>
              <a:t>{{GC_CITY}}, {{GC_STATE}} {{GC_ZIP}}</a:t>
            </a:r>
          </a:p>
          <a:p>
            <a:pPr algn="l"/>
            <a:r>
              <a:rPr sz="650" b="0">
                <a:solidFill>
                  <a:srgbClr val="000000"/>
                </a:solidFill>
                <a:latin typeface="Arial"/>
              </a:rPr>
              <a:t>PH: {{GC_PHONE}}</a:t>
            </a:r>
          </a:p>
        </p:txBody>
      </p:sp>
      <p:sp>
        <p:nvSpPr>
          <p:cNvPr id="40" name="Rectangle 39"/>
          <p:cNvSpPr/>
          <p:nvPr/>
        </p:nvSpPr>
        <p:spPr>
          <a:xfrm>
            <a:off x="16824960" y="1508760"/>
            <a:ext cx="3108960" cy="5943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rot="-5400000">
            <a:off x="16916400" y="1600200"/>
            <a:ext cx="2926080" cy="5760720"/>
          </a:xfrm>
          <a:prstGeom prst="rect">
            <a:avLst/>
          </a:prstGeom>
          <a:noFill/>
        </p:spPr>
        <p:txBody>
          <a:bodyPr wrap="none">
            <a:spAutoFit/>
          </a:bodyPr>
          <a:lstStyle/>
          <a:p>
            <a:r>
              <a:rPr sz="800" b="1">
                <a:solidFill>
                  <a:srgbClr val="0B1E35"/>
                </a:solidFill>
                <a:latin typeface="Arial"/>
              </a:rPr>
              <a:t>PN - {{PROJECT_NAME}}</a:t>
            </a:r>
          </a:p>
          <a:p>
            <a:r>
              <a:rPr sz="700" b="0">
                <a:solidFill>
                  <a:srgbClr val="000000"/>
                </a:solidFill>
                <a:latin typeface="Arial"/>
              </a:rPr>
              <a:t>{{SITE_ADDR}}</a:t>
            </a:r>
          </a:p>
          <a:p>
            <a:r>
              <a:rPr sz="700" b="0">
                <a:solidFill>
                  <a:srgbClr val="000000"/>
                </a:solidFill>
                <a:latin typeface="Arial"/>
              </a:rPr>
              <a:t>{{CITY_SHORT}}, {{STATE}} {{ZIP}}</a:t>
            </a:r>
          </a:p>
          <a:p>
            <a:r>
              <a:rPr sz="700" b="0">
                <a:solidFill>
                  <a:srgbClr val="000000"/>
                </a:solidFill>
                <a:latin typeface="Arial"/>
              </a:rPr>
              <a:t>APN: {{APN}}</a:t>
            </a:r>
          </a:p>
        </p:txBody>
      </p:sp>
      <p:sp>
        <p:nvSpPr>
          <p:cNvPr id="42" name="Rectangle 41"/>
          <p:cNvSpPr/>
          <p:nvPr/>
        </p:nvSpPr>
        <p:spPr>
          <a:xfrm>
            <a:off x="16824960" y="7452360"/>
            <a:ext cx="3108960" cy="1645920"/>
          </a:xfrm>
          <a:prstGeom prst="rect">
            <a:avLst/>
          </a:prstGeom>
          <a:solidFill>
            <a:srgbClr val="FFF3A8"/>
          </a:solidFill>
          <a:ln w="1270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6870680" y="7498080"/>
            <a:ext cx="3017520" cy="1554480"/>
          </a:xfrm>
          <a:prstGeom prst="rect">
            <a:avLst/>
          </a:prstGeom>
          <a:solidFill>
            <a:srgbClr val="FFF3A8"/>
          </a:solidFill>
        </p:spPr>
        <p:txBody>
          <a:bodyPr wrap="square" lIns="25400" rIns="12700" tIns="12700" bIns="12700"/>
          <a:lstStyle/>
          <a:p>
            <a:pPr algn="l"/>
            <a:r>
              <a:rPr sz="650" b="0">
                <a:solidFill>
                  <a:srgbClr val="CC0000"/>
                </a:solidFill>
                <a:latin typeface="Arial"/>
              </a:rPr>
              <a:t>{{PERMIT_NO}}</a:t>
            </a:r>
          </a:p>
          <a:p>
            <a:pPr algn="l"/>
            <a:r>
              <a:rPr sz="650" b="0">
                <a:solidFill>
                  <a:srgbClr val="CC0000"/>
                </a:solidFill>
                <a:latin typeface="Arial"/>
              </a:rPr>
              <a:t>REVIEWED FOR COMPLIANCE</a:t>
            </a:r>
          </a:p>
          <a:p>
            <a:pPr algn="l"/>
            <a:r>
              <a:rPr sz="650" b="0">
                <a:solidFill>
                  <a:srgbClr val="CC0000"/>
                </a:solidFill>
                <a:latin typeface="Arial"/>
              </a:rPr>
              <a:t>{{AHJ_CITY}}</a:t>
            </a:r>
          </a:p>
          <a:p>
            <a:pPr algn="l"/>
            <a:r>
              <a:rPr sz="650" b="0">
                <a:solidFill>
                  <a:srgbClr val="CC0000"/>
                </a:solidFill>
                <a:latin typeface="Arial"/>
              </a:rPr>
              <a:t>{{AHJ_DEPT}}</a:t>
            </a:r>
          </a:p>
          <a:p>
            <a:pPr algn="l"/>
            <a:r>
              <a:rPr sz="650" b="0">
                <a:solidFill>
                  <a:srgbClr val="CC0000"/>
                </a:solidFill>
                <a:latin typeface="Arial"/>
              </a:rPr>
              <a:t>For {{PROJECT_NAME}} Subject to Code Compliance.</a:t>
            </a:r>
          </a:p>
          <a:p>
            <a:pPr algn="l"/>
            <a:r>
              <a:rPr sz="650" b="0">
                <a:solidFill>
                  <a:srgbClr val="CC0000"/>
                </a:solidFill>
                <a:latin typeface="Arial"/>
              </a:rPr>
              <a:t>REVISIONS NEED REVIEW</a:t>
            </a:r>
          </a:p>
        </p:txBody>
      </p:sp>
      <p:sp>
        <p:nvSpPr>
          <p:cNvPr id="44" name="Rectangle 43"/>
          <p:cNvSpPr/>
          <p:nvPr/>
        </p:nvSpPr>
        <p:spPr>
          <a:xfrm>
            <a:off x="16824960" y="9098280"/>
            <a:ext cx="3108960" cy="109728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6824960" y="9098280"/>
            <a:ext cx="3108960" cy="201168"/>
          </a:xfrm>
          <a:prstGeom prst="rect">
            <a:avLst/>
          </a:prstGeom>
          <a:solidFill>
            <a:srgbClr val="E8E8E8"/>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6852392" y="9125712"/>
            <a:ext cx="640080" cy="164592"/>
          </a:xfrm>
          <a:prstGeom prst="rect">
            <a:avLst/>
          </a:prstGeom>
          <a:noFill/>
        </p:spPr>
        <p:txBody>
          <a:bodyPr wrap="square" lIns="25400" rIns="12700" tIns="12700" bIns="12700"/>
          <a:lstStyle/>
          <a:p>
            <a:pPr algn="l"/>
            <a:r>
              <a:rPr sz="600" b="1" i="0">
                <a:solidFill>
                  <a:srgbClr val="000000"/>
                </a:solidFill>
                <a:latin typeface="Arial"/>
              </a:rPr>
              <a:t>DATE</a:t>
            </a:r>
          </a:p>
        </p:txBody>
      </p:sp>
      <p:sp>
        <p:nvSpPr>
          <p:cNvPr id="47" name="TextBox 46"/>
          <p:cNvSpPr txBox="1"/>
          <p:nvPr/>
        </p:nvSpPr>
        <p:spPr>
          <a:xfrm>
            <a:off x="17510760" y="9125712"/>
            <a:ext cx="365760" cy="164592"/>
          </a:xfrm>
          <a:prstGeom prst="rect">
            <a:avLst/>
          </a:prstGeom>
          <a:noFill/>
        </p:spPr>
        <p:txBody>
          <a:bodyPr wrap="square" lIns="25400" rIns="12700" tIns="12700" bIns="12700"/>
          <a:lstStyle/>
          <a:p>
            <a:pPr algn="l"/>
            <a:r>
              <a:rPr sz="600" b="1" i="0">
                <a:solidFill>
                  <a:srgbClr val="000000"/>
                </a:solidFill>
                <a:latin typeface="Arial"/>
              </a:rPr>
              <a:t>REV</a:t>
            </a:r>
          </a:p>
        </p:txBody>
      </p:sp>
      <p:sp>
        <p:nvSpPr>
          <p:cNvPr id="48" name="TextBox 47"/>
          <p:cNvSpPr txBox="1"/>
          <p:nvPr/>
        </p:nvSpPr>
        <p:spPr>
          <a:xfrm>
            <a:off x="17922240" y="9125712"/>
            <a:ext cx="1828800" cy="164592"/>
          </a:xfrm>
          <a:prstGeom prst="rect">
            <a:avLst/>
          </a:prstGeom>
          <a:noFill/>
        </p:spPr>
        <p:txBody>
          <a:bodyPr wrap="square" lIns="25400" rIns="12700" tIns="12700" bIns="12700"/>
          <a:lstStyle/>
          <a:p>
            <a:pPr algn="l"/>
            <a:r>
              <a:rPr sz="600" b="1" i="0">
                <a:solidFill>
                  <a:srgbClr val="000000"/>
                </a:solidFill>
                <a:latin typeface="Arial"/>
              </a:rPr>
              <a:t>COMMENTS</a:t>
            </a:r>
          </a:p>
        </p:txBody>
      </p:sp>
      <p:sp>
        <p:nvSpPr>
          <p:cNvPr id="49" name="TextBox 48"/>
          <p:cNvSpPr txBox="1"/>
          <p:nvPr/>
        </p:nvSpPr>
        <p:spPr>
          <a:xfrm>
            <a:off x="16852392" y="9326880"/>
            <a:ext cx="640080" cy="164592"/>
          </a:xfrm>
          <a:prstGeom prst="rect">
            <a:avLst/>
          </a:prstGeom>
          <a:noFill/>
        </p:spPr>
        <p:txBody>
          <a:bodyPr wrap="square" lIns="25400" rIns="12700" tIns="12700" bIns="12700"/>
          <a:lstStyle/>
          <a:p>
            <a:pPr algn="l"/>
            <a:r>
              <a:rPr sz="600" b="0" i="0">
                <a:solidFill>
                  <a:srgbClr val="000000"/>
                </a:solidFill>
                <a:latin typeface="Arial"/>
              </a:rPr>
              <a:t>{{ISSUE_DATE}}</a:t>
            </a:r>
          </a:p>
        </p:txBody>
      </p:sp>
      <p:sp>
        <p:nvSpPr>
          <p:cNvPr id="50" name="TextBox 49"/>
          <p:cNvSpPr txBox="1"/>
          <p:nvPr/>
        </p:nvSpPr>
        <p:spPr>
          <a:xfrm>
            <a:off x="17510760" y="9326880"/>
            <a:ext cx="365760" cy="164592"/>
          </a:xfrm>
          <a:prstGeom prst="rect">
            <a:avLst/>
          </a:prstGeom>
          <a:noFill/>
        </p:spPr>
        <p:txBody>
          <a:bodyPr wrap="square" lIns="25400" rIns="12700" tIns="12700" bIns="12700"/>
          <a:lstStyle/>
          <a:p>
            <a:pPr algn="l"/>
            <a:r>
              <a:rPr sz="600" b="0" i="0">
                <a:solidFill>
                  <a:srgbClr val="000000"/>
                </a:solidFill>
                <a:latin typeface="Arial"/>
              </a:rPr>
              <a:t>00</a:t>
            </a:r>
          </a:p>
        </p:txBody>
      </p:sp>
      <p:sp>
        <p:nvSpPr>
          <p:cNvPr id="51" name="TextBox 50"/>
          <p:cNvSpPr txBox="1"/>
          <p:nvPr/>
        </p:nvSpPr>
        <p:spPr>
          <a:xfrm>
            <a:off x="17922240" y="9326880"/>
            <a:ext cx="1828800" cy="164592"/>
          </a:xfrm>
          <a:prstGeom prst="rect">
            <a:avLst/>
          </a:prstGeom>
          <a:noFill/>
        </p:spPr>
        <p:txBody>
          <a:bodyPr wrap="square" lIns="25400" rIns="12700" tIns="12700" bIns="12700"/>
          <a:lstStyle/>
          <a:p>
            <a:pPr algn="l"/>
            <a:r>
              <a:rPr sz="600" b="0" i="0">
                <a:solidFill>
                  <a:srgbClr val="000000"/>
                </a:solidFill>
                <a:latin typeface="Arial"/>
              </a:rPr>
              <a:t>ISSUE FOR PERMIT</a:t>
            </a:r>
          </a:p>
        </p:txBody>
      </p:sp>
      <p:sp>
        <p:nvSpPr>
          <p:cNvPr id="52" name="TextBox 51"/>
          <p:cNvSpPr txBox="1"/>
          <p:nvPr/>
        </p:nvSpPr>
        <p:spPr>
          <a:xfrm>
            <a:off x="16852392" y="9528048"/>
            <a:ext cx="64008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53" name="TextBox 52"/>
          <p:cNvSpPr txBox="1"/>
          <p:nvPr/>
        </p:nvSpPr>
        <p:spPr>
          <a:xfrm>
            <a:off x="17510760" y="9528048"/>
            <a:ext cx="36576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54" name="TextBox 53"/>
          <p:cNvSpPr txBox="1"/>
          <p:nvPr/>
        </p:nvSpPr>
        <p:spPr>
          <a:xfrm>
            <a:off x="17922240" y="9528048"/>
            <a:ext cx="182880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55" name="TextBox 54"/>
          <p:cNvSpPr txBox="1"/>
          <p:nvPr/>
        </p:nvSpPr>
        <p:spPr>
          <a:xfrm>
            <a:off x="16852392" y="9729216"/>
            <a:ext cx="64008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56" name="TextBox 55"/>
          <p:cNvSpPr txBox="1"/>
          <p:nvPr/>
        </p:nvSpPr>
        <p:spPr>
          <a:xfrm>
            <a:off x="17510760" y="9729216"/>
            <a:ext cx="36576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57" name="TextBox 56"/>
          <p:cNvSpPr txBox="1"/>
          <p:nvPr/>
        </p:nvSpPr>
        <p:spPr>
          <a:xfrm>
            <a:off x="17922240" y="9729216"/>
            <a:ext cx="182880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58" name="TextBox 57"/>
          <p:cNvSpPr txBox="1"/>
          <p:nvPr/>
        </p:nvSpPr>
        <p:spPr>
          <a:xfrm>
            <a:off x="16852392" y="9930384"/>
            <a:ext cx="64008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59" name="TextBox 58"/>
          <p:cNvSpPr txBox="1"/>
          <p:nvPr/>
        </p:nvSpPr>
        <p:spPr>
          <a:xfrm>
            <a:off x="17510760" y="9930384"/>
            <a:ext cx="36576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60" name="TextBox 59"/>
          <p:cNvSpPr txBox="1"/>
          <p:nvPr/>
        </p:nvSpPr>
        <p:spPr>
          <a:xfrm>
            <a:off x="17922240" y="9930384"/>
            <a:ext cx="182880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61" name="Rectangle 60"/>
          <p:cNvSpPr/>
          <p:nvPr/>
        </p:nvSpPr>
        <p:spPr>
          <a:xfrm>
            <a:off x="16824960" y="10195560"/>
            <a:ext cx="3108960" cy="73152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6824960" y="10213848"/>
            <a:ext cx="3108960" cy="457200"/>
          </a:xfrm>
          <a:prstGeom prst="rect">
            <a:avLst/>
          </a:prstGeom>
          <a:noFill/>
        </p:spPr>
        <p:txBody>
          <a:bodyPr wrap="square" lIns="25400" rIns="12700" tIns="12700" bIns="12700"/>
          <a:lstStyle/>
          <a:p>
            <a:pPr algn="ctr"/>
            <a:r>
              <a:rPr sz="2800" b="1" i="0">
                <a:solidFill>
                  <a:srgbClr val="0B1E35"/>
                </a:solidFill>
                <a:latin typeface="Arial"/>
              </a:rPr>
              <a:t>E4.0</a:t>
            </a:r>
          </a:p>
        </p:txBody>
      </p:sp>
      <p:sp>
        <p:nvSpPr>
          <p:cNvPr id="63" name="TextBox 62"/>
          <p:cNvSpPr txBox="1"/>
          <p:nvPr/>
        </p:nvSpPr>
        <p:spPr>
          <a:xfrm>
            <a:off x="16824960" y="10671048"/>
            <a:ext cx="3108960" cy="237744"/>
          </a:xfrm>
          <a:prstGeom prst="rect">
            <a:avLst/>
          </a:prstGeom>
          <a:noFill/>
        </p:spPr>
        <p:txBody>
          <a:bodyPr wrap="square" lIns="25400" rIns="12700" tIns="12700" bIns="12700"/>
          <a:lstStyle/>
          <a:p>
            <a:pPr algn="ctr"/>
            <a:r>
              <a:rPr sz="800" b="1" i="0">
                <a:solidFill>
                  <a:srgbClr val="000000"/>
                </a:solidFill>
                <a:latin typeface="Arial"/>
              </a:rPr>
              <a:t>SIGNAGE</a:t>
            </a:r>
          </a:p>
        </p:txBody>
      </p:sp>
      <p:sp>
        <p:nvSpPr>
          <p:cNvPr id="64" name="Rectangle 63"/>
          <p:cNvSpPr/>
          <p:nvPr/>
        </p:nvSpPr>
        <p:spPr>
          <a:xfrm>
            <a:off x="16824960" y="10927080"/>
            <a:ext cx="3108960" cy="2487168"/>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6870680" y="10963656"/>
            <a:ext cx="3017520" cy="2395728"/>
          </a:xfrm>
          <a:prstGeom prst="rect">
            <a:avLst/>
          </a:prstGeom>
          <a:noFill/>
        </p:spPr>
        <p:txBody>
          <a:bodyPr wrap="square" lIns="25400" rIns="12700" tIns="12700" bIns="12700"/>
          <a:lstStyle/>
          <a:p>
            <a:pPr algn="l"/>
            <a:r>
              <a:rPr sz="650" b="0">
                <a:solidFill>
                  <a:srgbClr val="000000"/>
                </a:solidFill>
                <a:latin typeface="Arial"/>
              </a:rPr>
              <a:t>ISSUE DATE</a:t>
            </a:r>
          </a:p>
          <a:p>
            <a:pPr algn="l"/>
            <a:r>
              <a:rPr sz="650" b="0">
                <a:solidFill>
                  <a:srgbClr val="000000"/>
                </a:solidFill>
                <a:latin typeface="Arial"/>
              </a:rPr>
              <a:t>{{ISSUE_DATE}}</a:t>
            </a:r>
          </a:p>
          <a:p>
            <a:pPr algn="l"/>
            <a:r>
              <a:rPr sz="650" b="0">
                <a:solidFill>
                  <a:srgbClr val="000000"/>
                </a:solidFill>
                <a:latin typeface="Arial"/>
              </a:rPr>
              <a:t>REVISION DATE</a:t>
            </a:r>
          </a:p>
          <a:p>
            <a:pPr algn="l"/>
            <a:r>
              <a:rPr sz="650" b="0">
                <a:solidFill>
                  <a:srgbClr val="000000"/>
                </a:solidFill>
                <a:latin typeface="Arial"/>
              </a:rPr>
              <a:t>{{ISSUE_DATE}}</a:t>
            </a:r>
          </a:p>
          <a:p>
            <a:pPr algn="l"/>
            <a:r>
              <a:rPr sz="650" b="0">
                <a:solidFill>
                  <a:srgbClr val="000000"/>
                </a:solidFill>
                <a:latin typeface="Arial"/>
              </a:rPr>
              <a:t>DESIGNED BY</a:t>
            </a:r>
          </a:p>
          <a:p>
            <a:pPr algn="l"/>
            <a:r>
              <a:rPr sz="650" b="0">
                <a:solidFill>
                  <a:srgbClr val="000000"/>
                </a:solidFill>
                <a:latin typeface="Arial"/>
              </a:rPr>
              <a:t>{{DESIGNED_BY}}</a:t>
            </a:r>
          </a:p>
          <a:p>
            <a:pPr algn="l"/>
            <a:r>
              <a:rPr sz="650" b="0">
                <a:solidFill>
                  <a:srgbClr val="000000"/>
                </a:solidFill>
                <a:latin typeface="Arial"/>
              </a:rPr>
              <a:t>CHECKED BY</a:t>
            </a:r>
          </a:p>
          <a:p>
            <a:pPr algn="l"/>
            <a:r>
              <a:rPr sz="650" b="0">
                <a:solidFill>
                  <a:srgbClr val="000000"/>
                </a:solidFill>
                <a:latin typeface="Arial"/>
              </a:rPr>
              <a:t>{{CHECKED_BY}}</a:t>
            </a:r>
          </a:p>
          <a:p>
            <a:pPr algn="l"/>
            <a:r>
              <a:rPr sz="650" b="0">
                <a:solidFill>
                  <a:srgbClr val="000000"/>
                </a:solidFill>
                <a:latin typeface="Arial"/>
              </a:rPr>
              <a:t>JOB NO.</a:t>
            </a:r>
          </a:p>
          <a:p>
            <a:pPr algn="l"/>
            <a:r>
              <a:rPr sz="650" b="0">
                <a:solidFill>
                  <a:srgbClr val="000000"/>
                </a:solidFill>
                <a:latin typeface="Arial"/>
              </a:rPr>
              <a:t>{{JOB_NO}}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00584" y="100584"/>
            <a:ext cx="16614647" cy="13213080"/>
          </a:xfrm>
          <a:prstGeom prst="rect">
            <a:avLst/>
          </a:prstGeom>
          <a:noFill/>
          <a:ln w="9525">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55448"/>
            <a:ext cx="16413479" cy="228600"/>
          </a:xfrm>
          <a:prstGeom prst="rect">
            <a:avLst/>
          </a:prstGeom>
          <a:noFill/>
        </p:spPr>
        <p:txBody>
          <a:bodyPr wrap="square" lIns="25400" rIns="12700" tIns="12700" bIns="12700"/>
          <a:lstStyle/>
          <a:p>
            <a:pPr algn="l"/>
            <a:r>
              <a:rPr sz="800" b="1" i="0">
                <a:solidFill>
                  <a:srgbClr val="0B1E35"/>
                </a:solidFill>
                <a:latin typeface="Arial"/>
              </a:rPr>
              <a:t>BESS PAD DETAILS — FOR PAGES PV0.2 &amp; PV0.3</a:t>
            </a:r>
          </a:p>
        </p:txBody>
      </p:sp>
      <p:sp>
        <p:nvSpPr>
          <p:cNvPr id="4" name="Rectangle 3"/>
          <p:cNvSpPr/>
          <p:nvPr/>
        </p:nvSpPr>
        <p:spPr>
          <a:xfrm>
            <a:off x="10625328" y="429768"/>
            <a:ext cx="5989319" cy="5029200"/>
          </a:xfrm>
          <a:prstGeom prst="rect">
            <a:avLst/>
          </a:prstGeom>
          <a:solidFill>
            <a:srgbClr val="FFFFFF"/>
          </a:solidFill>
          <a:ln w="508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71048" y="457200"/>
            <a:ext cx="5897879" cy="201168"/>
          </a:xfrm>
          <a:prstGeom prst="rect">
            <a:avLst/>
          </a:prstGeom>
          <a:noFill/>
        </p:spPr>
        <p:txBody>
          <a:bodyPr wrap="square" lIns="25400" rIns="12700" tIns="12700" bIns="12700"/>
          <a:lstStyle/>
          <a:p>
            <a:pPr algn="l"/>
            <a:r>
              <a:rPr sz="700" b="1" i="0">
                <a:solidFill>
                  <a:srgbClr val="000000"/>
                </a:solidFill>
                <a:latin typeface="Arial"/>
              </a:rPr>
              <a:t>GENERAL NOTES:</a:t>
            </a:r>
          </a:p>
        </p:txBody>
      </p:sp>
      <p:sp>
        <p:nvSpPr>
          <p:cNvPr id="6" name="TextBox 5"/>
          <p:cNvSpPr txBox="1"/>
          <p:nvPr/>
        </p:nvSpPr>
        <p:spPr>
          <a:xfrm>
            <a:off x="10671048" y="658368"/>
            <a:ext cx="5897879" cy="2286000"/>
          </a:xfrm>
          <a:prstGeom prst="rect">
            <a:avLst/>
          </a:prstGeom>
          <a:noFill/>
        </p:spPr>
        <p:txBody>
          <a:bodyPr wrap="square" lIns="25400" rIns="12700" tIns="12700" bIns="12700"/>
          <a:lstStyle/>
          <a:p>
            <a:pPr algn="l"/>
            <a:r>
              <a:rPr sz="650" b="0" i="0">
                <a:solidFill>
                  <a:srgbClr val="000000"/>
                </a:solidFill>
                <a:latin typeface="Arial"/>
              </a:rPr>
              <a:t>1. STEM WALL SECTIONS WILL NEED TO BE FORMED AND POURED FIRST WITH A COLD JOINT WITH EXTENDED VERTICAL BARS TO TIE INTO THE SLAB.
2. GRAVEL BACKFILL WILL FOLLOW AFTER THE STEM WALLS ARE SET.
3. THE SLAB WILL BE PLACED AFTER THE BACKFILL.
4. REMOVE ALL TOP SOIL UNDER PERIMETER OF EQUIPMENT PADS. COMPACT NATIVE SOIL OR REMOVE ANY LOOSE MATERIALS.
5. INSTALLATION OF POST-INSTALLED ANCHORS (WEDGE ANCHORS, EPOXY ANCHORS) REQUIRE CONTINUOUS SPECIAL INSPECTION.</a:t>
            </a:r>
          </a:p>
        </p:txBody>
      </p:sp>
      <p:sp>
        <p:nvSpPr>
          <p:cNvPr id="7" name="TextBox 6"/>
          <p:cNvSpPr txBox="1"/>
          <p:nvPr/>
        </p:nvSpPr>
        <p:spPr>
          <a:xfrm>
            <a:off x="10671048" y="3035808"/>
            <a:ext cx="5897879" cy="201168"/>
          </a:xfrm>
          <a:prstGeom prst="rect">
            <a:avLst/>
          </a:prstGeom>
          <a:noFill/>
        </p:spPr>
        <p:txBody>
          <a:bodyPr wrap="square" lIns="25400" rIns="12700" tIns="12700" bIns="12700"/>
          <a:lstStyle/>
          <a:p>
            <a:pPr algn="l"/>
            <a:r>
              <a:rPr sz="700" b="1" i="0">
                <a:solidFill>
                  <a:srgbClr val="000000"/>
                </a:solidFill>
                <a:latin typeface="Arial"/>
              </a:rPr>
              <a:t>DESIGN CRITERIA:</a:t>
            </a:r>
          </a:p>
        </p:txBody>
      </p:sp>
      <p:sp>
        <p:nvSpPr>
          <p:cNvPr id="8" name="TextBox 7"/>
          <p:cNvSpPr txBox="1"/>
          <p:nvPr/>
        </p:nvSpPr>
        <p:spPr>
          <a:xfrm>
            <a:off x="10671048" y="3236976"/>
            <a:ext cx="5897879" cy="2194560"/>
          </a:xfrm>
          <a:prstGeom prst="rect">
            <a:avLst/>
          </a:prstGeom>
          <a:noFill/>
        </p:spPr>
        <p:txBody>
          <a:bodyPr wrap="square" lIns="25400" rIns="12700" tIns="12700" bIns="12700"/>
          <a:lstStyle/>
          <a:p>
            <a:pPr algn="l"/>
            <a:r>
              <a:rPr sz="650" b="0" i="0">
                <a:solidFill>
                  <a:srgbClr val="000000"/>
                </a:solidFill>
                <a:latin typeface="Arial"/>
              </a:rPr>
              <a:t>2025 CBC, ASCE 7-22, ACI 318-19, ANSI/AWC NDS - 2024
Risk Category: {{RISK_CAT}}
Wind Speed: {{WIND_SPEED}} mph, Exposure {{EXPOSURE}}
Seismic Design Category {{SDC}}, Sds = 1.8
Bearing: 1500 psf, lateral bearing = 200 pcf for drilled piers
Use f'c = 3000 psi, A615 Grade 60 rebar
Break tests required at 7, 14 and 28 days. Max w/c = 0.5</a:t>
            </a:r>
          </a:p>
        </p:txBody>
      </p:sp>
      <p:sp>
        <p:nvSpPr>
          <p:cNvPr id="9" name="Rectangle 8"/>
          <p:cNvSpPr/>
          <p:nvPr/>
        </p:nvSpPr>
        <p:spPr>
          <a:xfrm>
            <a:off x="201168" y="429768"/>
            <a:ext cx="10332720" cy="6858000"/>
          </a:xfrm>
          <a:prstGeom prst="rect">
            <a:avLst/>
          </a:prstGeom>
          <a:solidFill>
            <a:srgbClr val="E26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3731768"/>
            <a:ext cx="10332720" cy="254000"/>
          </a:xfrm>
          <a:prstGeom prst="rect">
            <a:avLst/>
          </a:prstGeom>
          <a:noFill/>
        </p:spPr>
        <p:txBody>
          <a:bodyPr wrap="square" lIns="25400" rIns="12700" tIns="12700" bIns="12700"/>
          <a:lstStyle/>
          <a:p>
            <a:pPr algn="ctr"/>
            <a:r>
              <a:rPr sz="1400" b="0" i="0">
                <a:solidFill>
                  <a:srgbClr val="FFFFFF"/>
                </a:solidFill>
                <a:latin typeface="Arial"/>
              </a:rPr>
              <a:t>S1.1 BESS PAD TOP VIEW
(Static engineering drawing)</a:t>
            </a:r>
          </a:p>
        </p:txBody>
      </p:sp>
      <p:sp>
        <p:nvSpPr>
          <p:cNvPr id="11" name="Rectangle 10"/>
          <p:cNvSpPr/>
          <p:nvPr/>
        </p:nvSpPr>
        <p:spPr>
          <a:xfrm>
            <a:off x="6967728" y="7379208"/>
            <a:ext cx="4114800" cy="4206240"/>
          </a:xfrm>
          <a:prstGeom prst="rect">
            <a:avLst/>
          </a:prstGeom>
          <a:solidFill>
            <a:srgbClr val="E26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67728" y="9355328"/>
            <a:ext cx="4114800" cy="254000"/>
          </a:xfrm>
          <a:prstGeom prst="rect">
            <a:avLst/>
          </a:prstGeom>
          <a:noFill/>
        </p:spPr>
        <p:txBody>
          <a:bodyPr wrap="square" lIns="25400" rIns="12700" tIns="12700" bIns="12700"/>
          <a:lstStyle/>
          <a:p>
            <a:pPr algn="ctr"/>
            <a:r>
              <a:rPr sz="1400" b="0" i="0">
                <a:solidFill>
                  <a:srgbClr val="FFFFFF"/>
                </a:solidFill>
                <a:latin typeface="Arial"/>
              </a:rPr>
              <a:t>S1.1 BOLLARD DETAIL
(Side view)</a:t>
            </a:r>
          </a:p>
        </p:txBody>
      </p:sp>
      <p:sp>
        <p:nvSpPr>
          <p:cNvPr id="13" name="TextBox 12"/>
          <p:cNvSpPr txBox="1"/>
          <p:nvPr/>
        </p:nvSpPr>
        <p:spPr>
          <a:xfrm>
            <a:off x="201168" y="7379208"/>
            <a:ext cx="6766560" cy="4206240"/>
          </a:xfrm>
          <a:prstGeom prst="rect">
            <a:avLst/>
          </a:prstGeom>
          <a:noFill/>
        </p:spPr>
        <p:txBody>
          <a:bodyPr wrap="square" lIns="25400" rIns="12700" tIns="12700" bIns="12700"/>
          <a:lstStyle/>
          <a:p>
            <a:pPr algn="l"/>
            <a:r>
              <a:rPr sz="700" b="0" i="0">
                <a:solidFill>
                  <a:srgbClr val="000000"/>
                </a:solidFill>
                <a:latin typeface="Arial"/>
              </a:rPr>
              <a:t>BESS PAD — SIDE VIEW
See engineering drawing for dimensions.
Slab: 12" thick, #4 @ 18" o.c. E.W.
Stem walls: #4 @ 9" o.c. V&amp;H
Bearing: 1500 psf min.
f'c = 3000 psi
Standard hooks at bottom
Gravel backfill, compact 6" lifts
Cold joints at transitions</a:t>
            </a:r>
          </a:p>
        </p:txBody>
      </p:sp>
      <p:sp>
        <p:nvSpPr>
          <p:cNvPr id="14" name="TextBox 13"/>
          <p:cNvSpPr txBox="1"/>
          <p:nvPr/>
        </p:nvSpPr>
        <p:spPr>
          <a:xfrm>
            <a:off x="201168" y="12938760"/>
            <a:ext cx="7315200" cy="228600"/>
          </a:xfrm>
          <a:prstGeom prst="rect">
            <a:avLst/>
          </a:prstGeom>
          <a:noFill/>
        </p:spPr>
        <p:txBody>
          <a:bodyPr wrap="square" lIns="25400" rIns="12700" tIns="12700" bIns="12700"/>
          <a:lstStyle/>
          <a:p>
            <a:pPr algn="l"/>
            <a:r>
              <a:rPr sz="700" b="0" i="0">
                <a:solidFill>
                  <a:srgbClr val="000000"/>
                </a:solidFill>
                <a:latin typeface="Arial"/>
              </a:rPr>
              <a:t>1 — BESS PAD DETAILS - TOP VIEW · SCALE: 1" = 2'    2 — SIDE VIEW · SCALE: 1" = 2'    3 — TYPICAL BOLLARD · SCALE: 1" = 1'</a:t>
            </a:r>
          </a:p>
        </p:txBody>
      </p:sp>
      <p:sp>
        <p:nvSpPr>
          <p:cNvPr id="15" name="TextBox 14"/>
          <p:cNvSpPr txBox="1"/>
          <p:nvPr/>
        </p:nvSpPr>
        <p:spPr>
          <a:xfrm>
            <a:off x="10671048" y="5504688"/>
            <a:ext cx="5897879" cy="201168"/>
          </a:xfrm>
          <a:prstGeom prst="rect">
            <a:avLst/>
          </a:prstGeom>
          <a:noFill/>
        </p:spPr>
        <p:txBody>
          <a:bodyPr wrap="square" lIns="25400" rIns="12700" tIns="12700" bIns="12700"/>
          <a:lstStyle/>
          <a:p>
            <a:pPr algn="l"/>
            <a:r>
              <a:rPr sz="700" b="1" i="0">
                <a:solidFill>
                  <a:srgbClr val="000000"/>
                </a:solidFill>
                <a:latin typeface="Arial"/>
              </a:rPr>
              <a:t>BOLLARD NOTES:</a:t>
            </a:r>
          </a:p>
        </p:txBody>
      </p:sp>
      <p:sp>
        <p:nvSpPr>
          <p:cNvPr id="16" name="TextBox 15"/>
          <p:cNvSpPr txBox="1"/>
          <p:nvPr/>
        </p:nvSpPr>
        <p:spPr>
          <a:xfrm>
            <a:off x="10671048" y="5705856"/>
            <a:ext cx="5897879" cy="1554480"/>
          </a:xfrm>
          <a:prstGeom prst="rect">
            <a:avLst/>
          </a:prstGeom>
          <a:noFill/>
        </p:spPr>
        <p:txBody>
          <a:bodyPr wrap="square" lIns="25400" rIns="12700" tIns="12700" bIns="12700"/>
          <a:lstStyle/>
          <a:p>
            <a:pPr algn="l"/>
            <a:r>
              <a:rPr sz="650" b="0" i="0">
                <a:solidFill>
                  <a:srgbClr val="000000"/>
                </a:solidFill>
                <a:latin typeface="Arial"/>
              </a:rPr>
              <a:t>1. BOLLARDS IN REGULATION WITH CFC 312.2
2. REGULAR 84" POST — SCHEDULE 40 GALVANIZED STEEL PIPE.
3. DETAIL CONSIDERED MINIMUM FOR INSTALLATION. CARE WILL BE TAKEN TO CONFORM TO EXISTING BOLLARD AESTHETIC SUCH AS COLOR, END-CAP, OR REFLECTIVE VISIBILITY STRIPS.
4. REPAIRS, IF NECESSARY, SHALL BE MADE TO EXISTING FINISH GRADE AFTER BOLLARD INSTALLATION.</a:t>
            </a:r>
          </a:p>
        </p:txBody>
      </p:sp>
      <p:sp>
        <p:nvSpPr>
          <p:cNvPr id="17" name="Rectangle 16"/>
          <p:cNvSpPr/>
          <p:nvPr/>
        </p:nvSpPr>
        <p:spPr>
          <a:xfrm>
            <a:off x="16806672" y="0"/>
            <a:ext cx="3127248" cy="13414248"/>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6824960" y="0"/>
            <a:ext cx="3108960" cy="82296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6870680" y="45720"/>
            <a:ext cx="3017520" cy="731520"/>
          </a:xfrm>
          <a:prstGeom prst="rect">
            <a:avLst/>
          </a:prstGeom>
          <a:noFill/>
        </p:spPr>
        <p:txBody>
          <a:bodyPr wrap="square" lIns="25400" rIns="12700" tIns="12700" bIns="12700"/>
          <a:lstStyle/>
          <a:p>
            <a:pPr algn="ctr"/>
            <a:r>
              <a:rPr sz="2000" b="1" i="0">
                <a:solidFill>
                  <a:srgbClr val="0B1E35"/>
                </a:solidFill>
                <a:latin typeface="Arial"/>
              </a:rPr>
              <a:t>ClearSky</a:t>
            </a:r>
          </a:p>
        </p:txBody>
      </p:sp>
      <p:sp>
        <p:nvSpPr>
          <p:cNvPr id="20" name="TextBox 19"/>
          <p:cNvSpPr txBox="1"/>
          <p:nvPr/>
        </p:nvSpPr>
        <p:spPr>
          <a:xfrm>
            <a:off x="16870680" y="457200"/>
            <a:ext cx="3017520" cy="320040"/>
          </a:xfrm>
          <a:prstGeom prst="rect">
            <a:avLst/>
          </a:prstGeom>
          <a:noFill/>
        </p:spPr>
        <p:txBody>
          <a:bodyPr wrap="square" lIns="25400" rIns="12700" tIns="12700" bIns="12700"/>
          <a:lstStyle/>
          <a:p>
            <a:pPr algn="ctr"/>
            <a:r>
              <a:rPr sz="700" b="1" i="0">
                <a:solidFill>
                  <a:srgbClr val="C9A84C"/>
                </a:solidFill>
                <a:latin typeface="Arial"/>
              </a:rPr>
              <a:t>BUILDERS LLC</a:t>
            </a:r>
          </a:p>
        </p:txBody>
      </p:sp>
      <p:sp>
        <p:nvSpPr>
          <p:cNvPr id="21" name="Rectangle 20"/>
          <p:cNvSpPr/>
          <p:nvPr/>
        </p:nvSpPr>
        <p:spPr>
          <a:xfrm>
            <a:off x="16824960" y="822960"/>
            <a:ext cx="3108960" cy="6858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6870680" y="859536"/>
            <a:ext cx="3017520" cy="612648"/>
          </a:xfrm>
          <a:prstGeom prst="rect">
            <a:avLst/>
          </a:prstGeom>
          <a:noFill/>
        </p:spPr>
        <p:txBody>
          <a:bodyPr wrap="square" lIns="25400" rIns="12700" tIns="12700" bIns="12700"/>
          <a:lstStyle/>
          <a:p>
            <a:pPr algn="l"/>
            <a:r>
              <a:rPr sz="650" b="0">
                <a:solidFill>
                  <a:srgbClr val="000000"/>
                </a:solidFill>
                <a:latin typeface="Arial"/>
              </a:rPr>
              <a:t>PO BOX {{GC_PO_BOX}}</a:t>
            </a:r>
          </a:p>
          <a:p>
            <a:pPr algn="l"/>
            <a:r>
              <a:rPr sz="650" b="0">
                <a:solidFill>
                  <a:srgbClr val="000000"/>
                </a:solidFill>
                <a:latin typeface="Arial"/>
              </a:rPr>
              <a:t>{{GC_CITY}}, {{GC_STATE}} {{GC_ZIP}}</a:t>
            </a:r>
          </a:p>
          <a:p>
            <a:pPr algn="l"/>
            <a:r>
              <a:rPr sz="650" b="0">
                <a:solidFill>
                  <a:srgbClr val="000000"/>
                </a:solidFill>
                <a:latin typeface="Arial"/>
              </a:rPr>
              <a:t>PH: {{GC_PHONE}}</a:t>
            </a:r>
          </a:p>
        </p:txBody>
      </p:sp>
      <p:sp>
        <p:nvSpPr>
          <p:cNvPr id="23" name="Rectangle 22"/>
          <p:cNvSpPr/>
          <p:nvPr/>
        </p:nvSpPr>
        <p:spPr>
          <a:xfrm>
            <a:off x="16824960" y="1508760"/>
            <a:ext cx="3108960" cy="5943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rot="-5400000">
            <a:off x="16916400" y="1600200"/>
            <a:ext cx="2926080" cy="5760720"/>
          </a:xfrm>
          <a:prstGeom prst="rect">
            <a:avLst/>
          </a:prstGeom>
          <a:noFill/>
        </p:spPr>
        <p:txBody>
          <a:bodyPr wrap="none">
            <a:spAutoFit/>
          </a:bodyPr>
          <a:lstStyle/>
          <a:p>
            <a:r>
              <a:rPr sz="800" b="1">
                <a:solidFill>
                  <a:srgbClr val="0B1E35"/>
                </a:solidFill>
                <a:latin typeface="Arial"/>
              </a:rPr>
              <a:t>PN - {{PROJECT_NAME}}</a:t>
            </a:r>
          </a:p>
          <a:p>
            <a:r>
              <a:rPr sz="700" b="0">
                <a:solidFill>
                  <a:srgbClr val="000000"/>
                </a:solidFill>
                <a:latin typeface="Arial"/>
              </a:rPr>
              <a:t>{{SITE_ADDR}}</a:t>
            </a:r>
          </a:p>
          <a:p>
            <a:r>
              <a:rPr sz="700" b="0">
                <a:solidFill>
                  <a:srgbClr val="000000"/>
                </a:solidFill>
                <a:latin typeface="Arial"/>
              </a:rPr>
              <a:t>{{CITY_SHORT}}, {{STATE}} {{ZIP}}</a:t>
            </a:r>
          </a:p>
          <a:p>
            <a:r>
              <a:rPr sz="700" b="0">
                <a:solidFill>
                  <a:srgbClr val="000000"/>
                </a:solidFill>
                <a:latin typeface="Arial"/>
              </a:rPr>
              <a:t>APN: {{APN}}</a:t>
            </a:r>
          </a:p>
        </p:txBody>
      </p:sp>
      <p:sp>
        <p:nvSpPr>
          <p:cNvPr id="25" name="Rectangle 24"/>
          <p:cNvSpPr/>
          <p:nvPr/>
        </p:nvSpPr>
        <p:spPr>
          <a:xfrm>
            <a:off x="16824960" y="7452360"/>
            <a:ext cx="3108960" cy="1645920"/>
          </a:xfrm>
          <a:prstGeom prst="rect">
            <a:avLst/>
          </a:prstGeom>
          <a:solidFill>
            <a:srgbClr val="FFF3A8"/>
          </a:solidFill>
          <a:ln w="1270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6870680" y="7498080"/>
            <a:ext cx="3017520" cy="1554480"/>
          </a:xfrm>
          <a:prstGeom prst="rect">
            <a:avLst/>
          </a:prstGeom>
          <a:solidFill>
            <a:srgbClr val="FFF3A8"/>
          </a:solidFill>
        </p:spPr>
        <p:txBody>
          <a:bodyPr wrap="square" lIns="25400" rIns="12700" tIns="12700" bIns="12700"/>
          <a:lstStyle/>
          <a:p>
            <a:pPr algn="l"/>
            <a:r>
              <a:rPr sz="650" b="0">
                <a:solidFill>
                  <a:srgbClr val="CC0000"/>
                </a:solidFill>
                <a:latin typeface="Arial"/>
              </a:rPr>
              <a:t>{{PERMIT_NO}}</a:t>
            </a:r>
          </a:p>
          <a:p>
            <a:pPr algn="l"/>
            <a:r>
              <a:rPr sz="650" b="0">
                <a:solidFill>
                  <a:srgbClr val="CC0000"/>
                </a:solidFill>
                <a:latin typeface="Arial"/>
              </a:rPr>
              <a:t>REVIEWED FOR COMPLIANCE</a:t>
            </a:r>
          </a:p>
          <a:p>
            <a:pPr algn="l"/>
            <a:r>
              <a:rPr sz="650" b="0">
                <a:solidFill>
                  <a:srgbClr val="CC0000"/>
                </a:solidFill>
                <a:latin typeface="Arial"/>
              </a:rPr>
              <a:t>{{AHJ_CITY}}</a:t>
            </a:r>
          </a:p>
          <a:p>
            <a:pPr algn="l"/>
            <a:r>
              <a:rPr sz="650" b="0">
                <a:solidFill>
                  <a:srgbClr val="CC0000"/>
                </a:solidFill>
                <a:latin typeface="Arial"/>
              </a:rPr>
              <a:t>{{AHJ_DEPT}}</a:t>
            </a:r>
          </a:p>
          <a:p>
            <a:pPr algn="l"/>
            <a:r>
              <a:rPr sz="650" b="0">
                <a:solidFill>
                  <a:srgbClr val="CC0000"/>
                </a:solidFill>
                <a:latin typeface="Arial"/>
              </a:rPr>
              <a:t>For {{PROJECT_NAME}} Subject to Code Compliance.</a:t>
            </a:r>
          </a:p>
          <a:p>
            <a:pPr algn="l"/>
            <a:r>
              <a:rPr sz="650" b="0">
                <a:solidFill>
                  <a:srgbClr val="CC0000"/>
                </a:solidFill>
                <a:latin typeface="Arial"/>
              </a:rPr>
              <a:t>REVISIONS NEED REVIEW</a:t>
            </a:r>
          </a:p>
        </p:txBody>
      </p:sp>
      <p:sp>
        <p:nvSpPr>
          <p:cNvPr id="27" name="Rectangle 26"/>
          <p:cNvSpPr/>
          <p:nvPr/>
        </p:nvSpPr>
        <p:spPr>
          <a:xfrm>
            <a:off x="16824960" y="9098280"/>
            <a:ext cx="3108960" cy="109728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6824960" y="9098280"/>
            <a:ext cx="3108960" cy="201168"/>
          </a:xfrm>
          <a:prstGeom prst="rect">
            <a:avLst/>
          </a:prstGeom>
          <a:solidFill>
            <a:srgbClr val="E8E8E8"/>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6852392" y="9125712"/>
            <a:ext cx="640080" cy="164592"/>
          </a:xfrm>
          <a:prstGeom prst="rect">
            <a:avLst/>
          </a:prstGeom>
          <a:noFill/>
        </p:spPr>
        <p:txBody>
          <a:bodyPr wrap="square" lIns="25400" rIns="12700" tIns="12700" bIns="12700"/>
          <a:lstStyle/>
          <a:p>
            <a:pPr algn="l"/>
            <a:r>
              <a:rPr sz="600" b="1" i="0">
                <a:solidFill>
                  <a:srgbClr val="000000"/>
                </a:solidFill>
                <a:latin typeface="Arial"/>
              </a:rPr>
              <a:t>DATE</a:t>
            </a:r>
          </a:p>
        </p:txBody>
      </p:sp>
      <p:sp>
        <p:nvSpPr>
          <p:cNvPr id="30" name="TextBox 29"/>
          <p:cNvSpPr txBox="1"/>
          <p:nvPr/>
        </p:nvSpPr>
        <p:spPr>
          <a:xfrm>
            <a:off x="17510760" y="9125712"/>
            <a:ext cx="365760" cy="164592"/>
          </a:xfrm>
          <a:prstGeom prst="rect">
            <a:avLst/>
          </a:prstGeom>
          <a:noFill/>
        </p:spPr>
        <p:txBody>
          <a:bodyPr wrap="square" lIns="25400" rIns="12700" tIns="12700" bIns="12700"/>
          <a:lstStyle/>
          <a:p>
            <a:pPr algn="l"/>
            <a:r>
              <a:rPr sz="600" b="1" i="0">
                <a:solidFill>
                  <a:srgbClr val="000000"/>
                </a:solidFill>
                <a:latin typeface="Arial"/>
              </a:rPr>
              <a:t>REV</a:t>
            </a:r>
          </a:p>
        </p:txBody>
      </p:sp>
      <p:sp>
        <p:nvSpPr>
          <p:cNvPr id="31" name="TextBox 30"/>
          <p:cNvSpPr txBox="1"/>
          <p:nvPr/>
        </p:nvSpPr>
        <p:spPr>
          <a:xfrm>
            <a:off x="17922240" y="9125712"/>
            <a:ext cx="1828800" cy="164592"/>
          </a:xfrm>
          <a:prstGeom prst="rect">
            <a:avLst/>
          </a:prstGeom>
          <a:noFill/>
        </p:spPr>
        <p:txBody>
          <a:bodyPr wrap="square" lIns="25400" rIns="12700" tIns="12700" bIns="12700"/>
          <a:lstStyle/>
          <a:p>
            <a:pPr algn="l"/>
            <a:r>
              <a:rPr sz="600" b="1" i="0">
                <a:solidFill>
                  <a:srgbClr val="000000"/>
                </a:solidFill>
                <a:latin typeface="Arial"/>
              </a:rPr>
              <a:t>COMMENTS</a:t>
            </a:r>
          </a:p>
        </p:txBody>
      </p:sp>
      <p:sp>
        <p:nvSpPr>
          <p:cNvPr id="32" name="TextBox 31"/>
          <p:cNvSpPr txBox="1"/>
          <p:nvPr/>
        </p:nvSpPr>
        <p:spPr>
          <a:xfrm>
            <a:off x="16852392" y="9326880"/>
            <a:ext cx="640080" cy="164592"/>
          </a:xfrm>
          <a:prstGeom prst="rect">
            <a:avLst/>
          </a:prstGeom>
          <a:noFill/>
        </p:spPr>
        <p:txBody>
          <a:bodyPr wrap="square" lIns="25400" rIns="12700" tIns="12700" bIns="12700"/>
          <a:lstStyle/>
          <a:p>
            <a:pPr algn="l"/>
            <a:r>
              <a:rPr sz="600" b="0" i="0">
                <a:solidFill>
                  <a:srgbClr val="000000"/>
                </a:solidFill>
                <a:latin typeface="Arial"/>
              </a:rPr>
              <a:t>{{ISSUE_DATE}}</a:t>
            </a:r>
          </a:p>
        </p:txBody>
      </p:sp>
      <p:sp>
        <p:nvSpPr>
          <p:cNvPr id="33" name="TextBox 32"/>
          <p:cNvSpPr txBox="1"/>
          <p:nvPr/>
        </p:nvSpPr>
        <p:spPr>
          <a:xfrm>
            <a:off x="17510760" y="9326880"/>
            <a:ext cx="365760" cy="164592"/>
          </a:xfrm>
          <a:prstGeom prst="rect">
            <a:avLst/>
          </a:prstGeom>
          <a:noFill/>
        </p:spPr>
        <p:txBody>
          <a:bodyPr wrap="square" lIns="25400" rIns="12700" tIns="12700" bIns="12700"/>
          <a:lstStyle/>
          <a:p>
            <a:pPr algn="l"/>
            <a:r>
              <a:rPr sz="600" b="0" i="0">
                <a:solidFill>
                  <a:srgbClr val="000000"/>
                </a:solidFill>
                <a:latin typeface="Arial"/>
              </a:rPr>
              <a:t>00</a:t>
            </a:r>
          </a:p>
        </p:txBody>
      </p:sp>
      <p:sp>
        <p:nvSpPr>
          <p:cNvPr id="34" name="TextBox 33"/>
          <p:cNvSpPr txBox="1"/>
          <p:nvPr/>
        </p:nvSpPr>
        <p:spPr>
          <a:xfrm>
            <a:off x="17922240" y="9326880"/>
            <a:ext cx="1828800" cy="164592"/>
          </a:xfrm>
          <a:prstGeom prst="rect">
            <a:avLst/>
          </a:prstGeom>
          <a:noFill/>
        </p:spPr>
        <p:txBody>
          <a:bodyPr wrap="square" lIns="25400" rIns="12700" tIns="12700" bIns="12700"/>
          <a:lstStyle/>
          <a:p>
            <a:pPr algn="l"/>
            <a:r>
              <a:rPr sz="600" b="0" i="0">
                <a:solidFill>
                  <a:srgbClr val="000000"/>
                </a:solidFill>
                <a:latin typeface="Arial"/>
              </a:rPr>
              <a:t>ISSUE FOR PERMIT</a:t>
            </a:r>
          </a:p>
        </p:txBody>
      </p:sp>
      <p:sp>
        <p:nvSpPr>
          <p:cNvPr id="35" name="TextBox 34"/>
          <p:cNvSpPr txBox="1"/>
          <p:nvPr/>
        </p:nvSpPr>
        <p:spPr>
          <a:xfrm>
            <a:off x="16852392" y="9528048"/>
            <a:ext cx="64008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36" name="TextBox 35"/>
          <p:cNvSpPr txBox="1"/>
          <p:nvPr/>
        </p:nvSpPr>
        <p:spPr>
          <a:xfrm>
            <a:off x="17510760" y="9528048"/>
            <a:ext cx="36576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37" name="TextBox 36"/>
          <p:cNvSpPr txBox="1"/>
          <p:nvPr/>
        </p:nvSpPr>
        <p:spPr>
          <a:xfrm>
            <a:off x="17922240" y="9528048"/>
            <a:ext cx="182880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38" name="TextBox 37"/>
          <p:cNvSpPr txBox="1"/>
          <p:nvPr/>
        </p:nvSpPr>
        <p:spPr>
          <a:xfrm>
            <a:off x="16852392" y="9729216"/>
            <a:ext cx="64008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39" name="TextBox 38"/>
          <p:cNvSpPr txBox="1"/>
          <p:nvPr/>
        </p:nvSpPr>
        <p:spPr>
          <a:xfrm>
            <a:off x="17510760" y="9729216"/>
            <a:ext cx="36576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40" name="TextBox 39"/>
          <p:cNvSpPr txBox="1"/>
          <p:nvPr/>
        </p:nvSpPr>
        <p:spPr>
          <a:xfrm>
            <a:off x="17922240" y="9729216"/>
            <a:ext cx="182880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41" name="TextBox 40"/>
          <p:cNvSpPr txBox="1"/>
          <p:nvPr/>
        </p:nvSpPr>
        <p:spPr>
          <a:xfrm>
            <a:off x="16852392" y="9930384"/>
            <a:ext cx="64008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42" name="TextBox 41"/>
          <p:cNvSpPr txBox="1"/>
          <p:nvPr/>
        </p:nvSpPr>
        <p:spPr>
          <a:xfrm>
            <a:off x="17510760" y="9930384"/>
            <a:ext cx="36576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43" name="TextBox 42"/>
          <p:cNvSpPr txBox="1"/>
          <p:nvPr/>
        </p:nvSpPr>
        <p:spPr>
          <a:xfrm>
            <a:off x="17922240" y="9930384"/>
            <a:ext cx="182880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44" name="Rectangle 43"/>
          <p:cNvSpPr/>
          <p:nvPr/>
        </p:nvSpPr>
        <p:spPr>
          <a:xfrm>
            <a:off x="16824960" y="10195560"/>
            <a:ext cx="3108960" cy="73152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6824960" y="10213848"/>
            <a:ext cx="3108960" cy="457200"/>
          </a:xfrm>
          <a:prstGeom prst="rect">
            <a:avLst/>
          </a:prstGeom>
          <a:noFill/>
        </p:spPr>
        <p:txBody>
          <a:bodyPr wrap="square" lIns="25400" rIns="12700" tIns="12700" bIns="12700"/>
          <a:lstStyle/>
          <a:p>
            <a:pPr algn="ctr"/>
            <a:r>
              <a:rPr sz="2800" b="1" i="0">
                <a:solidFill>
                  <a:srgbClr val="0B1E35"/>
                </a:solidFill>
                <a:latin typeface="Arial"/>
              </a:rPr>
              <a:t>S1.1</a:t>
            </a:r>
          </a:p>
        </p:txBody>
      </p:sp>
      <p:sp>
        <p:nvSpPr>
          <p:cNvPr id="46" name="TextBox 45"/>
          <p:cNvSpPr txBox="1"/>
          <p:nvPr/>
        </p:nvSpPr>
        <p:spPr>
          <a:xfrm>
            <a:off x="16824960" y="10671048"/>
            <a:ext cx="3108960" cy="237744"/>
          </a:xfrm>
          <a:prstGeom prst="rect">
            <a:avLst/>
          </a:prstGeom>
          <a:noFill/>
        </p:spPr>
        <p:txBody>
          <a:bodyPr wrap="square" lIns="25400" rIns="12700" tIns="12700" bIns="12700"/>
          <a:lstStyle/>
          <a:p>
            <a:pPr algn="ctr"/>
            <a:r>
              <a:rPr sz="800" b="1" i="0">
                <a:solidFill>
                  <a:srgbClr val="000000"/>
                </a:solidFill>
                <a:latin typeface="Arial"/>
              </a:rPr>
              <a:t>BESS PAD DETAILS</a:t>
            </a:r>
          </a:p>
        </p:txBody>
      </p:sp>
      <p:sp>
        <p:nvSpPr>
          <p:cNvPr id="47" name="Rectangle 46"/>
          <p:cNvSpPr/>
          <p:nvPr/>
        </p:nvSpPr>
        <p:spPr>
          <a:xfrm>
            <a:off x="16824960" y="10927080"/>
            <a:ext cx="3108960" cy="2487168"/>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6870680" y="10963656"/>
            <a:ext cx="3017520" cy="2395728"/>
          </a:xfrm>
          <a:prstGeom prst="rect">
            <a:avLst/>
          </a:prstGeom>
          <a:noFill/>
        </p:spPr>
        <p:txBody>
          <a:bodyPr wrap="square" lIns="25400" rIns="12700" tIns="12700" bIns="12700"/>
          <a:lstStyle/>
          <a:p>
            <a:pPr algn="l"/>
            <a:r>
              <a:rPr sz="650" b="0">
                <a:solidFill>
                  <a:srgbClr val="000000"/>
                </a:solidFill>
                <a:latin typeface="Arial"/>
              </a:rPr>
              <a:t>ISSUE DATE</a:t>
            </a:r>
          </a:p>
          <a:p>
            <a:pPr algn="l"/>
            <a:r>
              <a:rPr sz="650" b="0">
                <a:solidFill>
                  <a:srgbClr val="000000"/>
                </a:solidFill>
                <a:latin typeface="Arial"/>
              </a:rPr>
              <a:t>{{ISSUE_DATE}}</a:t>
            </a:r>
          </a:p>
          <a:p>
            <a:pPr algn="l"/>
            <a:r>
              <a:rPr sz="650" b="0">
                <a:solidFill>
                  <a:srgbClr val="000000"/>
                </a:solidFill>
                <a:latin typeface="Arial"/>
              </a:rPr>
              <a:t>REVISION DATE</a:t>
            </a:r>
          </a:p>
          <a:p>
            <a:pPr algn="l"/>
            <a:r>
              <a:rPr sz="650" b="0">
                <a:solidFill>
                  <a:srgbClr val="000000"/>
                </a:solidFill>
                <a:latin typeface="Arial"/>
              </a:rPr>
              <a:t>{{ISSUE_DATE}}</a:t>
            </a:r>
          </a:p>
          <a:p>
            <a:pPr algn="l"/>
            <a:r>
              <a:rPr sz="650" b="0">
                <a:solidFill>
                  <a:srgbClr val="000000"/>
                </a:solidFill>
                <a:latin typeface="Arial"/>
              </a:rPr>
              <a:t>DESIGNED BY</a:t>
            </a:r>
          </a:p>
          <a:p>
            <a:pPr algn="l"/>
            <a:r>
              <a:rPr sz="650" b="0">
                <a:solidFill>
                  <a:srgbClr val="000000"/>
                </a:solidFill>
                <a:latin typeface="Arial"/>
              </a:rPr>
              <a:t>{{DESIGNED_BY}}</a:t>
            </a:r>
          </a:p>
          <a:p>
            <a:pPr algn="l"/>
            <a:r>
              <a:rPr sz="650" b="0">
                <a:solidFill>
                  <a:srgbClr val="000000"/>
                </a:solidFill>
                <a:latin typeface="Arial"/>
              </a:rPr>
              <a:t>CHECKED BY</a:t>
            </a:r>
          </a:p>
          <a:p>
            <a:pPr algn="l"/>
            <a:r>
              <a:rPr sz="650" b="0">
                <a:solidFill>
                  <a:srgbClr val="000000"/>
                </a:solidFill>
                <a:latin typeface="Arial"/>
              </a:rPr>
              <a:t>{{CHECKED_BY}}</a:t>
            </a:r>
          </a:p>
          <a:p>
            <a:pPr algn="l"/>
            <a:r>
              <a:rPr sz="650" b="0">
                <a:solidFill>
                  <a:srgbClr val="000000"/>
                </a:solidFill>
                <a:latin typeface="Arial"/>
              </a:rPr>
              <a:t>JOB NO.</a:t>
            </a:r>
          </a:p>
          <a:p>
            <a:pPr algn="l"/>
            <a:r>
              <a:rPr sz="650" b="0">
                <a:solidFill>
                  <a:srgbClr val="000000"/>
                </a:solidFill>
                <a:latin typeface="Arial"/>
              </a:rPr>
              <a:t>{{JOB_NO}}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00584" y="100584"/>
            <a:ext cx="16614647" cy="13213080"/>
          </a:xfrm>
          <a:prstGeom prst="rect">
            <a:avLst/>
          </a:prstGeom>
          <a:noFill/>
          <a:ln w="9525">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55448"/>
            <a:ext cx="16413479" cy="228600"/>
          </a:xfrm>
          <a:prstGeom prst="rect">
            <a:avLst/>
          </a:prstGeom>
          <a:noFill/>
        </p:spPr>
        <p:txBody>
          <a:bodyPr wrap="square" lIns="25400" rIns="12700" tIns="12700" bIns="12700"/>
          <a:lstStyle/>
          <a:p>
            <a:pPr algn="l"/>
            <a:r>
              <a:rPr sz="800" b="1" i="0">
                <a:solidFill>
                  <a:srgbClr val="0B1E35"/>
                </a:solidFill>
                <a:latin typeface="Arial"/>
              </a:rPr>
              <a:t>GEAR PAD DETAILS — INVERTER / TRANSFORMER / AC DISCONNECT</a:t>
            </a:r>
          </a:p>
        </p:txBody>
      </p:sp>
      <p:sp>
        <p:nvSpPr>
          <p:cNvPr id="4" name="Rectangle 3"/>
          <p:cNvSpPr/>
          <p:nvPr/>
        </p:nvSpPr>
        <p:spPr>
          <a:xfrm>
            <a:off x="201168" y="429768"/>
            <a:ext cx="16413479" cy="12554712"/>
          </a:xfrm>
          <a:prstGeom prst="rect">
            <a:avLst/>
          </a:prstGeom>
          <a:solidFill>
            <a:srgbClr val="E26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 y="6580124"/>
            <a:ext cx="16413479" cy="254000"/>
          </a:xfrm>
          <a:prstGeom prst="rect">
            <a:avLst/>
          </a:prstGeom>
          <a:noFill/>
        </p:spPr>
        <p:txBody>
          <a:bodyPr wrap="square" lIns="25400" rIns="12700" tIns="12700" bIns="12700"/>
          <a:lstStyle/>
          <a:p>
            <a:pPr algn="ctr"/>
            <a:r>
              <a:rPr sz="1400" b="0" i="0">
                <a:solidFill>
                  <a:srgbClr val="FFFFFF"/>
                </a:solidFill>
                <a:latin typeface="Arial"/>
              </a:rPr>
              <a:t>S1.2 GEAR PAD DETAILS
(Top view, front view, side view, pier details)</a:t>
            </a:r>
          </a:p>
        </p:txBody>
      </p:sp>
      <p:sp>
        <p:nvSpPr>
          <p:cNvPr id="6" name="TextBox 5"/>
          <p:cNvSpPr txBox="1"/>
          <p:nvPr/>
        </p:nvSpPr>
        <p:spPr>
          <a:xfrm>
            <a:off x="201168" y="12938760"/>
            <a:ext cx="9144000" cy="228600"/>
          </a:xfrm>
          <a:prstGeom prst="rect">
            <a:avLst/>
          </a:prstGeom>
          <a:noFill/>
        </p:spPr>
        <p:txBody>
          <a:bodyPr wrap="square" lIns="25400" rIns="12700" tIns="12700" bIns="12700"/>
          <a:lstStyle/>
          <a:p>
            <a:pPr algn="l"/>
            <a:r>
              <a:rPr sz="700" b="0" i="0">
                <a:solidFill>
                  <a:srgbClr val="000000"/>
                </a:solidFill>
                <a:latin typeface="Arial"/>
              </a:rPr>
              <a:t>1 — GEAR PAD TOP VIEW · SCALE: 1" = 1'    2 — FRONT VIEW · SCALE: 1" = 1'    3 — SIDE VIEW · SCALE: 1" = 1'    4 — PIER ELEVATION    5 — PIER PLAN VIEW</a:t>
            </a:r>
          </a:p>
        </p:txBody>
      </p:sp>
      <p:sp>
        <p:nvSpPr>
          <p:cNvPr id="7" name="Rectangle 6"/>
          <p:cNvSpPr/>
          <p:nvPr/>
        </p:nvSpPr>
        <p:spPr>
          <a:xfrm>
            <a:off x="16806672" y="0"/>
            <a:ext cx="3127248" cy="13414248"/>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6824960" y="0"/>
            <a:ext cx="3108960" cy="82296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870680" y="45720"/>
            <a:ext cx="3017520" cy="731520"/>
          </a:xfrm>
          <a:prstGeom prst="rect">
            <a:avLst/>
          </a:prstGeom>
          <a:noFill/>
        </p:spPr>
        <p:txBody>
          <a:bodyPr wrap="square" lIns="25400" rIns="12700" tIns="12700" bIns="12700"/>
          <a:lstStyle/>
          <a:p>
            <a:pPr algn="ctr"/>
            <a:r>
              <a:rPr sz="2000" b="1" i="0">
                <a:solidFill>
                  <a:srgbClr val="0B1E35"/>
                </a:solidFill>
                <a:latin typeface="Arial"/>
              </a:rPr>
              <a:t>ClearSky</a:t>
            </a:r>
          </a:p>
        </p:txBody>
      </p:sp>
      <p:sp>
        <p:nvSpPr>
          <p:cNvPr id="10" name="TextBox 9"/>
          <p:cNvSpPr txBox="1"/>
          <p:nvPr/>
        </p:nvSpPr>
        <p:spPr>
          <a:xfrm>
            <a:off x="16870680" y="457200"/>
            <a:ext cx="3017520" cy="320040"/>
          </a:xfrm>
          <a:prstGeom prst="rect">
            <a:avLst/>
          </a:prstGeom>
          <a:noFill/>
        </p:spPr>
        <p:txBody>
          <a:bodyPr wrap="square" lIns="25400" rIns="12700" tIns="12700" bIns="12700"/>
          <a:lstStyle/>
          <a:p>
            <a:pPr algn="ctr"/>
            <a:r>
              <a:rPr sz="700" b="1" i="0">
                <a:solidFill>
                  <a:srgbClr val="C9A84C"/>
                </a:solidFill>
                <a:latin typeface="Arial"/>
              </a:rPr>
              <a:t>BUILDERS LLC</a:t>
            </a:r>
          </a:p>
        </p:txBody>
      </p:sp>
      <p:sp>
        <p:nvSpPr>
          <p:cNvPr id="11" name="Rectangle 10"/>
          <p:cNvSpPr/>
          <p:nvPr/>
        </p:nvSpPr>
        <p:spPr>
          <a:xfrm>
            <a:off x="16824960" y="822960"/>
            <a:ext cx="3108960" cy="6858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870680" y="859536"/>
            <a:ext cx="3017520" cy="612648"/>
          </a:xfrm>
          <a:prstGeom prst="rect">
            <a:avLst/>
          </a:prstGeom>
          <a:noFill/>
        </p:spPr>
        <p:txBody>
          <a:bodyPr wrap="square" lIns="25400" rIns="12700" tIns="12700" bIns="12700"/>
          <a:lstStyle/>
          <a:p>
            <a:pPr algn="l"/>
            <a:r>
              <a:rPr sz="650" b="0">
                <a:solidFill>
                  <a:srgbClr val="000000"/>
                </a:solidFill>
                <a:latin typeface="Arial"/>
              </a:rPr>
              <a:t>PO BOX {{GC_PO_BOX}}</a:t>
            </a:r>
          </a:p>
          <a:p>
            <a:pPr algn="l"/>
            <a:r>
              <a:rPr sz="650" b="0">
                <a:solidFill>
                  <a:srgbClr val="000000"/>
                </a:solidFill>
                <a:latin typeface="Arial"/>
              </a:rPr>
              <a:t>{{GC_CITY}}, {{GC_STATE}} {{GC_ZIP}}</a:t>
            </a:r>
          </a:p>
          <a:p>
            <a:pPr algn="l"/>
            <a:r>
              <a:rPr sz="650" b="0">
                <a:solidFill>
                  <a:srgbClr val="000000"/>
                </a:solidFill>
                <a:latin typeface="Arial"/>
              </a:rPr>
              <a:t>PH: {{GC_PHONE}}</a:t>
            </a:r>
          </a:p>
        </p:txBody>
      </p:sp>
      <p:sp>
        <p:nvSpPr>
          <p:cNvPr id="13" name="Rectangle 12"/>
          <p:cNvSpPr/>
          <p:nvPr/>
        </p:nvSpPr>
        <p:spPr>
          <a:xfrm>
            <a:off x="16824960" y="1508760"/>
            <a:ext cx="3108960" cy="5943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rot="-5400000">
            <a:off x="16916400" y="1600200"/>
            <a:ext cx="2926080" cy="5760720"/>
          </a:xfrm>
          <a:prstGeom prst="rect">
            <a:avLst/>
          </a:prstGeom>
          <a:noFill/>
        </p:spPr>
        <p:txBody>
          <a:bodyPr wrap="none">
            <a:spAutoFit/>
          </a:bodyPr>
          <a:lstStyle/>
          <a:p>
            <a:r>
              <a:rPr sz="800" b="1">
                <a:solidFill>
                  <a:srgbClr val="0B1E35"/>
                </a:solidFill>
                <a:latin typeface="Arial"/>
              </a:rPr>
              <a:t>PN - {{PROJECT_NAME}}</a:t>
            </a:r>
          </a:p>
          <a:p>
            <a:r>
              <a:rPr sz="700" b="0">
                <a:solidFill>
                  <a:srgbClr val="000000"/>
                </a:solidFill>
                <a:latin typeface="Arial"/>
              </a:rPr>
              <a:t>{{SITE_ADDR}}</a:t>
            </a:r>
          </a:p>
          <a:p>
            <a:r>
              <a:rPr sz="700" b="0">
                <a:solidFill>
                  <a:srgbClr val="000000"/>
                </a:solidFill>
                <a:latin typeface="Arial"/>
              </a:rPr>
              <a:t>{{CITY_SHORT}}, {{STATE}} {{ZIP}}</a:t>
            </a:r>
          </a:p>
          <a:p>
            <a:r>
              <a:rPr sz="700" b="0">
                <a:solidFill>
                  <a:srgbClr val="000000"/>
                </a:solidFill>
                <a:latin typeface="Arial"/>
              </a:rPr>
              <a:t>APN: {{APN}}</a:t>
            </a:r>
          </a:p>
        </p:txBody>
      </p:sp>
      <p:sp>
        <p:nvSpPr>
          <p:cNvPr id="15" name="Rectangle 14"/>
          <p:cNvSpPr/>
          <p:nvPr/>
        </p:nvSpPr>
        <p:spPr>
          <a:xfrm>
            <a:off x="16824960" y="7452360"/>
            <a:ext cx="3108960" cy="1645920"/>
          </a:xfrm>
          <a:prstGeom prst="rect">
            <a:avLst/>
          </a:prstGeom>
          <a:solidFill>
            <a:srgbClr val="FFF3A8"/>
          </a:solidFill>
          <a:ln w="1270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6870680" y="7498080"/>
            <a:ext cx="3017520" cy="1554480"/>
          </a:xfrm>
          <a:prstGeom prst="rect">
            <a:avLst/>
          </a:prstGeom>
          <a:solidFill>
            <a:srgbClr val="FFF3A8"/>
          </a:solidFill>
        </p:spPr>
        <p:txBody>
          <a:bodyPr wrap="square" lIns="25400" rIns="12700" tIns="12700" bIns="12700"/>
          <a:lstStyle/>
          <a:p>
            <a:pPr algn="l"/>
            <a:r>
              <a:rPr sz="650" b="0">
                <a:solidFill>
                  <a:srgbClr val="CC0000"/>
                </a:solidFill>
                <a:latin typeface="Arial"/>
              </a:rPr>
              <a:t>{{PERMIT_NO}}</a:t>
            </a:r>
          </a:p>
          <a:p>
            <a:pPr algn="l"/>
            <a:r>
              <a:rPr sz="650" b="0">
                <a:solidFill>
                  <a:srgbClr val="CC0000"/>
                </a:solidFill>
                <a:latin typeface="Arial"/>
              </a:rPr>
              <a:t>REVIEWED FOR COMPLIANCE</a:t>
            </a:r>
          </a:p>
          <a:p>
            <a:pPr algn="l"/>
            <a:r>
              <a:rPr sz="650" b="0">
                <a:solidFill>
                  <a:srgbClr val="CC0000"/>
                </a:solidFill>
                <a:latin typeface="Arial"/>
              </a:rPr>
              <a:t>{{AHJ_CITY}}</a:t>
            </a:r>
          </a:p>
          <a:p>
            <a:pPr algn="l"/>
            <a:r>
              <a:rPr sz="650" b="0">
                <a:solidFill>
                  <a:srgbClr val="CC0000"/>
                </a:solidFill>
                <a:latin typeface="Arial"/>
              </a:rPr>
              <a:t>{{AHJ_DEPT}}</a:t>
            </a:r>
          </a:p>
          <a:p>
            <a:pPr algn="l"/>
            <a:r>
              <a:rPr sz="650" b="0">
                <a:solidFill>
                  <a:srgbClr val="CC0000"/>
                </a:solidFill>
                <a:latin typeface="Arial"/>
              </a:rPr>
              <a:t>For {{PROJECT_NAME}} Subject to Code Compliance.</a:t>
            </a:r>
          </a:p>
          <a:p>
            <a:pPr algn="l"/>
            <a:r>
              <a:rPr sz="650" b="0">
                <a:solidFill>
                  <a:srgbClr val="CC0000"/>
                </a:solidFill>
                <a:latin typeface="Arial"/>
              </a:rPr>
              <a:t>REVISIONS NEED REVIEW</a:t>
            </a:r>
          </a:p>
        </p:txBody>
      </p:sp>
      <p:sp>
        <p:nvSpPr>
          <p:cNvPr id="17" name="Rectangle 16"/>
          <p:cNvSpPr/>
          <p:nvPr/>
        </p:nvSpPr>
        <p:spPr>
          <a:xfrm>
            <a:off x="16824960" y="9098280"/>
            <a:ext cx="3108960" cy="109728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6824960" y="9098280"/>
            <a:ext cx="3108960" cy="201168"/>
          </a:xfrm>
          <a:prstGeom prst="rect">
            <a:avLst/>
          </a:prstGeom>
          <a:solidFill>
            <a:srgbClr val="E8E8E8"/>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6852392" y="9125712"/>
            <a:ext cx="640080" cy="164592"/>
          </a:xfrm>
          <a:prstGeom prst="rect">
            <a:avLst/>
          </a:prstGeom>
          <a:noFill/>
        </p:spPr>
        <p:txBody>
          <a:bodyPr wrap="square" lIns="25400" rIns="12700" tIns="12700" bIns="12700"/>
          <a:lstStyle/>
          <a:p>
            <a:pPr algn="l"/>
            <a:r>
              <a:rPr sz="600" b="1" i="0">
                <a:solidFill>
                  <a:srgbClr val="000000"/>
                </a:solidFill>
                <a:latin typeface="Arial"/>
              </a:rPr>
              <a:t>DATE</a:t>
            </a:r>
          </a:p>
        </p:txBody>
      </p:sp>
      <p:sp>
        <p:nvSpPr>
          <p:cNvPr id="20" name="TextBox 19"/>
          <p:cNvSpPr txBox="1"/>
          <p:nvPr/>
        </p:nvSpPr>
        <p:spPr>
          <a:xfrm>
            <a:off x="17510760" y="9125712"/>
            <a:ext cx="365760" cy="164592"/>
          </a:xfrm>
          <a:prstGeom prst="rect">
            <a:avLst/>
          </a:prstGeom>
          <a:noFill/>
        </p:spPr>
        <p:txBody>
          <a:bodyPr wrap="square" lIns="25400" rIns="12700" tIns="12700" bIns="12700"/>
          <a:lstStyle/>
          <a:p>
            <a:pPr algn="l"/>
            <a:r>
              <a:rPr sz="600" b="1" i="0">
                <a:solidFill>
                  <a:srgbClr val="000000"/>
                </a:solidFill>
                <a:latin typeface="Arial"/>
              </a:rPr>
              <a:t>REV</a:t>
            </a:r>
          </a:p>
        </p:txBody>
      </p:sp>
      <p:sp>
        <p:nvSpPr>
          <p:cNvPr id="21" name="TextBox 20"/>
          <p:cNvSpPr txBox="1"/>
          <p:nvPr/>
        </p:nvSpPr>
        <p:spPr>
          <a:xfrm>
            <a:off x="17922240" y="9125712"/>
            <a:ext cx="1828800" cy="164592"/>
          </a:xfrm>
          <a:prstGeom prst="rect">
            <a:avLst/>
          </a:prstGeom>
          <a:noFill/>
        </p:spPr>
        <p:txBody>
          <a:bodyPr wrap="square" lIns="25400" rIns="12700" tIns="12700" bIns="12700"/>
          <a:lstStyle/>
          <a:p>
            <a:pPr algn="l"/>
            <a:r>
              <a:rPr sz="600" b="1" i="0">
                <a:solidFill>
                  <a:srgbClr val="000000"/>
                </a:solidFill>
                <a:latin typeface="Arial"/>
              </a:rPr>
              <a:t>COMMENTS</a:t>
            </a:r>
          </a:p>
        </p:txBody>
      </p:sp>
      <p:sp>
        <p:nvSpPr>
          <p:cNvPr id="22" name="TextBox 21"/>
          <p:cNvSpPr txBox="1"/>
          <p:nvPr/>
        </p:nvSpPr>
        <p:spPr>
          <a:xfrm>
            <a:off x="16852392" y="9326880"/>
            <a:ext cx="640080" cy="164592"/>
          </a:xfrm>
          <a:prstGeom prst="rect">
            <a:avLst/>
          </a:prstGeom>
          <a:noFill/>
        </p:spPr>
        <p:txBody>
          <a:bodyPr wrap="square" lIns="25400" rIns="12700" tIns="12700" bIns="12700"/>
          <a:lstStyle/>
          <a:p>
            <a:pPr algn="l"/>
            <a:r>
              <a:rPr sz="600" b="0" i="0">
                <a:solidFill>
                  <a:srgbClr val="000000"/>
                </a:solidFill>
                <a:latin typeface="Arial"/>
              </a:rPr>
              <a:t>{{ISSUE_DATE}}</a:t>
            </a:r>
          </a:p>
        </p:txBody>
      </p:sp>
      <p:sp>
        <p:nvSpPr>
          <p:cNvPr id="23" name="TextBox 22"/>
          <p:cNvSpPr txBox="1"/>
          <p:nvPr/>
        </p:nvSpPr>
        <p:spPr>
          <a:xfrm>
            <a:off x="17510760" y="9326880"/>
            <a:ext cx="365760" cy="164592"/>
          </a:xfrm>
          <a:prstGeom prst="rect">
            <a:avLst/>
          </a:prstGeom>
          <a:noFill/>
        </p:spPr>
        <p:txBody>
          <a:bodyPr wrap="square" lIns="25400" rIns="12700" tIns="12700" bIns="12700"/>
          <a:lstStyle/>
          <a:p>
            <a:pPr algn="l"/>
            <a:r>
              <a:rPr sz="600" b="0" i="0">
                <a:solidFill>
                  <a:srgbClr val="000000"/>
                </a:solidFill>
                <a:latin typeface="Arial"/>
              </a:rPr>
              <a:t>00</a:t>
            </a:r>
          </a:p>
        </p:txBody>
      </p:sp>
      <p:sp>
        <p:nvSpPr>
          <p:cNvPr id="24" name="TextBox 23"/>
          <p:cNvSpPr txBox="1"/>
          <p:nvPr/>
        </p:nvSpPr>
        <p:spPr>
          <a:xfrm>
            <a:off x="17922240" y="9326880"/>
            <a:ext cx="1828800" cy="164592"/>
          </a:xfrm>
          <a:prstGeom prst="rect">
            <a:avLst/>
          </a:prstGeom>
          <a:noFill/>
        </p:spPr>
        <p:txBody>
          <a:bodyPr wrap="square" lIns="25400" rIns="12700" tIns="12700" bIns="12700"/>
          <a:lstStyle/>
          <a:p>
            <a:pPr algn="l"/>
            <a:r>
              <a:rPr sz="600" b="0" i="0">
                <a:solidFill>
                  <a:srgbClr val="000000"/>
                </a:solidFill>
                <a:latin typeface="Arial"/>
              </a:rPr>
              <a:t>ISSUE FOR PERMIT</a:t>
            </a:r>
          </a:p>
        </p:txBody>
      </p:sp>
      <p:sp>
        <p:nvSpPr>
          <p:cNvPr id="25" name="TextBox 24"/>
          <p:cNvSpPr txBox="1"/>
          <p:nvPr/>
        </p:nvSpPr>
        <p:spPr>
          <a:xfrm>
            <a:off x="16852392" y="9528048"/>
            <a:ext cx="64008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26" name="TextBox 25"/>
          <p:cNvSpPr txBox="1"/>
          <p:nvPr/>
        </p:nvSpPr>
        <p:spPr>
          <a:xfrm>
            <a:off x="17510760" y="9528048"/>
            <a:ext cx="36576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27" name="TextBox 26"/>
          <p:cNvSpPr txBox="1"/>
          <p:nvPr/>
        </p:nvSpPr>
        <p:spPr>
          <a:xfrm>
            <a:off x="17922240" y="9528048"/>
            <a:ext cx="182880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28" name="TextBox 27"/>
          <p:cNvSpPr txBox="1"/>
          <p:nvPr/>
        </p:nvSpPr>
        <p:spPr>
          <a:xfrm>
            <a:off x="16852392" y="9729216"/>
            <a:ext cx="64008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29" name="TextBox 28"/>
          <p:cNvSpPr txBox="1"/>
          <p:nvPr/>
        </p:nvSpPr>
        <p:spPr>
          <a:xfrm>
            <a:off x="17510760" y="9729216"/>
            <a:ext cx="36576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30" name="TextBox 29"/>
          <p:cNvSpPr txBox="1"/>
          <p:nvPr/>
        </p:nvSpPr>
        <p:spPr>
          <a:xfrm>
            <a:off x="17922240" y="9729216"/>
            <a:ext cx="182880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31" name="TextBox 30"/>
          <p:cNvSpPr txBox="1"/>
          <p:nvPr/>
        </p:nvSpPr>
        <p:spPr>
          <a:xfrm>
            <a:off x="16852392" y="9930384"/>
            <a:ext cx="64008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32" name="TextBox 31"/>
          <p:cNvSpPr txBox="1"/>
          <p:nvPr/>
        </p:nvSpPr>
        <p:spPr>
          <a:xfrm>
            <a:off x="17510760" y="9930384"/>
            <a:ext cx="36576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33" name="TextBox 32"/>
          <p:cNvSpPr txBox="1"/>
          <p:nvPr/>
        </p:nvSpPr>
        <p:spPr>
          <a:xfrm>
            <a:off x="17922240" y="9930384"/>
            <a:ext cx="182880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34" name="Rectangle 33"/>
          <p:cNvSpPr/>
          <p:nvPr/>
        </p:nvSpPr>
        <p:spPr>
          <a:xfrm>
            <a:off x="16824960" y="10195560"/>
            <a:ext cx="3108960" cy="73152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6824960" y="10213848"/>
            <a:ext cx="3108960" cy="457200"/>
          </a:xfrm>
          <a:prstGeom prst="rect">
            <a:avLst/>
          </a:prstGeom>
          <a:noFill/>
        </p:spPr>
        <p:txBody>
          <a:bodyPr wrap="square" lIns="25400" rIns="12700" tIns="12700" bIns="12700"/>
          <a:lstStyle/>
          <a:p>
            <a:pPr algn="ctr"/>
            <a:r>
              <a:rPr sz="2800" b="1" i="0">
                <a:solidFill>
                  <a:srgbClr val="0B1E35"/>
                </a:solidFill>
                <a:latin typeface="Arial"/>
              </a:rPr>
              <a:t>S1.2</a:t>
            </a:r>
          </a:p>
        </p:txBody>
      </p:sp>
      <p:sp>
        <p:nvSpPr>
          <p:cNvPr id="36" name="TextBox 35"/>
          <p:cNvSpPr txBox="1"/>
          <p:nvPr/>
        </p:nvSpPr>
        <p:spPr>
          <a:xfrm>
            <a:off x="16824960" y="10671048"/>
            <a:ext cx="3108960" cy="237744"/>
          </a:xfrm>
          <a:prstGeom prst="rect">
            <a:avLst/>
          </a:prstGeom>
          <a:noFill/>
        </p:spPr>
        <p:txBody>
          <a:bodyPr wrap="square" lIns="25400" rIns="12700" tIns="12700" bIns="12700"/>
          <a:lstStyle/>
          <a:p>
            <a:pPr algn="ctr"/>
            <a:r>
              <a:rPr sz="800" b="1" i="0">
                <a:solidFill>
                  <a:srgbClr val="000000"/>
                </a:solidFill>
                <a:latin typeface="Arial"/>
              </a:rPr>
              <a:t>GEAR PAD DETAILS</a:t>
            </a:r>
          </a:p>
        </p:txBody>
      </p:sp>
      <p:sp>
        <p:nvSpPr>
          <p:cNvPr id="37" name="Rectangle 36"/>
          <p:cNvSpPr/>
          <p:nvPr/>
        </p:nvSpPr>
        <p:spPr>
          <a:xfrm>
            <a:off x="16824960" y="10927080"/>
            <a:ext cx="3108960" cy="2487168"/>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6870680" y="10963656"/>
            <a:ext cx="3017520" cy="2395728"/>
          </a:xfrm>
          <a:prstGeom prst="rect">
            <a:avLst/>
          </a:prstGeom>
          <a:noFill/>
        </p:spPr>
        <p:txBody>
          <a:bodyPr wrap="square" lIns="25400" rIns="12700" tIns="12700" bIns="12700"/>
          <a:lstStyle/>
          <a:p>
            <a:pPr algn="l"/>
            <a:r>
              <a:rPr sz="650" b="0">
                <a:solidFill>
                  <a:srgbClr val="000000"/>
                </a:solidFill>
                <a:latin typeface="Arial"/>
              </a:rPr>
              <a:t>ISSUE DATE</a:t>
            </a:r>
          </a:p>
          <a:p>
            <a:pPr algn="l"/>
            <a:r>
              <a:rPr sz="650" b="0">
                <a:solidFill>
                  <a:srgbClr val="000000"/>
                </a:solidFill>
                <a:latin typeface="Arial"/>
              </a:rPr>
              <a:t>{{ISSUE_DATE}}</a:t>
            </a:r>
          </a:p>
          <a:p>
            <a:pPr algn="l"/>
            <a:r>
              <a:rPr sz="650" b="0">
                <a:solidFill>
                  <a:srgbClr val="000000"/>
                </a:solidFill>
                <a:latin typeface="Arial"/>
              </a:rPr>
              <a:t>REVISION DATE</a:t>
            </a:r>
          </a:p>
          <a:p>
            <a:pPr algn="l"/>
            <a:r>
              <a:rPr sz="650" b="0">
                <a:solidFill>
                  <a:srgbClr val="000000"/>
                </a:solidFill>
                <a:latin typeface="Arial"/>
              </a:rPr>
              <a:t>{{ISSUE_DATE}}</a:t>
            </a:r>
          </a:p>
          <a:p>
            <a:pPr algn="l"/>
            <a:r>
              <a:rPr sz="650" b="0">
                <a:solidFill>
                  <a:srgbClr val="000000"/>
                </a:solidFill>
                <a:latin typeface="Arial"/>
              </a:rPr>
              <a:t>DESIGNED BY</a:t>
            </a:r>
          </a:p>
          <a:p>
            <a:pPr algn="l"/>
            <a:r>
              <a:rPr sz="650" b="0">
                <a:solidFill>
                  <a:srgbClr val="000000"/>
                </a:solidFill>
                <a:latin typeface="Arial"/>
              </a:rPr>
              <a:t>{{DESIGNED_BY}}</a:t>
            </a:r>
          </a:p>
          <a:p>
            <a:pPr algn="l"/>
            <a:r>
              <a:rPr sz="650" b="0">
                <a:solidFill>
                  <a:srgbClr val="000000"/>
                </a:solidFill>
                <a:latin typeface="Arial"/>
              </a:rPr>
              <a:t>CHECKED BY</a:t>
            </a:r>
          </a:p>
          <a:p>
            <a:pPr algn="l"/>
            <a:r>
              <a:rPr sz="650" b="0">
                <a:solidFill>
                  <a:srgbClr val="000000"/>
                </a:solidFill>
                <a:latin typeface="Arial"/>
              </a:rPr>
              <a:t>{{CHECKED_BY}}</a:t>
            </a:r>
          </a:p>
          <a:p>
            <a:pPr algn="l"/>
            <a:r>
              <a:rPr sz="650" b="0">
                <a:solidFill>
                  <a:srgbClr val="000000"/>
                </a:solidFill>
                <a:latin typeface="Arial"/>
              </a:rPr>
              <a:t>JOB NO.</a:t>
            </a:r>
          </a:p>
          <a:p>
            <a:pPr algn="l"/>
            <a:r>
              <a:rPr sz="650" b="0">
                <a:solidFill>
                  <a:srgbClr val="000000"/>
                </a:solidFill>
                <a:latin typeface="Arial"/>
              </a:rPr>
              <a:t>{{JOB_NO}}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00584" y="100584"/>
            <a:ext cx="16614647" cy="13213080"/>
          </a:xfrm>
          <a:prstGeom prst="rect">
            <a:avLst/>
          </a:prstGeom>
          <a:noFill/>
          <a:ln w="9525">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55448"/>
            <a:ext cx="9957815" cy="228600"/>
          </a:xfrm>
          <a:prstGeom prst="rect">
            <a:avLst/>
          </a:prstGeom>
          <a:noFill/>
        </p:spPr>
        <p:txBody>
          <a:bodyPr wrap="square" lIns="25400" rIns="12700" tIns="12700" bIns="12700"/>
          <a:lstStyle/>
          <a:p>
            <a:pPr algn="l"/>
            <a:r>
              <a:rPr sz="800" b="1" i="0">
                <a:solidFill>
                  <a:srgbClr val="0B1E35"/>
                </a:solidFill>
                <a:latin typeface="Arial"/>
              </a:rPr>
              <a:t>GROUNDING DETAILS, SCHEDULE &amp; TEST RECORD</a:t>
            </a:r>
          </a:p>
        </p:txBody>
      </p:sp>
      <p:sp>
        <p:nvSpPr>
          <p:cNvPr id="4" name="Rectangle 3"/>
          <p:cNvSpPr/>
          <p:nvPr/>
        </p:nvSpPr>
        <p:spPr>
          <a:xfrm>
            <a:off x="201168" y="429768"/>
            <a:ext cx="9127997" cy="4114800"/>
          </a:xfrm>
          <a:prstGeom prst="rect">
            <a:avLst/>
          </a:prstGeom>
          <a:solidFill>
            <a:srgbClr val="E26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 y="2360168"/>
            <a:ext cx="9127997" cy="254000"/>
          </a:xfrm>
          <a:prstGeom prst="rect">
            <a:avLst/>
          </a:prstGeom>
          <a:noFill/>
        </p:spPr>
        <p:txBody>
          <a:bodyPr wrap="square" lIns="25400" rIns="12700" tIns="12700" bIns="12700"/>
          <a:lstStyle/>
          <a:p>
            <a:pPr algn="ctr"/>
            <a:r>
              <a:rPr sz="1400" b="0" i="0">
                <a:solidFill>
                  <a:srgbClr val="FFFFFF"/>
                </a:solidFill>
                <a:latin typeface="Arial"/>
              </a:rPr>
              <a:t>S2.0 GROUNDING ELECTRODE DETAIL
(XFMR / BESS / INVERTER)</a:t>
            </a:r>
          </a:p>
        </p:txBody>
      </p:sp>
      <p:sp>
        <p:nvSpPr>
          <p:cNvPr id="6" name="Rectangle 5"/>
          <p:cNvSpPr/>
          <p:nvPr/>
        </p:nvSpPr>
        <p:spPr>
          <a:xfrm>
            <a:off x="9569652" y="429768"/>
            <a:ext cx="7044994" cy="4114800"/>
          </a:xfrm>
          <a:prstGeom prst="rect">
            <a:avLst/>
          </a:prstGeom>
          <a:solidFill>
            <a:srgbClr val="FFFFFF"/>
          </a:solidFill>
          <a:ln w="508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15372" y="457200"/>
            <a:ext cx="6953554" cy="201168"/>
          </a:xfrm>
          <a:prstGeom prst="rect">
            <a:avLst/>
          </a:prstGeom>
          <a:noFill/>
        </p:spPr>
        <p:txBody>
          <a:bodyPr wrap="square" lIns="25400" rIns="12700" tIns="12700" bIns="12700"/>
          <a:lstStyle/>
          <a:p>
            <a:pPr algn="l"/>
            <a:r>
              <a:rPr sz="700" b="1" i="0">
                <a:solidFill>
                  <a:srgbClr val="000000"/>
                </a:solidFill>
                <a:latin typeface="Arial"/>
              </a:rPr>
              <a:t>NOTES:</a:t>
            </a:r>
          </a:p>
        </p:txBody>
      </p:sp>
      <p:sp>
        <p:nvSpPr>
          <p:cNvPr id="8" name="TextBox 7"/>
          <p:cNvSpPr txBox="1"/>
          <p:nvPr/>
        </p:nvSpPr>
        <p:spPr>
          <a:xfrm>
            <a:off x="9615372" y="658368"/>
            <a:ext cx="6953554" cy="3840480"/>
          </a:xfrm>
          <a:prstGeom prst="rect">
            <a:avLst/>
          </a:prstGeom>
          <a:noFill/>
        </p:spPr>
        <p:txBody>
          <a:bodyPr wrap="square" lIns="25400" rIns="12700" tIns="12700" bIns="12700"/>
          <a:lstStyle/>
          <a:p>
            <a:pPr algn="l"/>
            <a:r>
              <a:rPr sz="650" b="0" i="0">
                <a:solidFill>
                  <a:srgbClr val="000000"/>
                </a:solidFill>
                <a:latin typeface="Arial"/>
              </a:rPr>
              <a:t>1. SIZE OF CONDUCTORS SHALL COMPLY WITH CEC 250.94
2. BOND TO SEPARATE CONDUCTORS FROM INVERTER TO METAL BUILDING FRAME IF POSSIBLE (CEC 250.68)
3. GROUND TO METAL WATER PIPE EMBEDDED AT LEAST 10'-0" INTO THE SOIL IF AVAILABLE (CEC 250.68)
4. CHECK RESISTANCE TO GROUND. IF RESISTANCE EXCEEDS 25 OHMS, INSTALL ADDITIONAL GROUND RODS WITH CONDUCTORS AS SHOWN SEPARATED AT LEAST 6'-0" UNTIL RESISTANCE IS REDUCED TO 25 OHMS OR LESS (CEC 250.52). PROVIDE THIRD PARTY GROUND RESISTANCE TEST.
5. PROVIDE GAS AND WATER BOND (IF APPLICABLE).</a:t>
            </a:r>
          </a:p>
        </p:txBody>
      </p:sp>
      <p:sp>
        <p:nvSpPr>
          <p:cNvPr id="9" name="Rectangle 8"/>
          <p:cNvSpPr/>
          <p:nvPr/>
        </p:nvSpPr>
        <p:spPr>
          <a:xfrm>
            <a:off x="201168" y="4681728"/>
            <a:ext cx="16413479" cy="201168"/>
          </a:xfrm>
          <a:prstGeom prst="rect">
            <a:avLst/>
          </a:prstGeom>
          <a:solidFill>
            <a:srgbClr val="0B1E35"/>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6888" y="4681728"/>
            <a:ext cx="16367759" cy="201168"/>
          </a:xfrm>
          <a:prstGeom prst="rect">
            <a:avLst/>
          </a:prstGeom>
          <a:noFill/>
        </p:spPr>
        <p:txBody>
          <a:bodyPr wrap="square" lIns="25400" rIns="12700" tIns="12700" bIns="12700"/>
          <a:lstStyle/>
          <a:p>
            <a:pPr algn="l"/>
            <a:r>
              <a:rPr sz="700" b="1" i="0">
                <a:solidFill>
                  <a:srgbClr val="FFFFFF"/>
                </a:solidFill>
                <a:latin typeface="Arial"/>
              </a:rPr>
              <a:t>GROUNDING SCHEDULE</a:t>
            </a:r>
          </a:p>
        </p:txBody>
      </p:sp>
      <p:sp>
        <p:nvSpPr>
          <p:cNvPr id="11" name="Rectangle 10"/>
          <p:cNvSpPr/>
          <p:nvPr/>
        </p:nvSpPr>
        <p:spPr>
          <a:xfrm>
            <a:off x="201168" y="4882896"/>
            <a:ext cx="16413479" cy="201168"/>
          </a:xfrm>
          <a:prstGeom prst="rect">
            <a:avLst/>
          </a:prstGeom>
          <a:solidFill>
            <a:srgbClr val="E8E8E8"/>
          </a:solidFill>
          <a:ln w="25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9456" y="4910328"/>
            <a:ext cx="1609344" cy="164592"/>
          </a:xfrm>
          <a:prstGeom prst="rect">
            <a:avLst/>
          </a:prstGeom>
          <a:noFill/>
        </p:spPr>
        <p:txBody>
          <a:bodyPr wrap="square" lIns="25400" rIns="12700" tIns="12700" bIns="12700"/>
          <a:lstStyle/>
          <a:p>
            <a:pPr algn="l"/>
            <a:r>
              <a:rPr sz="600" b="1" i="0">
                <a:solidFill>
                  <a:srgbClr val="000000"/>
                </a:solidFill>
                <a:latin typeface="Arial"/>
              </a:rPr>
              <a:t>CONDUCTOR</a:t>
            </a:r>
          </a:p>
        </p:txBody>
      </p:sp>
      <p:sp>
        <p:nvSpPr>
          <p:cNvPr id="13" name="TextBox 12"/>
          <p:cNvSpPr txBox="1"/>
          <p:nvPr/>
        </p:nvSpPr>
        <p:spPr>
          <a:xfrm>
            <a:off x="1865376" y="4910328"/>
            <a:ext cx="1335024" cy="164592"/>
          </a:xfrm>
          <a:prstGeom prst="rect">
            <a:avLst/>
          </a:prstGeom>
          <a:noFill/>
        </p:spPr>
        <p:txBody>
          <a:bodyPr wrap="square" lIns="25400" rIns="12700" tIns="12700" bIns="12700"/>
          <a:lstStyle/>
          <a:p>
            <a:pPr algn="l"/>
            <a:r>
              <a:rPr sz="600" b="1" i="0">
                <a:solidFill>
                  <a:srgbClr val="000000"/>
                </a:solidFill>
                <a:latin typeface="Arial"/>
              </a:rPr>
              <a:t>FROM</a:t>
            </a:r>
          </a:p>
        </p:txBody>
      </p:sp>
      <p:sp>
        <p:nvSpPr>
          <p:cNvPr id="14" name="TextBox 13"/>
          <p:cNvSpPr txBox="1"/>
          <p:nvPr/>
        </p:nvSpPr>
        <p:spPr>
          <a:xfrm>
            <a:off x="3236976" y="4910328"/>
            <a:ext cx="1335024" cy="164592"/>
          </a:xfrm>
          <a:prstGeom prst="rect">
            <a:avLst/>
          </a:prstGeom>
          <a:noFill/>
        </p:spPr>
        <p:txBody>
          <a:bodyPr wrap="square" lIns="25400" rIns="12700" tIns="12700" bIns="12700"/>
          <a:lstStyle/>
          <a:p>
            <a:pPr algn="l"/>
            <a:r>
              <a:rPr sz="600" b="1" i="0">
                <a:solidFill>
                  <a:srgbClr val="000000"/>
                </a:solidFill>
                <a:latin typeface="Arial"/>
              </a:rPr>
              <a:t>TO</a:t>
            </a:r>
          </a:p>
        </p:txBody>
      </p:sp>
      <p:sp>
        <p:nvSpPr>
          <p:cNvPr id="15" name="TextBox 14"/>
          <p:cNvSpPr txBox="1"/>
          <p:nvPr/>
        </p:nvSpPr>
        <p:spPr>
          <a:xfrm>
            <a:off x="4608576" y="4910328"/>
            <a:ext cx="694944" cy="164592"/>
          </a:xfrm>
          <a:prstGeom prst="rect">
            <a:avLst/>
          </a:prstGeom>
          <a:noFill/>
        </p:spPr>
        <p:txBody>
          <a:bodyPr wrap="square" lIns="25400" rIns="12700" tIns="12700" bIns="12700"/>
          <a:lstStyle/>
          <a:p>
            <a:pPr algn="l"/>
            <a:r>
              <a:rPr sz="600" b="1" i="0">
                <a:solidFill>
                  <a:srgbClr val="000000"/>
                </a:solidFill>
                <a:latin typeface="Arial"/>
              </a:rPr>
              <a:t>SIZE</a:t>
            </a:r>
          </a:p>
        </p:txBody>
      </p:sp>
      <p:sp>
        <p:nvSpPr>
          <p:cNvPr id="16" name="TextBox 15"/>
          <p:cNvSpPr txBox="1"/>
          <p:nvPr/>
        </p:nvSpPr>
        <p:spPr>
          <a:xfrm>
            <a:off x="5340096" y="4910328"/>
            <a:ext cx="786384" cy="164592"/>
          </a:xfrm>
          <a:prstGeom prst="rect">
            <a:avLst/>
          </a:prstGeom>
          <a:noFill/>
        </p:spPr>
        <p:txBody>
          <a:bodyPr wrap="square" lIns="25400" rIns="12700" tIns="12700" bIns="12700"/>
          <a:lstStyle/>
          <a:p>
            <a:pPr algn="l"/>
            <a:r>
              <a:rPr sz="600" b="1" i="0">
                <a:solidFill>
                  <a:srgbClr val="000000"/>
                </a:solidFill>
                <a:latin typeface="Arial"/>
              </a:rPr>
              <a:t>MATERIAL</a:t>
            </a:r>
          </a:p>
        </p:txBody>
      </p:sp>
      <p:sp>
        <p:nvSpPr>
          <p:cNvPr id="17" name="TextBox 16"/>
          <p:cNvSpPr txBox="1"/>
          <p:nvPr/>
        </p:nvSpPr>
        <p:spPr>
          <a:xfrm>
            <a:off x="6163056" y="4910328"/>
            <a:ext cx="786384" cy="164592"/>
          </a:xfrm>
          <a:prstGeom prst="rect">
            <a:avLst/>
          </a:prstGeom>
          <a:noFill/>
        </p:spPr>
        <p:txBody>
          <a:bodyPr wrap="square" lIns="25400" rIns="12700" tIns="12700" bIns="12700"/>
          <a:lstStyle/>
          <a:p>
            <a:pPr algn="l"/>
            <a:r>
              <a:rPr sz="600" b="1" i="0">
                <a:solidFill>
                  <a:srgbClr val="000000"/>
                </a:solidFill>
                <a:latin typeface="Arial"/>
              </a:rPr>
              <a:t>INSULATION</a:t>
            </a:r>
          </a:p>
        </p:txBody>
      </p:sp>
      <p:sp>
        <p:nvSpPr>
          <p:cNvPr id="18" name="TextBox 17"/>
          <p:cNvSpPr txBox="1"/>
          <p:nvPr/>
        </p:nvSpPr>
        <p:spPr>
          <a:xfrm>
            <a:off x="6986016" y="4910328"/>
            <a:ext cx="786384" cy="164592"/>
          </a:xfrm>
          <a:prstGeom prst="rect">
            <a:avLst/>
          </a:prstGeom>
          <a:noFill/>
        </p:spPr>
        <p:txBody>
          <a:bodyPr wrap="square" lIns="25400" rIns="12700" tIns="12700" bIns="12700"/>
          <a:lstStyle/>
          <a:p>
            <a:pPr algn="l"/>
            <a:r>
              <a:rPr sz="600" b="1" i="0">
                <a:solidFill>
                  <a:srgbClr val="000000"/>
                </a:solidFill>
                <a:latin typeface="Arial"/>
              </a:rPr>
              <a:t>NEC REF</a:t>
            </a:r>
          </a:p>
        </p:txBody>
      </p:sp>
      <p:sp>
        <p:nvSpPr>
          <p:cNvPr id="19" name="Rectangle 18"/>
          <p:cNvSpPr/>
          <p:nvPr/>
        </p:nvSpPr>
        <p:spPr>
          <a:xfrm>
            <a:off x="201168" y="5084064"/>
            <a:ext cx="16413479" cy="201168"/>
          </a:xfrm>
          <a:prstGeom prst="rect">
            <a:avLst/>
          </a:prstGeom>
          <a:solidFill>
            <a:srgbClr val="FFFFFF"/>
          </a:solidFill>
          <a:ln w="127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19456" y="5111496"/>
            <a:ext cx="1609344" cy="173736"/>
          </a:xfrm>
          <a:prstGeom prst="rect">
            <a:avLst/>
          </a:prstGeom>
          <a:noFill/>
        </p:spPr>
        <p:txBody>
          <a:bodyPr wrap="square" lIns="25400" rIns="12700" tIns="12700" bIns="12700"/>
          <a:lstStyle/>
          <a:p>
            <a:pPr algn="l"/>
            <a:r>
              <a:rPr sz="600" b="0" i="0">
                <a:solidFill>
                  <a:srgbClr val="000000"/>
                </a:solidFill>
                <a:latin typeface="Arial"/>
              </a:rPr>
              <a:t>EQUIPMENT GROUNDING CONDUCTOR</a:t>
            </a:r>
          </a:p>
        </p:txBody>
      </p:sp>
      <p:sp>
        <p:nvSpPr>
          <p:cNvPr id="21" name="TextBox 20"/>
          <p:cNvSpPr txBox="1"/>
          <p:nvPr/>
        </p:nvSpPr>
        <p:spPr>
          <a:xfrm>
            <a:off x="1865376" y="5111496"/>
            <a:ext cx="1335024" cy="173736"/>
          </a:xfrm>
          <a:prstGeom prst="rect">
            <a:avLst/>
          </a:prstGeom>
          <a:noFill/>
        </p:spPr>
        <p:txBody>
          <a:bodyPr wrap="square" lIns="25400" rIns="12700" tIns="12700" bIns="12700"/>
          <a:lstStyle/>
          <a:p>
            <a:pPr algn="l"/>
            <a:r>
              <a:rPr sz="600" b="0" i="0">
                <a:solidFill>
                  <a:srgbClr val="000000"/>
                </a:solidFill>
                <a:latin typeface="Arial"/>
              </a:rPr>
              <a:t>BESS / INVERTER</a:t>
            </a:r>
          </a:p>
        </p:txBody>
      </p:sp>
      <p:sp>
        <p:nvSpPr>
          <p:cNvPr id="22" name="TextBox 21"/>
          <p:cNvSpPr txBox="1"/>
          <p:nvPr/>
        </p:nvSpPr>
        <p:spPr>
          <a:xfrm>
            <a:off x="3236976" y="5111496"/>
            <a:ext cx="1335024" cy="173736"/>
          </a:xfrm>
          <a:prstGeom prst="rect">
            <a:avLst/>
          </a:prstGeom>
          <a:noFill/>
        </p:spPr>
        <p:txBody>
          <a:bodyPr wrap="square" lIns="25400" rIns="12700" tIns="12700" bIns="12700"/>
          <a:lstStyle/>
          <a:p>
            <a:pPr algn="l"/>
            <a:r>
              <a:rPr sz="600" b="0" i="0">
                <a:solidFill>
                  <a:srgbClr val="000000"/>
                </a:solidFill>
                <a:latin typeface="Arial"/>
              </a:rPr>
              <a:t>GROUNDING BUS</a:t>
            </a:r>
          </a:p>
        </p:txBody>
      </p:sp>
      <p:sp>
        <p:nvSpPr>
          <p:cNvPr id="23" name="TextBox 22"/>
          <p:cNvSpPr txBox="1"/>
          <p:nvPr/>
        </p:nvSpPr>
        <p:spPr>
          <a:xfrm>
            <a:off x="4608576" y="5111496"/>
            <a:ext cx="694944" cy="173736"/>
          </a:xfrm>
          <a:prstGeom prst="rect">
            <a:avLst/>
          </a:prstGeom>
          <a:noFill/>
        </p:spPr>
        <p:txBody>
          <a:bodyPr wrap="square" lIns="25400" rIns="12700" tIns="12700" bIns="12700"/>
          <a:lstStyle/>
          <a:p>
            <a:pPr algn="l"/>
            <a:r>
              <a:rPr sz="600" b="0" i="0">
                <a:solidFill>
                  <a:srgbClr val="000000"/>
                </a:solidFill>
                <a:latin typeface="Arial"/>
              </a:rPr>
              <a:t>#{{WIRE_AWG}} AWG</a:t>
            </a:r>
          </a:p>
        </p:txBody>
      </p:sp>
      <p:sp>
        <p:nvSpPr>
          <p:cNvPr id="24" name="TextBox 23"/>
          <p:cNvSpPr txBox="1"/>
          <p:nvPr/>
        </p:nvSpPr>
        <p:spPr>
          <a:xfrm>
            <a:off x="5340096" y="5111496"/>
            <a:ext cx="786384" cy="173736"/>
          </a:xfrm>
          <a:prstGeom prst="rect">
            <a:avLst/>
          </a:prstGeom>
          <a:noFill/>
        </p:spPr>
        <p:txBody>
          <a:bodyPr wrap="square" lIns="25400" rIns="12700" tIns="12700" bIns="12700"/>
          <a:lstStyle/>
          <a:p>
            <a:pPr algn="l"/>
            <a:r>
              <a:rPr sz="600" b="0" i="0">
                <a:solidFill>
                  <a:srgbClr val="000000"/>
                </a:solidFill>
                <a:latin typeface="Arial"/>
              </a:rPr>
              <a:t>Cu</a:t>
            </a:r>
          </a:p>
        </p:txBody>
      </p:sp>
      <p:sp>
        <p:nvSpPr>
          <p:cNvPr id="25" name="TextBox 24"/>
          <p:cNvSpPr txBox="1"/>
          <p:nvPr/>
        </p:nvSpPr>
        <p:spPr>
          <a:xfrm>
            <a:off x="6163056" y="5111496"/>
            <a:ext cx="786384" cy="173736"/>
          </a:xfrm>
          <a:prstGeom prst="rect">
            <a:avLst/>
          </a:prstGeom>
          <a:noFill/>
        </p:spPr>
        <p:txBody>
          <a:bodyPr wrap="square" lIns="25400" rIns="12700" tIns="12700" bIns="12700"/>
          <a:lstStyle/>
          <a:p>
            <a:pPr algn="l"/>
            <a:r>
              <a:rPr sz="600" b="0" i="0">
                <a:solidFill>
                  <a:srgbClr val="000000"/>
                </a:solidFill>
                <a:latin typeface="Arial"/>
              </a:rPr>
              <a:t>Green/Bare</a:t>
            </a:r>
          </a:p>
        </p:txBody>
      </p:sp>
      <p:sp>
        <p:nvSpPr>
          <p:cNvPr id="26" name="TextBox 25"/>
          <p:cNvSpPr txBox="1"/>
          <p:nvPr/>
        </p:nvSpPr>
        <p:spPr>
          <a:xfrm>
            <a:off x="6986016" y="5111496"/>
            <a:ext cx="786384" cy="173736"/>
          </a:xfrm>
          <a:prstGeom prst="rect">
            <a:avLst/>
          </a:prstGeom>
          <a:noFill/>
        </p:spPr>
        <p:txBody>
          <a:bodyPr wrap="square" lIns="25400" rIns="12700" tIns="12700" bIns="12700"/>
          <a:lstStyle/>
          <a:p>
            <a:pPr algn="l"/>
            <a:r>
              <a:rPr sz="600" b="0" i="0">
                <a:solidFill>
                  <a:srgbClr val="000000"/>
                </a:solidFill>
                <a:latin typeface="Arial"/>
              </a:rPr>
              <a:t>250.122</a:t>
            </a:r>
          </a:p>
        </p:txBody>
      </p:sp>
      <p:sp>
        <p:nvSpPr>
          <p:cNvPr id="27" name="Rectangle 26"/>
          <p:cNvSpPr/>
          <p:nvPr/>
        </p:nvSpPr>
        <p:spPr>
          <a:xfrm>
            <a:off x="201168" y="5285232"/>
            <a:ext cx="16413479" cy="201168"/>
          </a:xfrm>
          <a:prstGeom prst="rect">
            <a:avLst/>
          </a:prstGeom>
          <a:solidFill>
            <a:srgbClr val="E8E8E8"/>
          </a:solidFill>
          <a:ln w="127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19456" y="5312664"/>
            <a:ext cx="1609344" cy="173736"/>
          </a:xfrm>
          <a:prstGeom prst="rect">
            <a:avLst/>
          </a:prstGeom>
          <a:noFill/>
        </p:spPr>
        <p:txBody>
          <a:bodyPr wrap="square" lIns="25400" rIns="12700" tIns="12700" bIns="12700"/>
          <a:lstStyle/>
          <a:p>
            <a:pPr algn="l"/>
            <a:r>
              <a:rPr sz="600" b="0" i="0">
                <a:solidFill>
                  <a:srgbClr val="000000"/>
                </a:solidFill>
                <a:latin typeface="Arial"/>
              </a:rPr>
              <a:t>DC EQUIPMENT GROUNDING CONDUCTOR</a:t>
            </a:r>
          </a:p>
        </p:txBody>
      </p:sp>
      <p:sp>
        <p:nvSpPr>
          <p:cNvPr id="29" name="TextBox 28"/>
          <p:cNvSpPr txBox="1"/>
          <p:nvPr/>
        </p:nvSpPr>
        <p:spPr>
          <a:xfrm>
            <a:off x="1865376" y="5312664"/>
            <a:ext cx="1335024" cy="173736"/>
          </a:xfrm>
          <a:prstGeom prst="rect">
            <a:avLst/>
          </a:prstGeom>
          <a:noFill/>
        </p:spPr>
        <p:txBody>
          <a:bodyPr wrap="square" lIns="25400" rIns="12700" tIns="12700" bIns="12700"/>
          <a:lstStyle/>
          <a:p>
            <a:pPr algn="l"/>
            <a:r>
              <a:rPr sz="600" b="0" i="0">
                <a:solidFill>
                  <a:srgbClr val="000000"/>
                </a:solidFill>
                <a:latin typeface="Arial"/>
              </a:rPr>
              <a:t>PV / BESS</a:t>
            </a:r>
          </a:p>
        </p:txBody>
      </p:sp>
      <p:sp>
        <p:nvSpPr>
          <p:cNvPr id="30" name="TextBox 29"/>
          <p:cNvSpPr txBox="1"/>
          <p:nvPr/>
        </p:nvSpPr>
        <p:spPr>
          <a:xfrm>
            <a:off x="3236976" y="5312664"/>
            <a:ext cx="1335024" cy="173736"/>
          </a:xfrm>
          <a:prstGeom prst="rect">
            <a:avLst/>
          </a:prstGeom>
          <a:noFill/>
        </p:spPr>
        <p:txBody>
          <a:bodyPr wrap="square" lIns="25400" rIns="12700" tIns="12700" bIns="12700"/>
          <a:lstStyle/>
          <a:p>
            <a:pPr algn="l"/>
            <a:r>
              <a:rPr sz="600" b="0" i="0">
                <a:solidFill>
                  <a:srgbClr val="000000"/>
                </a:solidFill>
                <a:latin typeface="Arial"/>
              </a:rPr>
              <a:t>INVERTER</a:t>
            </a:r>
          </a:p>
        </p:txBody>
      </p:sp>
      <p:sp>
        <p:nvSpPr>
          <p:cNvPr id="31" name="TextBox 30"/>
          <p:cNvSpPr txBox="1"/>
          <p:nvPr/>
        </p:nvSpPr>
        <p:spPr>
          <a:xfrm>
            <a:off x="4608576" y="5312664"/>
            <a:ext cx="694944" cy="173736"/>
          </a:xfrm>
          <a:prstGeom prst="rect">
            <a:avLst/>
          </a:prstGeom>
          <a:noFill/>
        </p:spPr>
        <p:txBody>
          <a:bodyPr wrap="square" lIns="25400" rIns="12700" tIns="12700" bIns="12700"/>
          <a:lstStyle/>
          <a:p>
            <a:pPr algn="l"/>
            <a:r>
              <a:rPr sz="600" b="0" i="0">
                <a:solidFill>
                  <a:srgbClr val="000000"/>
                </a:solidFill>
                <a:latin typeface="Arial"/>
              </a:rPr>
              <a:t>#{{WIRE_AWG}} AWG</a:t>
            </a:r>
          </a:p>
        </p:txBody>
      </p:sp>
      <p:sp>
        <p:nvSpPr>
          <p:cNvPr id="32" name="TextBox 31"/>
          <p:cNvSpPr txBox="1"/>
          <p:nvPr/>
        </p:nvSpPr>
        <p:spPr>
          <a:xfrm>
            <a:off x="5340096" y="5312664"/>
            <a:ext cx="786384" cy="173736"/>
          </a:xfrm>
          <a:prstGeom prst="rect">
            <a:avLst/>
          </a:prstGeom>
          <a:noFill/>
        </p:spPr>
        <p:txBody>
          <a:bodyPr wrap="square" lIns="25400" rIns="12700" tIns="12700" bIns="12700"/>
          <a:lstStyle/>
          <a:p>
            <a:pPr algn="l"/>
            <a:r>
              <a:rPr sz="600" b="0" i="0">
                <a:solidFill>
                  <a:srgbClr val="000000"/>
                </a:solidFill>
                <a:latin typeface="Arial"/>
              </a:rPr>
              <a:t>Cu</a:t>
            </a:r>
          </a:p>
        </p:txBody>
      </p:sp>
      <p:sp>
        <p:nvSpPr>
          <p:cNvPr id="33" name="TextBox 32"/>
          <p:cNvSpPr txBox="1"/>
          <p:nvPr/>
        </p:nvSpPr>
        <p:spPr>
          <a:xfrm>
            <a:off x="6163056" y="5312664"/>
            <a:ext cx="786384" cy="173736"/>
          </a:xfrm>
          <a:prstGeom prst="rect">
            <a:avLst/>
          </a:prstGeom>
          <a:noFill/>
        </p:spPr>
        <p:txBody>
          <a:bodyPr wrap="square" lIns="25400" rIns="12700" tIns="12700" bIns="12700"/>
          <a:lstStyle/>
          <a:p>
            <a:pPr algn="l"/>
            <a:r>
              <a:rPr sz="600" b="0" i="0">
                <a:solidFill>
                  <a:srgbClr val="000000"/>
                </a:solidFill>
                <a:latin typeface="Arial"/>
              </a:rPr>
              <a:t>Bare</a:t>
            </a:r>
          </a:p>
        </p:txBody>
      </p:sp>
      <p:sp>
        <p:nvSpPr>
          <p:cNvPr id="34" name="TextBox 33"/>
          <p:cNvSpPr txBox="1"/>
          <p:nvPr/>
        </p:nvSpPr>
        <p:spPr>
          <a:xfrm>
            <a:off x="6986016" y="5312664"/>
            <a:ext cx="786384" cy="173736"/>
          </a:xfrm>
          <a:prstGeom prst="rect">
            <a:avLst/>
          </a:prstGeom>
          <a:noFill/>
        </p:spPr>
        <p:txBody>
          <a:bodyPr wrap="square" lIns="25400" rIns="12700" tIns="12700" bIns="12700"/>
          <a:lstStyle/>
          <a:p>
            <a:pPr algn="l"/>
            <a:r>
              <a:rPr sz="600" b="0" i="0">
                <a:solidFill>
                  <a:srgbClr val="000000"/>
                </a:solidFill>
                <a:latin typeface="Arial"/>
              </a:rPr>
              <a:t>690.45</a:t>
            </a:r>
          </a:p>
        </p:txBody>
      </p:sp>
      <p:sp>
        <p:nvSpPr>
          <p:cNvPr id="35" name="Rectangle 34"/>
          <p:cNvSpPr/>
          <p:nvPr/>
        </p:nvSpPr>
        <p:spPr>
          <a:xfrm>
            <a:off x="201168" y="5486400"/>
            <a:ext cx="16413479" cy="201168"/>
          </a:xfrm>
          <a:prstGeom prst="rect">
            <a:avLst/>
          </a:prstGeom>
          <a:solidFill>
            <a:srgbClr val="FFFFFF"/>
          </a:solidFill>
          <a:ln w="127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19456" y="5513832"/>
            <a:ext cx="1609344" cy="173736"/>
          </a:xfrm>
          <a:prstGeom prst="rect">
            <a:avLst/>
          </a:prstGeom>
          <a:noFill/>
        </p:spPr>
        <p:txBody>
          <a:bodyPr wrap="square" lIns="25400" rIns="12700" tIns="12700" bIns="12700"/>
          <a:lstStyle/>
          <a:p>
            <a:pPr algn="l"/>
            <a:r>
              <a:rPr sz="600" b="0" i="0">
                <a:solidFill>
                  <a:srgbClr val="000000"/>
                </a:solidFill>
                <a:latin typeface="Arial"/>
              </a:rPr>
              <a:t>GROUNDING ELECTRODE CONDUCTOR</a:t>
            </a:r>
          </a:p>
        </p:txBody>
      </p:sp>
      <p:sp>
        <p:nvSpPr>
          <p:cNvPr id="37" name="TextBox 36"/>
          <p:cNvSpPr txBox="1"/>
          <p:nvPr/>
        </p:nvSpPr>
        <p:spPr>
          <a:xfrm>
            <a:off x="1865376" y="5513832"/>
            <a:ext cx="1335024" cy="173736"/>
          </a:xfrm>
          <a:prstGeom prst="rect">
            <a:avLst/>
          </a:prstGeom>
          <a:noFill/>
        </p:spPr>
        <p:txBody>
          <a:bodyPr wrap="square" lIns="25400" rIns="12700" tIns="12700" bIns="12700"/>
          <a:lstStyle/>
          <a:p>
            <a:pPr algn="l"/>
            <a:r>
              <a:rPr sz="600" b="0" i="0">
                <a:solidFill>
                  <a:srgbClr val="000000"/>
                </a:solidFill>
                <a:latin typeface="Arial"/>
              </a:rPr>
              <a:t>GROUNDING BUS</a:t>
            </a:r>
          </a:p>
        </p:txBody>
      </p:sp>
      <p:sp>
        <p:nvSpPr>
          <p:cNvPr id="38" name="TextBox 37"/>
          <p:cNvSpPr txBox="1"/>
          <p:nvPr/>
        </p:nvSpPr>
        <p:spPr>
          <a:xfrm>
            <a:off x="3236976" y="5513832"/>
            <a:ext cx="1335024" cy="173736"/>
          </a:xfrm>
          <a:prstGeom prst="rect">
            <a:avLst/>
          </a:prstGeom>
          <a:noFill/>
        </p:spPr>
        <p:txBody>
          <a:bodyPr wrap="square" lIns="25400" rIns="12700" tIns="12700" bIns="12700"/>
          <a:lstStyle/>
          <a:p>
            <a:pPr algn="l"/>
            <a:r>
              <a:rPr sz="600" b="0" i="0">
                <a:solidFill>
                  <a:srgbClr val="000000"/>
                </a:solidFill>
                <a:latin typeface="Arial"/>
              </a:rPr>
              <a:t>GROUND ROD</a:t>
            </a:r>
          </a:p>
        </p:txBody>
      </p:sp>
      <p:sp>
        <p:nvSpPr>
          <p:cNvPr id="39" name="TextBox 38"/>
          <p:cNvSpPr txBox="1"/>
          <p:nvPr/>
        </p:nvSpPr>
        <p:spPr>
          <a:xfrm>
            <a:off x="4608576" y="5513832"/>
            <a:ext cx="694944" cy="173736"/>
          </a:xfrm>
          <a:prstGeom prst="rect">
            <a:avLst/>
          </a:prstGeom>
          <a:noFill/>
        </p:spPr>
        <p:txBody>
          <a:bodyPr wrap="square" lIns="25400" rIns="12700" tIns="12700" bIns="12700"/>
          <a:lstStyle/>
          <a:p>
            <a:pPr algn="l"/>
            <a:r>
              <a:rPr sz="600" b="0" i="0">
                <a:solidFill>
                  <a:srgbClr val="000000"/>
                </a:solidFill>
                <a:latin typeface="Arial"/>
              </a:rPr>
              <a:t>#{{WIRE_AWG}} AWG</a:t>
            </a:r>
          </a:p>
        </p:txBody>
      </p:sp>
      <p:sp>
        <p:nvSpPr>
          <p:cNvPr id="40" name="TextBox 39"/>
          <p:cNvSpPr txBox="1"/>
          <p:nvPr/>
        </p:nvSpPr>
        <p:spPr>
          <a:xfrm>
            <a:off x="5340096" y="5513832"/>
            <a:ext cx="786384" cy="173736"/>
          </a:xfrm>
          <a:prstGeom prst="rect">
            <a:avLst/>
          </a:prstGeom>
          <a:noFill/>
        </p:spPr>
        <p:txBody>
          <a:bodyPr wrap="square" lIns="25400" rIns="12700" tIns="12700" bIns="12700"/>
          <a:lstStyle/>
          <a:p>
            <a:pPr algn="l"/>
            <a:r>
              <a:rPr sz="600" b="0" i="0">
                <a:solidFill>
                  <a:srgbClr val="000000"/>
                </a:solidFill>
                <a:latin typeface="Arial"/>
              </a:rPr>
              <a:t>Cu</a:t>
            </a:r>
          </a:p>
        </p:txBody>
      </p:sp>
      <p:sp>
        <p:nvSpPr>
          <p:cNvPr id="41" name="TextBox 40"/>
          <p:cNvSpPr txBox="1"/>
          <p:nvPr/>
        </p:nvSpPr>
        <p:spPr>
          <a:xfrm>
            <a:off x="6163056" y="5513832"/>
            <a:ext cx="786384" cy="173736"/>
          </a:xfrm>
          <a:prstGeom prst="rect">
            <a:avLst/>
          </a:prstGeom>
          <a:noFill/>
        </p:spPr>
        <p:txBody>
          <a:bodyPr wrap="square" lIns="25400" rIns="12700" tIns="12700" bIns="12700"/>
          <a:lstStyle/>
          <a:p>
            <a:pPr algn="l"/>
            <a:r>
              <a:rPr sz="600" b="0" i="0">
                <a:solidFill>
                  <a:srgbClr val="000000"/>
                </a:solidFill>
                <a:latin typeface="Arial"/>
              </a:rPr>
              <a:t>Bare</a:t>
            </a:r>
          </a:p>
        </p:txBody>
      </p:sp>
      <p:sp>
        <p:nvSpPr>
          <p:cNvPr id="42" name="TextBox 41"/>
          <p:cNvSpPr txBox="1"/>
          <p:nvPr/>
        </p:nvSpPr>
        <p:spPr>
          <a:xfrm>
            <a:off x="6986016" y="5513832"/>
            <a:ext cx="786384" cy="173736"/>
          </a:xfrm>
          <a:prstGeom prst="rect">
            <a:avLst/>
          </a:prstGeom>
          <a:noFill/>
        </p:spPr>
        <p:txBody>
          <a:bodyPr wrap="square" lIns="25400" rIns="12700" tIns="12700" bIns="12700"/>
          <a:lstStyle/>
          <a:p>
            <a:pPr algn="l"/>
            <a:r>
              <a:rPr sz="600" b="0" i="0">
                <a:solidFill>
                  <a:srgbClr val="000000"/>
                </a:solidFill>
                <a:latin typeface="Arial"/>
              </a:rPr>
              <a:t>250.66</a:t>
            </a:r>
          </a:p>
        </p:txBody>
      </p:sp>
      <p:sp>
        <p:nvSpPr>
          <p:cNvPr id="43" name="Rectangle 42"/>
          <p:cNvSpPr/>
          <p:nvPr/>
        </p:nvSpPr>
        <p:spPr>
          <a:xfrm>
            <a:off x="201168" y="5687568"/>
            <a:ext cx="16413479" cy="201168"/>
          </a:xfrm>
          <a:prstGeom prst="rect">
            <a:avLst/>
          </a:prstGeom>
          <a:solidFill>
            <a:srgbClr val="E8E8E8"/>
          </a:solidFill>
          <a:ln w="127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19456" y="5715000"/>
            <a:ext cx="1609344" cy="173736"/>
          </a:xfrm>
          <a:prstGeom prst="rect">
            <a:avLst/>
          </a:prstGeom>
          <a:noFill/>
        </p:spPr>
        <p:txBody>
          <a:bodyPr wrap="square" lIns="25400" rIns="12700" tIns="12700" bIns="12700"/>
          <a:lstStyle/>
          <a:p>
            <a:pPr algn="l"/>
            <a:r>
              <a:rPr sz="600" b="0" i="0">
                <a:solidFill>
                  <a:srgbClr val="000000"/>
                </a:solidFill>
                <a:latin typeface="Arial"/>
              </a:rPr>
              <a:t>BESS CABINET BOND</a:t>
            </a:r>
          </a:p>
        </p:txBody>
      </p:sp>
      <p:sp>
        <p:nvSpPr>
          <p:cNvPr id="45" name="TextBox 44"/>
          <p:cNvSpPr txBox="1"/>
          <p:nvPr/>
        </p:nvSpPr>
        <p:spPr>
          <a:xfrm>
            <a:off x="1865376" y="5715000"/>
            <a:ext cx="1335024" cy="173736"/>
          </a:xfrm>
          <a:prstGeom prst="rect">
            <a:avLst/>
          </a:prstGeom>
          <a:noFill/>
        </p:spPr>
        <p:txBody>
          <a:bodyPr wrap="square" lIns="25400" rIns="12700" tIns="12700" bIns="12700"/>
          <a:lstStyle/>
          <a:p>
            <a:pPr algn="l"/>
            <a:r>
              <a:rPr sz="600" b="0" i="0">
                <a:solidFill>
                  <a:srgbClr val="000000"/>
                </a:solidFill>
                <a:latin typeface="Arial"/>
              </a:rPr>
              <a:t>—</a:t>
            </a:r>
          </a:p>
        </p:txBody>
      </p:sp>
      <p:sp>
        <p:nvSpPr>
          <p:cNvPr id="46" name="TextBox 45"/>
          <p:cNvSpPr txBox="1"/>
          <p:nvPr/>
        </p:nvSpPr>
        <p:spPr>
          <a:xfrm>
            <a:off x="3236976" y="5715000"/>
            <a:ext cx="1335024" cy="173736"/>
          </a:xfrm>
          <a:prstGeom prst="rect">
            <a:avLst/>
          </a:prstGeom>
          <a:noFill/>
        </p:spPr>
        <p:txBody>
          <a:bodyPr wrap="square" lIns="25400" rIns="12700" tIns="12700" bIns="12700"/>
          <a:lstStyle/>
          <a:p>
            <a:pPr algn="l"/>
            <a:r>
              <a:rPr sz="600" b="0" i="0">
                <a:solidFill>
                  <a:srgbClr val="000000"/>
                </a:solidFill>
                <a:latin typeface="Arial"/>
              </a:rPr>
              <a:t>—</a:t>
            </a:r>
          </a:p>
        </p:txBody>
      </p:sp>
      <p:sp>
        <p:nvSpPr>
          <p:cNvPr id="47" name="TextBox 46"/>
          <p:cNvSpPr txBox="1"/>
          <p:nvPr/>
        </p:nvSpPr>
        <p:spPr>
          <a:xfrm>
            <a:off x="4608576" y="5715000"/>
            <a:ext cx="694944" cy="173736"/>
          </a:xfrm>
          <a:prstGeom prst="rect">
            <a:avLst/>
          </a:prstGeom>
          <a:noFill/>
        </p:spPr>
        <p:txBody>
          <a:bodyPr wrap="square" lIns="25400" rIns="12700" tIns="12700" bIns="12700"/>
          <a:lstStyle/>
          <a:p>
            <a:pPr algn="l"/>
            <a:r>
              <a:rPr sz="600" b="0" i="0">
                <a:solidFill>
                  <a:srgbClr val="000000"/>
                </a:solidFill>
                <a:latin typeface="Arial"/>
              </a:rPr>
              <a:t>Cu</a:t>
            </a:r>
          </a:p>
        </p:txBody>
      </p:sp>
      <p:sp>
        <p:nvSpPr>
          <p:cNvPr id="48" name="TextBox 47"/>
          <p:cNvSpPr txBox="1"/>
          <p:nvPr/>
        </p:nvSpPr>
        <p:spPr>
          <a:xfrm>
            <a:off x="5340096" y="5715000"/>
            <a:ext cx="786384" cy="173736"/>
          </a:xfrm>
          <a:prstGeom prst="rect">
            <a:avLst/>
          </a:prstGeom>
          <a:noFill/>
        </p:spPr>
        <p:txBody>
          <a:bodyPr wrap="square" lIns="25400" rIns="12700" tIns="12700" bIns="12700"/>
          <a:lstStyle/>
          <a:p>
            <a:pPr algn="l"/>
            <a:r>
              <a:rPr sz="600" b="0" i="0">
                <a:solidFill>
                  <a:srgbClr val="000000"/>
                </a:solidFill>
                <a:latin typeface="Arial"/>
              </a:rPr>
              <a:t>—</a:t>
            </a:r>
          </a:p>
        </p:txBody>
      </p:sp>
      <p:sp>
        <p:nvSpPr>
          <p:cNvPr id="49" name="TextBox 48"/>
          <p:cNvSpPr txBox="1"/>
          <p:nvPr/>
        </p:nvSpPr>
        <p:spPr>
          <a:xfrm>
            <a:off x="6163056" y="5715000"/>
            <a:ext cx="786384" cy="173736"/>
          </a:xfrm>
          <a:prstGeom prst="rect">
            <a:avLst/>
          </a:prstGeom>
          <a:noFill/>
        </p:spPr>
        <p:txBody>
          <a:bodyPr wrap="square" lIns="25400" rIns="12700" tIns="12700" bIns="12700"/>
          <a:lstStyle/>
          <a:p>
            <a:pPr algn="l"/>
            <a:r>
              <a:rPr sz="600" b="0" i="0">
                <a:solidFill>
                  <a:srgbClr val="000000"/>
                </a:solidFill>
                <a:latin typeface="Arial"/>
              </a:rPr>
              <a:t>—</a:t>
            </a:r>
          </a:p>
        </p:txBody>
      </p:sp>
      <p:sp>
        <p:nvSpPr>
          <p:cNvPr id="50" name="TextBox 49"/>
          <p:cNvSpPr txBox="1"/>
          <p:nvPr/>
        </p:nvSpPr>
        <p:spPr>
          <a:xfrm>
            <a:off x="6986016" y="5715000"/>
            <a:ext cx="786384" cy="173736"/>
          </a:xfrm>
          <a:prstGeom prst="rect">
            <a:avLst/>
          </a:prstGeom>
          <a:noFill/>
        </p:spPr>
        <p:txBody>
          <a:bodyPr wrap="square" lIns="25400" rIns="12700" tIns="12700" bIns="12700"/>
          <a:lstStyle/>
          <a:p>
            <a:pPr algn="l"/>
            <a:r>
              <a:rPr sz="600" b="0" i="0">
                <a:solidFill>
                  <a:srgbClr val="000000"/>
                </a:solidFill>
                <a:latin typeface="Arial"/>
              </a:rPr>
              <a:t>250.118</a:t>
            </a:r>
          </a:p>
        </p:txBody>
      </p:sp>
      <p:sp>
        <p:nvSpPr>
          <p:cNvPr id="51" name="Rectangle 50"/>
          <p:cNvSpPr/>
          <p:nvPr/>
        </p:nvSpPr>
        <p:spPr>
          <a:xfrm>
            <a:off x="201168" y="5888736"/>
            <a:ext cx="16413479" cy="201168"/>
          </a:xfrm>
          <a:prstGeom prst="rect">
            <a:avLst/>
          </a:prstGeom>
          <a:solidFill>
            <a:srgbClr val="FFFFFF"/>
          </a:solidFill>
          <a:ln w="127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19456" y="5916168"/>
            <a:ext cx="1609344" cy="173736"/>
          </a:xfrm>
          <a:prstGeom prst="rect">
            <a:avLst/>
          </a:prstGeom>
          <a:noFill/>
        </p:spPr>
        <p:txBody>
          <a:bodyPr wrap="square" lIns="25400" rIns="12700" tIns="12700" bIns="12700"/>
          <a:lstStyle/>
          <a:p>
            <a:pPr algn="l"/>
            <a:r>
              <a:rPr sz="600" b="0" i="0">
                <a:solidFill>
                  <a:srgbClr val="000000"/>
                </a:solidFill>
                <a:latin typeface="Arial"/>
              </a:rPr>
              <a:t>FENCE BONDING JUMPER (TYP)</a:t>
            </a:r>
          </a:p>
        </p:txBody>
      </p:sp>
      <p:sp>
        <p:nvSpPr>
          <p:cNvPr id="53" name="TextBox 52"/>
          <p:cNvSpPr txBox="1"/>
          <p:nvPr/>
        </p:nvSpPr>
        <p:spPr>
          <a:xfrm>
            <a:off x="1865376" y="5916168"/>
            <a:ext cx="1335024" cy="173736"/>
          </a:xfrm>
          <a:prstGeom prst="rect">
            <a:avLst/>
          </a:prstGeom>
          <a:noFill/>
        </p:spPr>
        <p:txBody>
          <a:bodyPr wrap="square" lIns="25400" rIns="12700" tIns="12700" bIns="12700"/>
          <a:lstStyle/>
          <a:p>
            <a:pPr algn="l"/>
            <a:r>
              <a:rPr sz="600" b="0" i="0">
                <a:solidFill>
                  <a:srgbClr val="000000"/>
                </a:solidFill>
                <a:latin typeface="Arial"/>
              </a:rPr>
              <a:t>—</a:t>
            </a:r>
          </a:p>
        </p:txBody>
      </p:sp>
      <p:sp>
        <p:nvSpPr>
          <p:cNvPr id="54" name="TextBox 53"/>
          <p:cNvSpPr txBox="1"/>
          <p:nvPr/>
        </p:nvSpPr>
        <p:spPr>
          <a:xfrm>
            <a:off x="3236976" y="5916168"/>
            <a:ext cx="1335024" cy="173736"/>
          </a:xfrm>
          <a:prstGeom prst="rect">
            <a:avLst/>
          </a:prstGeom>
          <a:noFill/>
        </p:spPr>
        <p:txBody>
          <a:bodyPr wrap="square" lIns="25400" rIns="12700" tIns="12700" bIns="12700"/>
          <a:lstStyle/>
          <a:p>
            <a:pPr algn="l"/>
            <a:r>
              <a:rPr sz="600" b="0" i="0">
                <a:solidFill>
                  <a:srgbClr val="000000"/>
                </a:solidFill>
                <a:latin typeface="Arial"/>
              </a:rPr>
              <a:t>—</a:t>
            </a:r>
          </a:p>
        </p:txBody>
      </p:sp>
      <p:sp>
        <p:nvSpPr>
          <p:cNvPr id="55" name="TextBox 54"/>
          <p:cNvSpPr txBox="1"/>
          <p:nvPr/>
        </p:nvSpPr>
        <p:spPr>
          <a:xfrm>
            <a:off x="4608576" y="5916168"/>
            <a:ext cx="694944" cy="173736"/>
          </a:xfrm>
          <a:prstGeom prst="rect">
            <a:avLst/>
          </a:prstGeom>
          <a:noFill/>
        </p:spPr>
        <p:txBody>
          <a:bodyPr wrap="square" lIns="25400" rIns="12700" tIns="12700" bIns="12700"/>
          <a:lstStyle/>
          <a:p>
            <a:pPr algn="l"/>
            <a:r>
              <a:rPr sz="600" b="0" i="0">
                <a:solidFill>
                  <a:srgbClr val="000000"/>
                </a:solidFill>
                <a:latin typeface="Arial"/>
              </a:rPr>
              <a:t>#6 AWG Cu min.</a:t>
            </a:r>
          </a:p>
        </p:txBody>
      </p:sp>
      <p:sp>
        <p:nvSpPr>
          <p:cNvPr id="56" name="TextBox 55"/>
          <p:cNvSpPr txBox="1"/>
          <p:nvPr/>
        </p:nvSpPr>
        <p:spPr>
          <a:xfrm>
            <a:off x="5340096" y="5916168"/>
            <a:ext cx="786384" cy="173736"/>
          </a:xfrm>
          <a:prstGeom prst="rect">
            <a:avLst/>
          </a:prstGeom>
          <a:noFill/>
        </p:spPr>
        <p:txBody>
          <a:bodyPr wrap="square" lIns="25400" rIns="12700" tIns="12700" bIns="12700"/>
          <a:lstStyle/>
          <a:p>
            <a:pPr algn="l"/>
            <a:r>
              <a:rPr sz="600" b="0" i="0">
                <a:solidFill>
                  <a:srgbClr val="000000"/>
                </a:solidFill>
                <a:latin typeface="Arial"/>
              </a:rPr>
              <a:t>Cu (Bare)</a:t>
            </a:r>
          </a:p>
        </p:txBody>
      </p:sp>
      <p:sp>
        <p:nvSpPr>
          <p:cNvPr id="57" name="TextBox 56"/>
          <p:cNvSpPr txBox="1"/>
          <p:nvPr/>
        </p:nvSpPr>
        <p:spPr>
          <a:xfrm>
            <a:off x="6163056" y="5916168"/>
            <a:ext cx="786384" cy="173736"/>
          </a:xfrm>
          <a:prstGeom prst="rect">
            <a:avLst/>
          </a:prstGeom>
          <a:noFill/>
        </p:spPr>
        <p:txBody>
          <a:bodyPr wrap="square" lIns="25400" rIns="12700" tIns="12700" bIns="12700"/>
          <a:lstStyle/>
          <a:p>
            <a:pPr algn="l"/>
            <a:r>
              <a:rPr sz="600" b="0" i="0">
                <a:solidFill>
                  <a:srgbClr val="000000"/>
                </a:solidFill>
                <a:latin typeface="Arial"/>
              </a:rPr>
              <a:t>—</a:t>
            </a:r>
          </a:p>
        </p:txBody>
      </p:sp>
      <p:sp>
        <p:nvSpPr>
          <p:cNvPr id="58" name="TextBox 57"/>
          <p:cNvSpPr txBox="1"/>
          <p:nvPr/>
        </p:nvSpPr>
        <p:spPr>
          <a:xfrm>
            <a:off x="6986016" y="5916168"/>
            <a:ext cx="786384" cy="173736"/>
          </a:xfrm>
          <a:prstGeom prst="rect">
            <a:avLst/>
          </a:prstGeom>
          <a:noFill/>
        </p:spPr>
        <p:txBody>
          <a:bodyPr wrap="square" lIns="25400" rIns="12700" tIns="12700" bIns="12700"/>
          <a:lstStyle/>
          <a:p>
            <a:pPr algn="l"/>
            <a:r>
              <a:rPr sz="600" b="0" i="0">
                <a:solidFill>
                  <a:srgbClr val="000000"/>
                </a:solidFill>
                <a:latin typeface="Arial"/>
              </a:rPr>
              <a:t>IEEE 80</a:t>
            </a:r>
          </a:p>
        </p:txBody>
      </p:sp>
      <p:sp>
        <p:nvSpPr>
          <p:cNvPr id="59" name="Rectangle 58"/>
          <p:cNvSpPr/>
          <p:nvPr/>
        </p:nvSpPr>
        <p:spPr>
          <a:xfrm>
            <a:off x="201168" y="6089904"/>
            <a:ext cx="16413479" cy="201168"/>
          </a:xfrm>
          <a:prstGeom prst="rect">
            <a:avLst/>
          </a:prstGeom>
          <a:solidFill>
            <a:srgbClr val="E8E8E8"/>
          </a:solidFill>
          <a:ln w="127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219456" y="6117336"/>
            <a:ext cx="1609344" cy="173736"/>
          </a:xfrm>
          <a:prstGeom prst="rect">
            <a:avLst/>
          </a:prstGeom>
          <a:noFill/>
        </p:spPr>
        <p:txBody>
          <a:bodyPr wrap="square" lIns="25400" rIns="12700" tIns="12700" bIns="12700"/>
          <a:lstStyle/>
          <a:p>
            <a:pPr algn="l"/>
            <a:r>
              <a:rPr sz="600" b="0" i="0">
                <a:solidFill>
                  <a:srgbClr val="000000"/>
                </a:solidFill>
                <a:latin typeface="Arial"/>
              </a:rPr>
              <a:t>GROUND ROD (TYP)</a:t>
            </a:r>
          </a:p>
        </p:txBody>
      </p:sp>
      <p:sp>
        <p:nvSpPr>
          <p:cNvPr id="61" name="TextBox 60"/>
          <p:cNvSpPr txBox="1"/>
          <p:nvPr/>
        </p:nvSpPr>
        <p:spPr>
          <a:xfrm>
            <a:off x="1865376" y="6117336"/>
            <a:ext cx="1335024" cy="173736"/>
          </a:xfrm>
          <a:prstGeom prst="rect">
            <a:avLst/>
          </a:prstGeom>
          <a:noFill/>
        </p:spPr>
        <p:txBody>
          <a:bodyPr wrap="square" lIns="25400" rIns="12700" tIns="12700" bIns="12700"/>
          <a:lstStyle/>
          <a:p>
            <a:pPr algn="l"/>
            <a:r>
              <a:rPr sz="600" b="0" i="0">
                <a:solidFill>
                  <a:srgbClr val="000000"/>
                </a:solidFill>
                <a:latin typeface="Arial"/>
              </a:rPr>
              <a:t>—</a:t>
            </a:r>
          </a:p>
        </p:txBody>
      </p:sp>
      <p:sp>
        <p:nvSpPr>
          <p:cNvPr id="62" name="TextBox 61"/>
          <p:cNvSpPr txBox="1"/>
          <p:nvPr/>
        </p:nvSpPr>
        <p:spPr>
          <a:xfrm>
            <a:off x="3236976" y="6117336"/>
            <a:ext cx="1335024" cy="173736"/>
          </a:xfrm>
          <a:prstGeom prst="rect">
            <a:avLst/>
          </a:prstGeom>
          <a:noFill/>
        </p:spPr>
        <p:txBody>
          <a:bodyPr wrap="square" lIns="25400" rIns="12700" tIns="12700" bIns="12700"/>
          <a:lstStyle/>
          <a:p>
            <a:pPr algn="l"/>
            <a:r>
              <a:rPr sz="600" b="0" i="0">
                <a:solidFill>
                  <a:srgbClr val="000000"/>
                </a:solidFill>
                <a:latin typeface="Arial"/>
              </a:rPr>
              <a:t>—</a:t>
            </a:r>
          </a:p>
        </p:txBody>
      </p:sp>
      <p:sp>
        <p:nvSpPr>
          <p:cNvPr id="63" name="TextBox 62"/>
          <p:cNvSpPr txBox="1"/>
          <p:nvPr/>
        </p:nvSpPr>
        <p:spPr>
          <a:xfrm>
            <a:off x="4608576" y="6117336"/>
            <a:ext cx="694944" cy="173736"/>
          </a:xfrm>
          <a:prstGeom prst="rect">
            <a:avLst/>
          </a:prstGeom>
          <a:noFill/>
        </p:spPr>
        <p:txBody>
          <a:bodyPr wrap="square" lIns="25400" rIns="12700" tIns="12700" bIns="12700"/>
          <a:lstStyle/>
          <a:p>
            <a:pPr algn="l"/>
            <a:r>
              <a:rPr sz="600" b="0" i="0">
                <a:solidFill>
                  <a:srgbClr val="000000"/>
                </a:solidFill>
                <a:latin typeface="Arial"/>
              </a:rPr>
              <a:t>5/8" Ø × 8'-0"</a:t>
            </a:r>
          </a:p>
        </p:txBody>
      </p:sp>
      <p:sp>
        <p:nvSpPr>
          <p:cNvPr id="64" name="TextBox 63"/>
          <p:cNvSpPr txBox="1"/>
          <p:nvPr/>
        </p:nvSpPr>
        <p:spPr>
          <a:xfrm>
            <a:off x="5340096" y="6117336"/>
            <a:ext cx="786384" cy="173736"/>
          </a:xfrm>
          <a:prstGeom prst="rect">
            <a:avLst/>
          </a:prstGeom>
          <a:noFill/>
        </p:spPr>
        <p:txBody>
          <a:bodyPr wrap="square" lIns="25400" rIns="12700" tIns="12700" bIns="12700"/>
          <a:lstStyle/>
          <a:p>
            <a:pPr algn="l"/>
            <a:r>
              <a:rPr sz="600" b="0" i="0">
                <a:solidFill>
                  <a:srgbClr val="000000"/>
                </a:solidFill>
                <a:latin typeface="Arial"/>
              </a:rPr>
              <a:t>Cu-clad Steel</a:t>
            </a:r>
          </a:p>
        </p:txBody>
      </p:sp>
      <p:sp>
        <p:nvSpPr>
          <p:cNvPr id="65" name="TextBox 64"/>
          <p:cNvSpPr txBox="1"/>
          <p:nvPr/>
        </p:nvSpPr>
        <p:spPr>
          <a:xfrm>
            <a:off x="6163056" y="6117336"/>
            <a:ext cx="786384" cy="173736"/>
          </a:xfrm>
          <a:prstGeom prst="rect">
            <a:avLst/>
          </a:prstGeom>
          <a:noFill/>
        </p:spPr>
        <p:txBody>
          <a:bodyPr wrap="square" lIns="25400" rIns="12700" tIns="12700" bIns="12700"/>
          <a:lstStyle/>
          <a:p>
            <a:pPr algn="l"/>
            <a:r>
              <a:rPr sz="600" b="0" i="0">
                <a:solidFill>
                  <a:srgbClr val="000000"/>
                </a:solidFill>
                <a:latin typeface="Arial"/>
              </a:rPr>
              <a:t>—</a:t>
            </a:r>
          </a:p>
        </p:txBody>
      </p:sp>
      <p:sp>
        <p:nvSpPr>
          <p:cNvPr id="66" name="TextBox 65"/>
          <p:cNvSpPr txBox="1"/>
          <p:nvPr/>
        </p:nvSpPr>
        <p:spPr>
          <a:xfrm>
            <a:off x="6986016" y="6117336"/>
            <a:ext cx="786384" cy="173736"/>
          </a:xfrm>
          <a:prstGeom prst="rect">
            <a:avLst/>
          </a:prstGeom>
          <a:noFill/>
        </p:spPr>
        <p:txBody>
          <a:bodyPr wrap="square" lIns="25400" rIns="12700" tIns="12700" bIns="12700"/>
          <a:lstStyle/>
          <a:p>
            <a:pPr algn="l"/>
            <a:r>
              <a:rPr sz="600" b="0" i="0">
                <a:solidFill>
                  <a:srgbClr val="000000"/>
                </a:solidFill>
                <a:latin typeface="Arial"/>
              </a:rPr>
              <a:t>250.52(A)(5)</a:t>
            </a:r>
          </a:p>
        </p:txBody>
      </p:sp>
      <p:sp>
        <p:nvSpPr>
          <p:cNvPr id="67" name="Rectangle 66"/>
          <p:cNvSpPr/>
          <p:nvPr/>
        </p:nvSpPr>
        <p:spPr>
          <a:xfrm>
            <a:off x="201168" y="6291072"/>
            <a:ext cx="16413479" cy="201168"/>
          </a:xfrm>
          <a:prstGeom prst="rect">
            <a:avLst/>
          </a:prstGeom>
          <a:solidFill>
            <a:srgbClr val="FFFFFF"/>
          </a:solidFill>
          <a:ln w="127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219456" y="6318504"/>
            <a:ext cx="1609344" cy="173736"/>
          </a:xfrm>
          <a:prstGeom prst="rect">
            <a:avLst/>
          </a:prstGeom>
          <a:noFill/>
        </p:spPr>
        <p:txBody>
          <a:bodyPr wrap="square" lIns="25400" rIns="12700" tIns="12700" bIns="12700"/>
          <a:lstStyle/>
          <a:p>
            <a:pPr algn="l"/>
            <a:r>
              <a:rPr sz="600" b="0" i="0">
                <a:solidFill>
                  <a:srgbClr val="000000"/>
                </a:solidFill>
                <a:latin typeface="Arial"/>
              </a:rPr>
              <a:t>GROUND RING (IF REQ'D)</a:t>
            </a:r>
          </a:p>
        </p:txBody>
      </p:sp>
      <p:sp>
        <p:nvSpPr>
          <p:cNvPr id="69" name="TextBox 68"/>
          <p:cNvSpPr txBox="1"/>
          <p:nvPr/>
        </p:nvSpPr>
        <p:spPr>
          <a:xfrm>
            <a:off x="1865376" y="6318504"/>
            <a:ext cx="1335024" cy="173736"/>
          </a:xfrm>
          <a:prstGeom prst="rect">
            <a:avLst/>
          </a:prstGeom>
          <a:noFill/>
        </p:spPr>
        <p:txBody>
          <a:bodyPr wrap="square" lIns="25400" rIns="12700" tIns="12700" bIns="12700"/>
          <a:lstStyle/>
          <a:p>
            <a:pPr algn="l"/>
            <a:r>
              <a:rPr sz="600" b="0" i="0">
                <a:solidFill>
                  <a:srgbClr val="000000"/>
                </a:solidFill>
                <a:latin typeface="Arial"/>
              </a:rPr>
              <a:t>—</a:t>
            </a:r>
          </a:p>
        </p:txBody>
      </p:sp>
      <p:sp>
        <p:nvSpPr>
          <p:cNvPr id="70" name="TextBox 69"/>
          <p:cNvSpPr txBox="1"/>
          <p:nvPr/>
        </p:nvSpPr>
        <p:spPr>
          <a:xfrm>
            <a:off x="3236976" y="6318504"/>
            <a:ext cx="1335024" cy="173736"/>
          </a:xfrm>
          <a:prstGeom prst="rect">
            <a:avLst/>
          </a:prstGeom>
          <a:noFill/>
        </p:spPr>
        <p:txBody>
          <a:bodyPr wrap="square" lIns="25400" rIns="12700" tIns="12700" bIns="12700"/>
          <a:lstStyle/>
          <a:p>
            <a:pPr algn="l"/>
            <a:r>
              <a:rPr sz="600" b="0" i="0">
                <a:solidFill>
                  <a:srgbClr val="000000"/>
                </a:solidFill>
                <a:latin typeface="Arial"/>
              </a:rPr>
              <a:t>—</a:t>
            </a:r>
          </a:p>
        </p:txBody>
      </p:sp>
      <p:sp>
        <p:nvSpPr>
          <p:cNvPr id="71" name="TextBox 70"/>
          <p:cNvSpPr txBox="1"/>
          <p:nvPr/>
        </p:nvSpPr>
        <p:spPr>
          <a:xfrm>
            <a:off x="4608576" y="6318504"/>
            <a:ext cx="694944" cy="173736"/>
          </a:xfrm>
          <a:prstGeom prst="rect">
            <a:avLst/>
          </a:prstGeom>
          <a:noFill/>
        </p:spPr>
        <p:txBody>
          <a:bodyPr wrap="square" lIns="25400" rIns="12700" tIns="12700" bIns="12700"/>
          <a:lstStyle/>
          <a:p>
            <a:pPr algn="l"/>
            <a:r>
              <a:rPr sz="600" b="0" i="0">
                <a:solidFill>
                  <a:srgbClr val="000000"/>
                </a:solidFill>
                <a:latin typeface="Arial"/>
              </a:rPr>
              <a:t>#2 AWG Cu min.</a:t>
            </a:r>
          </a:p>
        </p:txBody>
      </p:sp>
      <p:sp>
        <p:nvSpPr>
          <p:cNvPr id="72" name="TextBox 71"/>
          <p:cNvSpPr txBox="1"/>
          <p:nvPr/>
        </p:nvSpPr>
        <p:spPr>
          <a:xfrm>
            <a:off x="5340096" y="6318504"/>
            <a:ext cx="786384" cy="173736"/>
          </a:xfrm>
          <a:prstGeom prst="rect">
            <a:avLst/>
          </a:prstGeom>
          <a:noFill/>
        </p:spPr>
        <p:txBody>
          <a:bodyPr wrap="square" lIns="25400" rIns="12700" tIns="12700" bIns="12700"/>
          <a:lstStyle/>
          <a:p>
            <a:pPr algn="l"/>
            <a:r>
              <a:rPr sz="600" b="0" i="0">
                <a:solidFill>
                  <a:srgbClr val="000000"/>
                </a:solidFill>
                <a:latin typeface="Arial"/>
              </a:rPr>
              <a:t>Cu (Bare)</a:t>
            </a:r>
          </a:p>
        </p:txBody>
      </p:sp>
      <p:sp>
        <p:nvSpPr>
          <p:cNvPr id="73" name="TextBox 72"/>
          <p:cNvSpPr txBox="1"/>
          <p:nvPr/>
        </p:nvSpPr>
        <p:spPr>
          <a:xfrm>
            <a:off x="6163056" y="6318504"/>
            <a:ext cx="786384" cy="173736"/>
          </a:xfrm>
          <a:prstGeom prst="rect">
            <a:avLst/>
          </a:prstGeom>
          <a:noFill/>
        </p:spPr>
        <p:txBody>
          <a:bodyPr wrap="square" lIns="25400" rIns="12700" tIns="12700" bIns="12700"/>
          <a:lstStyle/>
          <a:p>
            <a:pPr algn="l"/>
            <a:r>
              <a:rPr sz="600" b="0" i="0">
                <a:solidFill>
                  <a:srgbClr val="000000"/>
                </a:solidFill>
                <a:latin typeface="Arial"/>
              </a:rPr>
              <a:t>—</a:t>
            </a:r>
          </a:p>
        </p:txBody>
      </p:sp>
      <p:sp>
        <p:nvSpPr>
          <p:cNvPr id="74" name="TextBox 73"/>
          <p:cNvSpPr txBox="1"/>
          <p:nvPr/>
        </p:nvSpPr>
        <p:spPr>
          <a:xfrm>
            <a:off x="6986016" y="6318504"/>
            <a:ext cx="786384" cy="173736"/>
          </a:xfrm>
          <a:prstGeom prst="rect">
            <a:avLst/>
          </a:prstGeom>
          <a:noFill/>
        </p:spPr>
        <p:txBody>
          <a:bodyPr wrap="square" lIns="25400" rIns="12700" tIns="12700" bIns="12700"/>
          <a:lstStyle/>
          <a:p>
            <a:pPr algn="l"/>
            <a:r>
              <a:rPr sz="600" b="0" i="0">
                <a:solidFill>
                  <a:srgbClr val="000000"/>
                </a:solidFill>
                <a:latin typeface="Arial"/>
              </a:rPr>
              <a:t>250.52(A)(4)</a:t>
            </a:r>
          </a:p>
        </p:txBody>
      </p:sp>
      <p:sp>
        <p:nvSpPr>
          <p:cNvPr id="75" name="Rectangle 74"/>
          <p:cNvSpPr/>
          <p:nvPr/>
        </p:nvSpPr>
        <p:spPr>
          <a:xfrm>
            <a:off x="201168" y="6675120"/>
            <a:ext cx="16413479" cy="201168"/>
          </a:xfrm>
          <a:prstGeom prst="rect">
            <a:avLst/>
          </a:prstGeom>
          <a:solidFill>
            <a:srgbClr val="0B1E35"/>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246888" y="6675120"/>
            <a:ext cx="16596359" cy="201168"/>
          </a:xfrm>
          <a:prstGeom prst="rect">
            <a:avLst/>
          </a:prstGeom>
          <a:noFill/>
        </p:spPr>
        <p:txBody>
          <a:bodyPr wrap="square" lIns="25400" rIns="12700" tIns="12700" bIns="12700"/>
          <a:lstStyle/>
          <a:p>
            <a:pPr algn="l"/>
            <a:r>
              <a:rPr sz="700" b="1" i="0">
                <a:solidFill>
                  <a:srgbClr val="FFFFFF"/>
                </a:solidFill>
                <a:latin typeface="Arial"/>
              </a:rPr>
              <a:t>GROUND RESISTANCE TEST RECORD (FIELD)</a:t>
            </a:r>
          </a:p>
        </p:txBody>
      </p:sp>
      <p:sp>
        <p:nvSpPr>
          <p:cNvPr id="77" name="Rectangle 76"/>
          <p:cNvSpPr/>
          <p:nvPr/>
        </p:nvSpPr>
        <p:spPr>
          <a:xfrm>
            <a:off x="201168" y="6876288"/>
            <a:ext cx="16413479" cy="201168"/>
          </a:xfrm>
          <a:prstGeom prst="rect">
            <a:avLst/>
          </a:prstGeom>
          <a:solidFill>
            <a:srgbClr val="E8E8E8"/>
          </a:solidFill>
          <a:ln w="25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219456" y="6903720"/>
            <a:ext cx="603503" cy="164592"/>
          </a:xfrm>
          <a:prstGeom prst="rect">
            <a:avLst/>
          </a:prstGeom>
          <a:noFill/>
        </p:spPr>
        <p:txBody>
          <a:bodyPr wrap="square" lIns="25400" rIns="12700" tIns="12700" bIns="12700"/>
          <a:lstStyle/>
          <a:p>
            <a:pPr algn="l"/>
            <a:r>
              <a:rPr sz="600" b="1" i="0">
                <a:solidFill>
                  <a:srgbClr val="000000"/>
                </a:solidFill>
                <a:latin typeface="Arial"/>
              </a:rPr>
              <a:t>TEST ID</a:t>
            </a:r>
          </a:p>
        </p:txBody>
      </p:sp>
      <p:sp>
        <p:nvSpPr>
          <p:cNvPr id="79" name="TextBox 78"/>
          <p:cNvSpPr txBox="1"/>
          <p:nvPr/>
        </p:nvSpPr>
        <p:spPr>
          <a:xfrm>
            <a:off x="859536" y="6903720"/>
            <a:ext cx="1609344" cy="164592"/>
          </a:xfrm>
          <a:prstGeom prst="rect">
            <a:avLst/>
          </a:prstGeom>
          <a:noFill/>
        </p:spPr>
        <p:txBody>
          <a:bodyPr wrap="square" lIns="25400" rIns="12700" tIns="12700" bIns="12700"/>
          <a:lstStyle/>
          <a:p>
            <a:pPr algn="l"/>
            <a:r>
              <a:rPr sz="600" b="1" i="0">
                <a:solidFill>
                  <a:srgbClr val="000000"/>
                </a:solidFill>
                <a:latin typeface="Arial"/>
              </a:rPr>
              <a:t>LOCATION</a:t>
            </a:r>
          </a:p>
        </p:txBody>
      </p:sp>
      <p:sp>
        <p:nvSpPr>
          <p:cNvPr id="80" name="TextBox 79"/>
          <p:cNvSpPr txBox="1"/>
          <p:nvPr/>
        </p:nvSpPr>
        <p:spPr>
          <a:xfrm>
            <a:off x="2505456" y="6903720"/>
            <a:ext cx="1975104" cy="164592"/>
          </a:xfrm>
          <a:prstGeom prst="rect">
            <a:avLst/>
          </a:prstGeom>
          <a:noFill/>
        </p:spPr>
        <p:txBody>
          <a:bodyPr wrap="square" lIns="25400" rIns="12700" tIns="12700" bIns="12700"/>
          <a:lstStyle/>
          <a:p>
            <a:pPr algn="l"/>
            <a:r>
              <a:rPr sz="600" b="1" i="0">
                <a:solidFill>
                  <a:srgbClr val="000000"/>
                </a:solidFill>
                <a:latin typeface="Arial"/>
              </a:rPr>
              <a:t>METHOD</a:t>
            </a:r>
          </a:p>
        </p:txBody>
      </p:sp>
      <p:sp>
        <p:nvSpPr>
          <p:cNvPr id="81" name="TextBox 80"/>
          <p:cNvSpPr txBox="1"/>
          <p:nvPr/>
        </p:nvSpPr>
        <p:spPr>
          <a:xfrm>
            <a:off x="4517136" y="6903720"/>
            <a:ext cx="877824" cy="164592"/>
          </a:xfrm>
          <a:prstGeom prst="rect">
            <a:avLst/>
          </a:prstGeom>
          <a:noFill/>
        </p:spPr>
        <p:txBody>
          <a:bodyPr wrap="square" lIns="25400" rIns="12700" tIns="12700" bIns="12700"/>
          <a:lstStyle/>
          <a:p>
            <a:pPr algn="l"/>
            <a:r>
              <a:rPr sz="600" b="1" i="0">
                <a:solidFill>
                  <a:srgbClr val="000000"/>
                </a:solidFill>
                <a:latin typeface="Arial"/>
              </a:rPr>
              <a:t>RESULT (Ω)</a:t>
            </a:r>
          </a:p>
        </p:txBody>
      </p:sp>
      <p:sp>
        <p:nvSpPr>
          <p:cNvPr id="82" name="TextBox 81"/>
          <p:cNvSpPr txBox="1"/>
          <p:nvPr/>
        </p:nvSpPr>
        <p:spPr>
          <a:xfrm>
            <a:off x="5431536" y="6903720"/>
            <a:ext cx="786384" cy="164592"/>
          </a:xfrm>
          <a:prstGeom prst="rect">
            <a:avLst/>
          </a:prstGeom>
          <a:noFill/>
        </p:spPr>
        <p:txBody>
          <a:bodyPr wrap="square" lIns="25400" rIns="12700" tIns="12700" bIns="12700"/>
          <a:lstStyle/>
          <a:p>
            <a:pPr algn="l"/>
            <a:r>
              <a:rPr sz="600" b="1" i="0">
                <a:solidFill>
                  <a:srgbClr val="000000"/>
                </a:solidFill>
                <a:latin typeface="Arial"/>
              </a:rPr>
              <a:t>PASS/FAIL</a:t>
            </a:r>
          </a:p>
        </p:txBody>
      </p:sp>
      <p:sp>
        <p:nvSpPr>
          <p:cNvPr id="83" name="TextBox 82"/>
          <p:cNvSpPr txBox="1"/>
          <p:nvPr/>
        </p:nvSpPr>
        <p:spPr>
          <a:xfrm>
            <a:off x="6254496" y="6903720"/>
            <a:ext cx="877824" cy="164592"/>
          </a:xfrm>
          <a:prstGeom prst="rect">
            <a:avLst/>
          </a:prstGeom>
          <a:noFill/>
        </p:spPr>
        <p:txBody>
          <a:bodyPr wrap="square" lIns="25400" rIns="12700" tIns="12700" bIns="12700"/>
          <a:lstStyle/>
          <a:p>
            <a:pPr algn="l"/>
            <a:r>
              <a:rPr sz="600" b="1" i="0">
                <a:solidFill>
                  <a:srgbClr val="000000"/>
                </a:solidFill>
                <a:latin typeface="Arial"/>
              </a:rPr>
              <a:t>DATE</a:t>
            </a:r>
          </a:p>
        </p:txBody>
      </p:sp>
      <p:sp>
        <p:nvSpPr>
          <p:cNvPr id="84" name="TextBox 83"/>
          <p:cNvSpPr txBox="1"/>
          <p:nvPr/>
        </p:nvSpPr>
        <p:spPr>
          <a:xfrm>
            <a:off x="7168896" y="6903720"/>
            <a:ext cx="694944" cy="164592"/>
          </a:xfrm>
          <a:prstGeom prst="rect">
            <a:avLst/>
          </a:prstGeom>
          <a:noFill/>
        </p:spPr>
        <p:txBody>
          <a:bodyPr wrap="square" lIns="25400" rIns="12700" tIns="12700" bIns="12700"/>
          <a:lstStyle/>
          <a:p>
            <a:pPr algn="l"/>
            <a:r>
              <a:rPr sz="600" b="1" i="0">
                <a:solidFill>
                  <a:srgbClr val="000000"/>
                </a:solidFill>
                <a:latin typeface="Arial"/>
              </a:rPr>
              <a:t>TECH</a:t>
            </a:r>
          </a:p>
        </p:txBody>
      </p:sp>
      <p:sp>
        <p:nvSpPr>
          <p:cNvPr id="85" name="Rectangle 84"/>
          <p:cNvSpPr/>
          <p:nvPr/>
        </p:nvSpPr>
        <p:spPr>
          <a:xfrm>
            <a:off x="201168" y="7077456"/>
            <a:ext cx="16413479" cy="201168"/>
          </a:xfrm>
          <a:prstGeom prst="rect">
            <a:avLst/>
          </a:prstGeom>
          <a:solidFill>
            <a:srgbClr val="FFFFFF"/>
          </a:solidFill>
          <a:ln w="127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219456" y="7104888"/>
            <a:ext cx="603503" cy="173736"/>
          </a:xfrm>
          <a:prstGeom prst="rect">
            <a:avLst/>
          </a:prstGeom>
          <a:noFill/>
        </p:spPr>
        <p:txBody>
          <a:bodyPr wrap="square" lIns="25400" rIns="12700" tIns="12700" bIns="12700"/>
          <a:lstStyle/>
          <a:p>
            <a:pPr algn="l"/>
            <a:r>
              <a:rPr sz="600" b="0" i="0">
                <a:solidFill>
                  <a:srgbClr val="000000"/>
                </a:solidFill>
                <a:latin typeface="Arial"/>
              </a:rPr>
              <a:t>GR-1</a:t>
            </a:r>
          </a:p>
        </p:txBody>
      </p:sp>
      <p:sp>
        <p:nvSpPr>
          <p:cNvPr id="87" name="TextBox 86"/>
          <p:cNvSpPr txBox="1"/>
          <p:nvPr/>
        </p:nvSpPr>
        <p:spPr>
          <a:xfrm>
            <a:off x="859536" y="7104888"/>
            <a:ext cx="1609344" cy="173736"/>
          </a:xfrm>
          <a:prstGeom prst="rect">
            <a:avLst/>
          </a:prstGeom>
          <a:noFill/>
        </p:spPr>
        <p:txBody>
          <a:bodyPr wrap="square" lIns="25400" rIns="12700" tIns="12700" bIns="12700"/>
          <a:lstStyle/>
          <a:p>
            <a:pPr algn="l"/>
            <a:r>
              <a:rPr sz="600" b="0" i="0">
                <a:solidFill>
                  <a:srgbClr val="000000"/>
                </a:solidFill>
                <a:latin typeface="Arial"/>
              </a:rPr>
              <a:t>XFMR Pad</a:t>
            </a:r>
          </a:p>
        </p:txBody>
      </p:sp>
      <p:sp>
        <p:nvSpPr>
          <p:cNvPr id="88" name="TextBox 87"/>
          <p:cNvSpPr txBox="1"/>
          <p:nvPr/>
        </p:nvSpPr>
        <p:spPr>
          <a:xfrm>
            <a:off x="2505456" y="7104888"/>
            <a:ext cx="1975104" cy="173736"/>
          </a:xfrm>
          <a:prstGeom prst="rect">
            <a:avLst/>
          </a:prstGeom>
          <a:noFill/>
        </p:spPr>
        <p:txBody>
          <a:bodyPr wrap="square" lIns="25400" rIns="12700" tIns="12700" bIns="12700"/>
          <a:lstStyle/>
          <a:p>
            <a:pPr algn="l"/>
            <a:r>
              <a:rPr sz="600" b="0" i="0">
                <a:solidFill>
                  <a:srgbClr val="000000"/>
                </a:solidFill>
                <a:latin typeface="Arial"/>
              </a:rPr>
              <a:t>3-Pt Fall of Potential</a:t>
            </a:r>
          </a:p>
        </p:txBody>
      </p:sp>
      <p:sp>
        <p:nvSpPr>
          <p:cNvPr id="89" name="TextBox 88"/>
          <p:cNvSpPr txBox="1"/>
          <p:nvPr/>
        </p:nvSpPr>
        <p:spPr>
          <a:xfrm>
            <a:off x="4517136" y="7104888"/>
            <a:ext cx="877824" cy="173736"/>
          </a:xfrm>
          <a:prstGeom prst="rect">
            <a:avLst/>
          </a:prstGeom>
          <a:noFill/>
        </p:spPr>
        <p:txBody>
          <a:bodyPr wrap="square" lIns="25400" rIns="12700" tIns="12700" bIns="12700"/>
          <a:lstStyle/>
          <a:p>
            <a:pPr algn="l"/>
            <a:r>
              <a:rPr sz="600" b="0" i="0">
                <a:solidFill>
                  <a:srgbClr val="000000"/>
                </a:solidFill>
                <a:latin typeface="Arial"/>
              </a:rPr>
              <a:t>[ ]</a:t>
            </a:r>
          </a:p>
        </p:txBody>
      </p:sp>
      <p:sp>
        <p:nvSpPr>
          <p:cNvPr id="90" name="TextBox 89"/>
          <p:cNvSpPr txBox="1"/>
          <p:nvPr/>
        </p:nvSpPr>
        <p:spPr>
          <a:xfrm>
            <a:off x="5431536" y="7104888"/>
            <a:ext cx="786384" cy="173736"/>
          </a:xfrm>
          <a:prstGeom prst="rect">
            <a:avLst/>
          </a:prstGeom>
          <a:noFill/>
        </p:spPr>
        <p:txBody>
          <a:bodyPr wrap="square" lIns="25400" rIns="12700" tIns="12700" bIns="12700"/>
          <a:lstStyle/>
          <a:p>
            <a:pPr algn="l"/>
            <a:r>
              <a:rPr sz="600" b="0" i="0">
                <a:solidFill>
                  <a:srgbClr val="000000"/>
                </a:solidFill>
                <a:latin typeface="Arial"/>
              </a:rPr>
              <a:t>[ ]</a:t>
            </a:r>
          </a:p>
        </p:txBody>
      </p:sp>
      <p:sp>
        <p:nvSpPr>
          <p:cNvPr id="91" name="TextBox 90"/>
          <p:cNvSpPr txBox="1"/>
          <p:nvPr/>
        </p:nvSpPr>
        <p:spPr>
          <a:xfrm>
            <a:off x="6254496" y="7104888"/>
            <a:ext cx="877824" cy="173736"/>
          </a:xfrm>
          <a:prstGeom prst="rect">
            <a:avLst/>
          </a:prstGeom>
          <a:noFill/>
        </p:spPr>
        <p:txBody>
          <a:bodyPr wrap="square" lIns="25400" rIns="12700" tIns="12700" bIns="12700"/>
          <a:lstStyle/>
          <a:p>
            <a:pPr algn="l"/>
            <a:r>
              <a:rPr sz="600" b="0" i="0">
                <a:solidFill>
                  <a:srgbClr val="000000"/>
                </a:solidFill>
                <a:latin typeface="Arial"/>
              </a:rPr>
              <a:t>[ ]</a:t>
            </a:r>
          </a:p>
        </p:txBody>
      </p:sp>
      <p:sp>
        <p:nvSpPr>
          <p:cNvPr id="92" name="TextBox 91"/>
          <p:cNvSpPr txBox="1"/>
          <p:nvPr/>
        </p:nvSpPr>
        <p:spPr>
          <a:xfrm>
            <a:off x="7168896" y="7104888"/>
            <a:ext cx="694944" cy="173736"/>
          </a:xfrm>
          <a:prstGeom prst="rect">
            <a:avLst/>
          </a:prstGeom>
          <a:noFill/>
        </p:spPr>
        <p:txBody>
          <a:bodyPr wrap="square" lIns="25400" rIns="12700" tIns="12700" bIns="12700"/>
          <a:lstStyle/>
          <a:p>
            <a:pPr algn="l"/>
            <a:r>
              <a:rPr sz="600" b="0" i="0">
                <a:solidFill>
                  <a:srgbClr val="000000"/>
                </a:solidFill>
                <a:latin typeface="Arial"/>
              </a:rPr>
              <a:t>[ ]</a:t>
            </a:r>
          </a:p>
        </p:txBody>
      </p:sp>
      <p:sp>
        <p:nvSpPr>
          <p:cNvPr id="93" name="Rectangle 92"/>
          <p:cNvSpPr/>
          <p:nvPr/>
        </p:nvSpPr>
        <p:spPr>
          <a:xfrm>
            <a:off x="201168" y="7278624"/>
            <a:ext cx="16413479" cy="201168"/>
          </a:xfrm>
          <a:prstGeom prst="rect">
            <a:avLst/>
          </a:prstGeom>
          <a:solidFill>
            <a:srgbClr val="E8E8E8"/>
          </a:solidFill>
          <a:ln w="127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219456" y="7306056"/>
            <a:ext cx="603503" cy="173736"/>
          </a:xfrm>
          <a:prstGeom prst="rect">
            <a:avLst/>
          </a:prstGeom>
          <a:noFill/>
        </p:spPr>
        <p:txBody>
          <a:bodyPr wrap="square" lIns="25400" rIns="12700" tIns="12700" bIns="12700"/>
          <a:lstStyle/>
          <a:p>
            <a:pPr algn="l"/>
            <a:r>
              <a:rPr sz="600" b="0" i="0">
                <a:solidFill>
                  <a:srgbClr val="000000"/>
                </a:solidFill>
                <a:latin typeface="Arial"/>
              </a:rPr>
              <a:t>GR-2</a:t>
            </a:r>
          </a:p>
        </p:txBody>
      </p:sp>
      <p:sp>
        <p:nvSpPr>
          <p:cNvPr id="95" name="TextBox 94"/>
          <p:cNvSpPr txBox="1"/>
          <p:nvPr/>
        </p:nvSpPr>
        <p:spPr>
          <a:xfrm>
            <a:off x="859536" y="7306056"/>
            <a:ext cx="1609344" cy="173736"/>
          </a:xfrm>
          <a:prstGeom prst="rect">
            <a:avLst/>
          </a:prstGeom>
          <a:noFill/>
        </p:spPr>
        <p:txBody>
          <a:bodyPr wrap="square" lIns="25400" rIns="12700" tIns="12700" bIns="12700"/>
          <a:lstStyle/>
          <a:p>
            <a:pPr algn="l"/>
            <a:r>
              <a:rPr sz="600" b="0" i="0">
                <a:solidFill>
                  <a:srgbClr val="000000"/>
                </a:solidFill>
                <a:latin typeface="Arial"/>
              </a:rPr>
              <a:t>BESS Pad</a:t>
            </a:r>
          </a:p>
        </p:txBody>
      </p:sp>
      <p:sp>
        <p:nvSpPr>
          <p:cNvPr id="96" name="TextBox 95"/>
          <p:cNvSpPr txBox="1"/>
          <p:nvPr/>
        </p:nvSpPr>
        <p:spPr>
          <a:xfrm>
            <a:off x="2505456" y="7306056"/>
            <a:ext cx="1975104" cy="173736"/>
          </a:xfrm>
          <a:prstGeom prst="rect">
            <a:avLst/>
          </a:prstGeom>
          <a:noFill/>
        </p:spPr>
        <p:txBody>
          <a:bodyPr wrap="square" lIns="25400" rIns="12700" tIns="12700" bIns="12700"/>
          <a:lstStyle/>
          <a:p>
            <a:pPr algn="l"/>
            <a:r>
              <a:rPr sz="600" b="0" i="0">
                <a:solidFill>
                  <a:srgbClr val="000000"/>
                </a:solidFill>
                <a:latin typeface="Arial"/>
              </a:rPr>
              <a:t>3-Pt Fall of Potential</a:t>
            </a:r>
          </a:p>
        </p:txBody>
      </p:sp>
      <p:sp>
        <p:nvSpPr>
          <p:cNvPr id="97" name="TextBox 96"/>
          <p:cNvSpPr txBox="1"/>
          <p:nvPr/>
        </p:nvSpPr>
        <p:spPr>
          <a:xfrm>
            <a:off x="4517136" y="7306056"/>
            <a:ext cx="877824" cy="173736"/>
          </a:xfrm>
          <a:prstGeom prst="rect">
            <a:avLst/>
          </a:prstGeom>
          <a:noFill/>
        </p:spPr>
        <p:txBody>
          <a:bodyPr wrap="square" lIns="25400" rIns="12700" tIns="12700" bIns="12700"/>
          <a:lstStyle/>
          <a:p>
            <a:pPr algn="l"/>
            <a:r>
              <a:rPr sz="600" b="0" i="0">
                <a:solidFill>
                  <a:srgbClr val="000000"/>
                </a:solidFill>
                <a:latin typeface="Arial"/>
              </a:rPr>
              <a:t>[ ]</a:t>
            </a:r>
          </a:p>
        </p:txBody>
      </p:sp>
      <p:sp>
        <p:nvSpPr>
          <p:cNvPr id="98" name="TextBox 97"/>
          <p:cNvSpPr txBox="1"/>
          <p:nvPr/>
        </p:nvSpPr>
        <p:spPr>
          <a:xfrm>
            <a:off x="5431536" y="7306056"/>
            <a:ext cx="786384" cy="173736"/>
          </a:xfrm>
          <a:prstGeom prst="rect">
            <a:avLst/>
          </a:prstGeom>
          <a:noFill/>
        </p:spPr>
        <p:txBody>
          <a:bodyPr wrap="square" lIns="25400" rIns="12700" tIns="12700" bIns="12700"/>
          <a:lstStyle/>
          <a:p>
            <a:pPr algn="l"/>
            <a:r>
              <a:rPr sz="600" b="0" i="0">
                <a:solidFill>
                  <a:srgbClr val="000000"/>
                </a:solidFill>
                <a:latin typeface="Arial"/>
              </a:rPr>
              <a:t>[ ]</a:t>
            </a:r>
          </a:p>
        </p:txBody>
      </p:sp>
      <p:sp>
        <p:nvSpPr>
          <p:cNvPr id="99" name="TextBox 98"/>
          <p:cNvSpPr txBox="1"/>
          <p:nvPr/>
        </p:nvSpPr>
        <p:spPr>
          <a:xfrm>
            <a:off x="6254496" y="7306056"/>
            <a:ext cx="877824" cy="173736"/>
          </a:xfrm>
          <a:prstGeom prst="rect">
            <a:avLst/>
          </a:prstGeom>
          <a:noFill/>
        </p:spPr>
        <p:txBody>
          <a:bodyPr wrap="square" lIns="25400" rIns="12700" tIns="12700" bIns="12700"/>
          <a:lstStyle/>
          <a:p>
            <a:pPr algn="l"/>
            <a:r>
              <a:rPr sz="600" b="0" i="0">
                <a:solidFill>
                  <a:srgbClr val="000000"/>
                </a:solidFill>
                <a:latin typeface="Arial"/>
              </a:rPr>
              <a:t>[ ]</a:t>
            </a:r>
          </a:p>
        </p:txBody>
      </p:sp>
      <p:sp>
        <p:nvSpPr>
          <p:cNvPr id="100" name="TextBox 99"/>
          <p:cNvSpPr txBox="1"/>
          <p:nvPr/>
        </p:nvSpPr>
        <p:spPr>
          <a:xfrm>
            <a:off x="7168896" y="7306056"/>
            <a:ext cx="694944" cy="173736"/>
          </a:xfrm>
          <a:prstGeom prst="rect">
            <a:avLst/>
          </a:prstGeom>
          <a:noFill/>
        </p:spPr>
        <p:txBody>
          <a:bodyPr wrap="square" lIns="25400" rIns="12700" tIns="12700" bIns="12700"/>
          <a:lstStyle/>
          <a:p>
            <a:pPr algn="l"/>
            <a:r>
              <a:rPr sz="600" b="0" i="0">
                <a:solidFill>
                  <a:srgbClr val="000000"/>
                </a:solidFill>
                <a:latin typeface="Arial"/>
              </a:rPr>
              <a:t>[ ]</a:t>
            </a:r>
          </a:p>
        </p:txBody>
      </p:sp>
      <p:sp>
        <p:nvSpPr>
          <p:cNvPr id="101" name="Rectangle 100"/>
          <p:cNvSpPr/>
          <p:nvPr/>
        </p:nvSpPr>
        <p:spPr>
          <a:xfrm>
            <a:off x="201168" y="7479792"/>
            <a:ext cx="16413479" cy="201168"/>
          </a:xfrm>
          <a:prstGeom prst="rect">
            <a:avLst/>
          </a:prstGeom>
          <a:solidFill>
            <a:srgbClr val="FFFFFF"/>
          </a:solidFill>
          <a:ln w="127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219456" y="7507224"/>
            <a:ext cx="603503" cy="173736"/>
          </a:xfrm>
          <a:prstGeom prst="rect">
            <a:avLst/>
          </a:prstGeom>
          <a:noFill/>
        </p:spPr>
        <p:txBody>
          <a:bodyPr wrap="square" lIns="25400" rIns="12700" tIns="12700" bIns="12700"/>
          <a:lstStyle/>
          <a:p>
            <a:pPr algn="l"/>
            <a:r>
              <a:rPr sz="600" b="0" i="0">
                <a:solidFill>
                  <a:srgbClr val="000000"/>
                </a:solidFill>
                <a:latin typeface="Arial"/>
              </a:rPr>
              <a:t>GR-3</a:t>
            </a:r>
          </a:p>
        </p:txBody>
      </p:sp>
      <p:sp>
        <p:nvSpPr>
          <p:cNvPr id="103" name="TextBox 102"/>
          <p:cNvSpPr txBox="1"/>
          <p:nvPr/>
        </p:nvSpPr>
        <p:spPr>
          <a:xfrm>
            <a:off x="859536" y="7507224"/>
            <a:ext cx="1609344" cy="173736"/>
          </a:xfrm>
          <a:prstGeom prst="rect">
            <a:avLst/>
          </a:prstGeom>
          <a:noFill/>
        </p:spPr>
        <p:txBody>
          <a:bodyPr wrap="square" lIns="25400" rIns="12700" tIns="12700" bIns="12700"/>
          <a:lstStyle/>
          <a:p>
            <a:pPr algn="l"/>
            <a:r>
              <a:rPr sz="600" b="0" i="0">
                <a:solidFill>
                  <a:srgbClr val="000000"/>
                </a:solidFill>
                <a:latin typeface="Arial"/>
              </a:rPr>
              <a:t>Fence Gate</a:t>
            </a:r>
          </a:p>
        </p:txBody>
      </p:sp>
      <p:sp>
        <p:nvSpPr>
          <p:cNvPr id="104" name="TextBox 103"/>
          <p:cNvSpPr txBox="1"/>
          <p:nvPr/>
        </p:nvSpPr>
        <p:spPr>
          <a:xfrm>
            <a:off x="2505456" y="7507224"/>
            <a:ext cx="1975104" cy="173736"/>
          </a:xfrm>
          <a:prstGeom prst="rect">
            <a:avLst/>
          </a:prstGeom>
          <a:noFill/>
        </p:spPr>
        <p:txBody>
          <a:bodyPr wrap="square" lIns="25400" rIns="12700" tIns="12700" bIns="12700"/>
          <a:lstStyle/>
          <a:p>
            <a:pPr algn="l"/>
            <a:r>
              <a:rPr sz="600" b="0" i="0">
                <a:solidFill>
                  <a:srgbClr val="000000"/>
                </a:solidFill>
                <a:latin typeface="Arial"/>
              </a:rPr>
              <a:t>Clamp-on</a:t>
            </a:r>
          </a:p>
        </p:txBody>
      </p:sp>
      <p:sp>
        <p:nvSpPr>
          <p:cNvPr id="105" name="TextBox 104"/>
          <p:cNvSpPr txBox="1"/>
          <p:nvPr/>
        </p:nvSpPr>
        <p:spPr>
          <a:xfrm>
            <a:off x="4517136" y="7507224"/>
            <a:ext cx="877824" cy="173736"/>
          </a:xfrm>
          <a:prstGeom prst="rect">
            <a:avLst/>
          </a:prstGeom>
          <a:noFill/>
        </p:spPr>
        <p:txBody>
          <a:bodyPr wrap="square" lIns="25400" rIns="12700" tIns="12700" bIns="12700"/>
          <a:lstStyle/>
          <a:p>
            <a:pPr algn="l"/>
            <a:r>
              <a:rPr sz="600" b="0" i="0">
                <a:solidFill>
                  <a:srgbClr val="000000"/>
                </a:solidFill>
                <a:latin typeface="Arial"/>
              </a:rPr>
              <a:t>[ ]</a:t>
            </a:r>
          </a:p>
        </p:txBody>
      </p:sp>
      <p:sp>
        <p:nvSpPr>
          <p:cNvPr id="106" name="TextBox 105"/>
          <p:cNvSpPr txBox="1"/>
          <p:nvPr/>
        </p:nvSpPr>
        <p:spPr>
          <a:xfrm>
            <a:off x="5431536" y="7507224"/>
            <a:ext cx="786384" cy="173736"/>
          </a:xfrm>
          <a:prstGeom prst="rect">
            <a:avLst/>
          </a:prstGeom>
          <a:noFill/>
        </p:spPr>
        <p:txBody>
          <a:bodyPr wrap="square" lIns="25400" rIns="12700" tIns="12700" bIns="12700"/>
          <a:lstStyle/>
          <a:p>
            <a:pPr algn="l"/>
            <a:r>
              <a:rPr sz="600" b="0" i="0">
                <a:solidFill>
                  <a:srgbClr val="000000"/>
                </a:solidFill>
                <a:latin typeface="Arial"/>
              </a:rPr>
              <a:t>[ ]</a:t>
            </a:r>
          </a:p>
        </p:txBody>
      </p:sp>
      <p:sp>
        <p:nvSpPr>
          <p:cNvPr id="107" name="TextBox 106"/>
          <p:cNvSpPr txBox="1"/>
          <p:nvPr/>
        </p:nvSpPr>
        <p:spPr>
          <a:xfrm>
            <a:off x="6254496" y="7507224"/>
            <a:ext cx="877824" cy="173736"/>
          </a:xfrm>
          <a:prstGeom prst="rect">
            <a:avLst/>
          </a:prstGeom>
          <a:noFill/>
        </p:spPr>
        <p:txBody>
          <a:bodyPr wrap="square" lIns="25400" rIns="12700" tIns="12700" bIns="12700"/>
          <a:lstStyle/>
          <a:p>
            <a:pPr algn="l"/>
            <a:r>
              <a:rPr sz="600" b="0" i="0">
                <a:solidFill>
                  <a:srgbClr val="000000"/>
                </a:solidFill>
                <a:latin typeface="Arial"/>
              </a:rPr>
              <a:t>[ ]</a:t>
            </a:r>
          </a:p>
        </p:txBody>
      </p:sp>
      <p:sp>
        <p:nvSpPr>
          <p:cNvPr id="108" name="TextBox 107"/>
          <p:cNvSpPr txBox="1"/>
          <p:nvPr/>
        </p:nvSpPr>
        <p:spPr>
          <a:xfrm>
            <a:off x="7168896" y="7507224"/>
            <a:ext cx="694944" cy="173736"/>
          </a:xfrm>
          <a:prstGeom prst="rect">
            <a:avLst/>
          </a:prstGeom>
          <a:noFill/>
        </p:spPr>
        <p:txBody>
          <a:bodyPr wrap="square" lIns="25400" rIns="12700" tIns="12700" bIns="12700"/>
          <a:lstStyle/>
          <a:p>
            <a:pPr algn="l"/>
            <a:r>
              <a:rPr sz="600" b="0" i="0">
                <a:solidFill>
                  <a:srgbClr val="000000"/>
                </a:solidFill>
                <a:latin typeface="Arial"/>
              </a:rPr>
              <a:t>[ ]</a:t>
            </a:r>
          </a:p>
        </p:txBody>
      </p:sp>
      <p:sp>
        <p:nvSpPr>
          <p:cNvPr id="109" name="TextBox 108"/>
          <p:cNvSpPr txBox="1"/>
          <p:nvPr/>
        </p:nvSpPr>
        <p:spPr>
          <a:xfrm>
            <a:off x="201168" y="7589520"/>
            <a:ext cx="16413479" cy="182880"/>
          </a:xfrm>
          <a:prstGeom prst="rect">
            <a:avLst/>
          </a:prstGeom>
          <a:noFill/>
        </p:spPr>
        <p:txBody>
          <a:bodyPr wrap="square" lIns="25400" rIns="12700" tIns="12700" bIns="12700"/>
          <a:lstStyle/>
          <a:p>
            <a:pPr algn="l"/>
            <a:r>
              <a:rPr sz="650" b="0" i="1">
                <a:solidFill>
                  <a:srgbClr val="000000"/>
                </a:solidFill>
                <a:latin typeface="Arial"/>
              </a:rPr>
              <a:t>Note: All readings must be ≤25 Ω per NEC 250.53(A)(2), or a supplemental electrode must be installed.</a:t>
            </a:r>
          </a:p>
        </p:txBody>
      </p:sp>
      <p:sp>
        <p:nvSpPr>
          <p:cNvPr id="110" name="Rectangle 109"/>
          <p:cNvSpPr/>
          <p:nvPr/>
        </p:nvSpPr>
        <p:spPr>
          <a:xfrm>
            <a:off x="201168" y="7818120"/>
            <a:ext cx="16413479" cy="2286000"/>
          </a:xfrm>
          <a:prstGeom prst="rect">
            <a:avLst/>
          </a:prstGeom>
          <a:solidFill>
            <a:srgbClr val="E26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201168" y="8834120"/>
            <a:ext cx="16413479" cy="254000"/>
          </a:xfrm>
          <a:prstGeom prst="rect">
            <a:avLst/>
          </a:prstGeom>
          <a:noFill/>
        </p:spPr>
        <p:txBody>
          <a:bodyPr wrap="square" lIns="25400" rIns="12700" tIns="12700" bIns="12700"/>
          <a:lstStyle/>
          <a:p>
            <a:pPr algn="ctr"/>
            <a:r>
              <a:rPr sz="1400" b="0" i="0">
                <a:solidFill>
                  <a:srgbClr val="FFFFFF"/>
                </a:solidFill>
                <a:latin typeface="Arial"/>
              </a:rPr>
              <a:t>S2.0 BESS GROUNDING DIAGRAM
(Container grounding point diagram from manufacturer)</a:t>
            </a:r>
          </a:p>
        </p:txBody>
      </p:sp>
      <p:sp>
        <p:nvSpPr>
          <p:cNvPr id="112" name="TextBox 111"/>
          <p:cNvSpPr txBox="1"/>
          <p:nvPr/>
        </p:nvSpPr>
        <p:spPr>
          <a:xfrm>
            <a:off x="201168" y="12938760"/>
            <a:ext cx="7315200" cy="228600"/>
          </a:xfrm>
          <a:prstGeom prst="rect">
            <a:avLst/>
          </a:prstGeom>
          <a:noFill/>
        </p:spPr>
        <p:txBody>
          <a:bodyPr wrap="square" lIns="25400" rIns="12700" tIns="12700" bIns="12700"/>
          <a:lstStyle/>
          <a:p>
            <a:pPr algn="l"/>
            <a:r>
              <a:rPr sz="700" b="0" i="0">
                <a:solidFill>
                  <a:srgbClr val="000000"/>
                </a:solidFill>
                <a:latin typeface="Arial"/>
              </a:rPr>
              <a:t>1 — GROUNDING ELECTRODE DETAIL: XFMR/BESS/INVERTER · SCALE: NTS    2 — DIAGRAM OF GROUNDING POINTS · SCALE: NTS</a:t>
            </a:r>
          </a:p>
        </p:txBody>
      </p:sp>
      <p:sp>
        <p:nvSpPr>
          <p:cNvPr id="113" name="Rectangle 112"/>
          <p:cNvSpPr/>
          <p:nvPr/>
        </p:nvSpPr>
        <p:spPr>
          <a:xfrm>
            <a:off x="16806672" y="0"/>
            <a:ext cx="3127248" cy="13414248"/>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16824960" y="0"/>
            <a:ext cx="3108960" cy="82296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16870680" y="45720"/>
            <a:ext cx="3017520" cy="731520"/>
          </a:xfrm>
          <a:prstGeom prst="rect">
            <a:avLst/>
          </a:prstGeom>
          <a:noFill/>
        </p:spPr>
        <p:txBody>
          <a:bodyPr wrap="square" lIns="25400" rIns="12700" tIns="12700" bIns="12700"/>
          <a:lstStyle/>
          <a:p>
            <a:pPr algn="ctr"/>
            <a:r>
              <a:rPr sz="2000" b="1" i="0">
                <a:solidFill>
                  <a:srgbClr val="0B1E35"/>
                </a:solidFill>
                <a:latin typeface="Arial"/>
              </a:rPr>
              <a:t>ClearSky</a:t>
            </a:r>
          </a:p>
        </p:txBody>
      </p:sp>
      <p:sp>
        <p:nvSpPr>
          <p:cNvPr id="116" name="TextBox 115"/>
          <p:cNvSpPr txBox="1"/>
          <p:nvPr/>
        </p:nvSpPr>
        <p:spPr>
          <a:xfrm>
            <a:off x="16870680" y="457200"/>
            <a:ext cx="3017520" cy="320040"/>
          </a:xfrm>
          <a:prstGeom prst="rect">
            <a:avLst/>
          </a:prstGeom>
          <a:noFill/>
        </p:spPr>
        <p:txBody>
          <a:bodyPr wrap="square" lIns="25400" rIns="12700" tIns="12700" bIns="12700"/>
          <a:lstStyle/>
          <a:p>
            <a:pPr algn="ctr"/>
            <a:r>
              <a:rPr sz="700" b="1" i="0">
                <a:solidFill>
                  <a:srgbClr val="C9A84C"/>
                </a:solidFill>
                <a:latin typeface="Arial"/>
              </a:rPr>
              <a:t>BUILDERS LLC</a:t>
            </a:r>
          </a:p>
        </p:txBody>
      </p:sp>
      <p:sp>
        <p:nvSpPr>
          <p:cNvPr id="117" name="Rectangle 116"/>
          <p:cNvSpPr/>
          <p:nvPr/>
        </p:nvSpPr>
        <p:spPr>
          <a:xfrm>
            <a:off x="16824960" y="822960"/>
            <a:ext cx="3108960" cy="6858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16870680" y="859536"/>
            <a:ext cx="3017520" cy="612648"/>
          </a:xfrm>
          <a:prstGeom prst="rect">
            <a:avLst/>
          </a:prstGeom>
          <a:noFill/>
        </p:spPr>
        <p:txBody>
          <a:bodyPr wrap="square" lIns="25400" rIns="12700" tIns="12700" bIns="12700"/>
          <a:lstStyle/>
          <a:p>
            <a:pPr algn="l"/>
            <a:r>
              <a:rPr sz="650" b="0">
                <a:solidFill>
                  <a:srgbClr val="000000"/>
                </a:solidFill>
                <a:latin typeface="Arial"/>
              </a:rPr>
              <a:t>PO BOX {{GC_PO_BOX}}</a:t>
            </a:r>
          </a:p>
          <a:p>
            <a:pPr algn="l"/>
            <a:r>
              <a:rPr sz="650" b="0">
                <a:solidFill>
                  <a:srgbClr val="000000"/>
                </a:solidFill>
                <a:latin typeface="Arial"/>
              </a:rPr>
              <a:t>{{GC_CITY}}, {{GC_STATE}} {{GC_ZIP}}</a:t>
            </a:r>
          </a:p>
          <a:p>
            <a:pPr algn="l"/>
            <a:r>
              <a:rPr sz="650" b="0">
                <a:solidFill>
                  <a:srgbClr val="000000"/>
                </a:solidFill>
                <a:latin typeface="Arial"/>
              </a:rPr>
              <a:t>PH: {{GC_PHONE}}</a:t>
            </a:r>
          </a:p>
        </p:txBody>
      </p:sp>
      <p:sp>
        <p:nvSpPr>
          <p:cNvPr id="119" name="Rectangle 118"/>
          <p:cNvSpPr/>
          <p:nvPr/>
        </p:nvSpPr>
        <p:spPr>
          <a:xfrm>
            <a:off x="16824960" y="1508760"/>
            <a:ext cx="3108960" cy="5943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rot="-5400000">
            <a:off x="16916400" y="1600200"/>
            <a:ext cx="2926080" cy="5760720"/>
          </a:xfrm>
          <a:prstGeom prst="rect">
            <a:avLst/>
          </a:prstGeom>
          <a:noFill/>
        </p:spPr>
        <p:txBody>
          <a:bodyPr wrap="none">
            <a:spAutoFit/>
          </a:bodyPr>
          <a:lstStyle/>
          <a:p>
            <a:r>
              <a:rPr sz="800" b="1">
                <a:solidFill>
                  <a:srgbClr val="0B1E35"/>
                </a:solidFill>
                <a:latin typeface="Arial"/>
              </a:rPr>
              <a:t>PN - {{PROJECT_NAME}}</a:t>
            </a:r>
          </a:p>
          <a:p>
            <a:r>
              <a:rPr sz="700" b="0">
                <a:solidFill>
                  <a:srgbClr val="000000"/>
                </a:solidFill>
                <a:latin typeface="Arial"/>
              </a:rPr>
              <a:t>{{SITE_ADDR}}</a:t>
            </a:r>
          </a:p>
          <a:p>
            <a:r>
              <a:rPr sz="700" b="0">
                <a:solidFill>
                  <a:srgbClr val="000000"/>
                </a:solidFill>
                <a:latin typeface="Arial"/>
              </a:rPr>
              <a:t>{{CITY_SHORT}}, {{STATE}} {{ZIP}}</a:t>
            </a:r>
          </a:p>
          <a:p>
            <a:r>
              <a:rPr sz="700" b="0">
                <a:solidFill>
                  <a:srgbClr val="000000"/>
                </a:solidFill>
                <a:latin typeface="Arial"/>
              </a:rPr>
              <a:t>APN: {{APN}}</a:t>
            </a:r>
          </a:p>
        </p:txBody>
      </p:sp>
      <p:sp>
        <p:nvSpPr>
          <p:cNvPr id="121" name="Rectangle 120"/>
          <p:cNvSpPr/>
          <p:nvPr/>
        </p:nvSpPr>
        <p:spPr>
          <a:xfrm>
            <a:off x="16824960" y="7452360"/>
            <a:ext cx="3108960" cy="1645920"/>
          </a:xfrm>
          <a:prstGeom prst="rect">
            <a:avLst/>
          </a:prstGeom>
          <a:solidFill>
            <a:srgbClr val="FFF3A8"/>
          </a:solidFill>
          <a:ln w="1270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16870680" y="7498080"/>
            <a:ext cx="3017520" cy="1554480"/>
          </a:xfrm>
          <a:prstGeom prst="rect">
            <a:avLst/>
          </a:prstGeom>
          <a:solidFill>
            <a:srgbClr val="FFF3A8"/>
          </a:solidFill>
        </p:spPr>
        <p:txBody>
          <a:bodyPr wrap="square" lIns="25400" rIns="12700" tIns="12700" bIns="12700"/>
          <a:lstStyle/>
          <a:p>
            <a:pPr algn="l"/>
            <a:r>
              <a:rPr sz="650" b="0">
                <a:solidFill>
                  <a:srgbClr val="CC0000"/>
                </a:solidFill>
                <a:latin typeface="Arial"/>
              </a:rPr>
              <a:t>{{PERMIT_NO}}</a:t>
            </a:r>
          </a:p>
          <a:p>
            <a:pPr algn="l"/>
            <a:r>
              <a:rPr sz="650" b="0">
                <a:solidFill>
                  <a:srgbClr val="CC0000"/>
                </a:solidFill>
                <a:latin typeface="Arial"/>
              </a:rPr>
              <a:t>REVIEWED FOR COMPLIANCE</a:t>
            </a:r>
          </a:p>
          <a:p>
            <a:pPr algn="l"/>
            <a:r>
              <a:rPr sz="650" b="0">
                <a:solidFill>
                  <a:srgbClr val="CC0000"/>
                </a:solidFill>
                <a:latin typeface="Arial"/>
              </a:rPr>
              <a:t>{{AHJ_CITY}}</a:t>
            </a:r>
          </a:p>
          <a:p>
            <a:pPr algn="l"/>
            <a:r>
              <a:rPr sz="650" b="0">
                <a:solidFill>
                  <a:srgbClr val="CC0000"/>
                </a:solidFill>
                <a:latin typeface="Arial"/>
              </a:rPr>
              <a:t>{{AHJ_DEPT}}</a:t>
            </a:r>
          </a:p>
          <a:p>
            <a:pPr algn="l"/>
            <a:r>
              <a:rPr sz="650" b="0">
                <a:solidFill>
                  <a:srgbClr val="CC0000"/>
                </a:solidFill>
                <a:latin typeface="Arial"/>
              </a:rPr>
              <a:t>For {{PROJECT_NAME}} Subject to Code Compliance.</a:t>
            </a:r>
          </a:p>
          <a:p>
            <a:pPr algn="l"/>
            <a:r>
              <a:rPr sz="650" b="0">
                <a:solidFill>
                  <a:srgbClr val="CC0000"/>
                </a:solidFill>
                <a:latin typeface="Arial"/>
              </a:rPr>
              <a:t>REVISIONS NEED REVIEW</a:t>
            </a:r>
          </a:p>
        </p:txBody>
      </p:sp>
      <p:sp>
        <p:nvSpPr>
          <p:cNvPr id="123" name="Rectangle 122"/>
          <p:cNvSpPr/>
          <p:nvPr/>
        </p:nvSpPr>
        <p:spPr>
          <a:xfrm>
            <a:off x="16824960" y="9098280"/>
            <a:ext cx="3108960" cy="109728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16824960" y="9098280"/>
            <a:ext cx="3108960" cy="201168"/>
          </a:xfrm>
          <a:prstGeom prst="rect">
            <a:avLst/>
          </a:prstGeom>
          <a:solidFill>
            <a:srgbClr val="E8E8E8"/>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16852392" y="9125712"/>
            <a:ext cx="640080" cy="164592"/>
          </a:xfrm>
          <a:prstGeom prst="rect">
            <a:avLst/>
          </a:prstGeom>
          <a:noFill/>
        </p:spPr>
        <p:txBody>
          <a:bodyPr wrap="square" lIns="25400" rIns="12700" tIns="12700" bIns="12700"/>
          <a:lstStyle/>
          <a:p>
            <a:pPr algn="l"/>
            <a:r>
              <a:rPr sz="600" b="1" i="0">
                <a:solidFill>
                  <a:srgbClr val="000000"/>
                </a:solidFill>
                <a:latin typeface="Arial"/>
              </a:rPr>
              <a:t>DATE</a:t>
            </a:r>
          </a:p>
        </p:txBody>
      </p:sp>
      <p:sp>
        <p:nvSpPr>
          <p:cNvPr id="126" name="TextBox 125"/>
          <p:cNvSpPr txBox="1"/>
          <p:nvPr/>
        </p:nvSpPr>
        <p:spPr>
          <a:xfrm>
            <a:off x="17510760" y="9125712"/>
            <a:ext cx="365760" cy="164592"/>
          </a:xfrm>
          <a:prstGeom prst="rect">
            <a:avLst/>
          </a:prstGeom>
          <a:noFill/>
        </p:spPr>
        <p:txBody>
          <a:bodyPr wrap="square" lIns="25400" rIns="12700" tIns="12700" bIns="12700"/>
          <a:lstStyle/>
          <a:p>
            <a:pPr algn="l"/>
            <a:r>
              <a:rPr sz="600" b="1" i="0">
                <a:solidFill>
                  <a:srgbClr val="000000"/>
                </a:solidFill>
                <a:latin typeface="Arial"/>
              </a:rPr>
              <a:t>REV</a:t>
            </a:r>
          </a:p>
        </p:txBody>
      </p:sp>
      <p:sp>
        <p:nvSpPr>
          <p:cNvPr id="127" name="TextBox 126"/>
          <p:cNvSpPr txBox="1"/>
          <p:nvPr/>
        </p:nvSpPr>
        <p:spPr>
          <a:xfrm>
            <a:off x="17922240" y="9125712"/>
            <a:ext cx="1828800" cy="164592"/>
          </a:xfrm>
          <a:prstGeom prst="rect">
            <a:avLst/>
          </a:prstGeom>
          <a:noFill/>
        </p:spPr>
        <p:txBody>
          <a:bodyPr wrap="square" lIns="25400" rIns="12700" tIns="12700" bIns="12700"/>
          <a:lstStyle/>
          <a:p>
            <a:pPr algn="l"/>
            <a:r>
              <a:rPr sz="600" b="1" i="0">
                <a:solidFill>
                  <a:srgbClr val="000000"/>
                </a:solidFill>
                <a:latin typeface="Arial"/>
              </a:rPr>
              <a:t>COMMENTS</a:t>
            </a:r>
          </a:p>
        </p:txBody>
      </p:sp>
      <p:sp>
        <p:nvSpPr>
          <p:cNvPr id="128" name="TextBox 127"/>
          <p:cNvSpPr txBox="1"/>
          <p:nvPr/>
        </p:nvSpPr>
        <p:spPr>
          <a:xfrm>
            <a:off x="16852392" y="9326880"/>
            <a:ext cx="640080" cy="164592"/>
          </a:xfrm>
          <a:prstGeom prst="rect">
            <a:avLst/>
          </a:prstGeom>
          <a:noFill/>
        </p:spPr>
        <p:txBody>
          <a:bodyPr wrap="square" lIns="25400" rIns="12700" tIns="12700" bIns="12700"/>
          <a:lstStyle/>
          <a:p>
            <a:pPr algn="l"/>
            <a:r>
              <a:rPr sz="600" b="0" i="0">
                <a:solidFill>
                  <a:srgbClr val="000000"/>
                </a:solidFill>
                <a:latin typeface="Arial"/>
              </a:rPr>
              <a:t>{{ISSUE_DATE}}</a:t>
            </a:r>
          </a:p>
        </p:txBody>
      </p:sp>
      <p:sp>
        <p:nvSpPr>
          <p:cNvPr id="129" name="TextBox 128"/>
          <p:cNvSpPr txBox="1"/>
          <p:nvPr/>
        </p:nvSpPr>
        <p:spPr>
          <a:xfrm>
            <a:off x="17510760" y="9326880"/>
            <a:ext cx="365760" cy="164592"/>
          </a:xfrm>
          <a:prstGeom prst="rect">
            <a:avLst/>
          </a:prstGeom>
          <a:noFill/>
        </p:spPr>
        <p:txBody>
          <a:bodyPr wrap="square" lIns="25400" rIns="12700" tIns="12700" bIns="12700"/>
          <a:lstStyle/>
          <a:p>
            <a:pPr algn="l"/>
            <a:r>
              <a:rPr sz="600" b="0" i="0">
                <a:solidFill>
                  <a:srgbClr val="000000"/>
                </a:solidFill>
                <a:latin typeface="Arial"/>
              </a:rPr>
              <a:t>00</a:t>
            </a:r>
          </a:p>
        </p:txBody>
      </p:sp>
      <p:sp>
        <p:nvSpPr>
          <p:cNvPr id="130" name="TextBox 129"/>
          <p:cNvSpPr txBox="1"/>
          <p:nvPr/>
        </p:nvSpPr>
        <p:spPr>
          <a:xfrm>
            <a:off x="17922240" y="9326880"/>
            <a:ext cx="1828800" cy="164592"/>
          </a:xfrm>
          <a:prstGeom prst="rect">
            <a:avLst/>
          </a:prstGeom>
          <a:noFill/>
        </p:spPr>
        <p:txBody>
          <a:bodyPr wrap="square" lIns="25400" rIns="12700" tIns="12700" bIns="12700"/>
          <a:lstStyle/>
          <a:p>
            <a:pPr algn="l"/>
            <a:r>
              <a:rPr sz="600" b="0" i="0">
                <a:solidFill>
                  <a:srgbClr val="000000"/>
                </a:solidFill>
                <a:latin typeface="Arial"/>
              </a:rPr>
              <a:t>ISSUE FOR PERMIT</a:t>
            </a:r>
          </a:p>
        </p:txBody>
      </p:sp>
      <p:sp>
        <p:nvSpPr>
          <p:cNvPr id="131" name="TextBox 130"/>
          <p:cNvSpPr txBox="1"/>
          <p:nvPr/>
        </p:nvSpPr>
        <p:spPr>
          <a:xfrm>
            <a:off x="16852392" y="9528048"/>
            <a:ext cx="64008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132" name="TextBox 131"/>
          <p:cNvSpPr txBox="1"/>
          <p:nvPr/>
        </p:nvSpPr>
        <p:spPr>
          <a:xfrm>
            <a:off x="17510760" y="9528048"/>
            <a:ext cx="36576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133" name="TextBox 132"/>
          <p:cNvSpPr txBox="1"/>
          <p:nvPr/>
        </p:nvSpPr>
        <p:spPr>
          <a:xfrm>
            <a:off x="17922240" y="9528048"/>
            <a:ext cx="182880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134" name="TextBox 133"/>
          <p:cNvSpPr txBox="1"/>
          <p:nvPr/>
        </p:nvSpPr>
        <p:spPr>
          <a:xfrm>
            <a:off x="16852392" y="9729216"/>
            <a:ext cx="64008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135" name="TextBox 134"/>
          <p:cNvSpPr txBox="1"/>
          <p:nvPr/>
        </p:nvSpPr>
        <p:spPr>
          <a:xfrm>
            <a:off x="17510760" y="9729216"/>
            <a:ext cx="36576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136" name="TextBox 135"/>
          <p:cNvSpPr txBox="1"/>
          <p:nvPr/>
        </p:nvSpPr>
        <p:spPr>
          <a:xfrm>
            <a:off x="17922240" y="9729216"/>
            <a:ext cx="182880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137" name="TextBox 136"/>
          <p:cNvSpPr txBox="1"/>
          <p:nvPr/>
        </p:nvSpPr>
        <p:spPr>
          <a:xfrm>
            <a:off x="16852392" y="9930384"/>
            <a:ext cx="64008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138" name="TextBox 137"/>
          <p:cNvSpPr txBox="1"/>
          <p:nvPr/>
        </p:nvSpPr>
        <p:spPr>
          <a:xfrm>
            <a:off x="17510760" y="9930384"/>
            <a:ext cx="36576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139" name="TextBox 138"/>
          <p:cNvSpPr txBox="1"/>
          <p:nvPr/>
        </p:nvSpPr>
        <p:spPr>
          <a:xfrm>
            <a:off x="17922240" y="9930384"/>
            <a:ext cx="182880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140" name="Rectangle 139"/>
          <p:cNvSpPr/>
          <p:nvPr/>
        </p:nvSpPr>
        <p:spPr>
          <a:xfrm>
            <a:off x="16824960" y="10195560"/>
            <a:ext cx="3108960" cy="73152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16824960" y="10213848"/>
            <a:ext cx="3108960" cy="457200"/>
          </a:xfrm>
          <a:prstGeom prst="rect">
            <a:avLst/>
          </a:prstGeom>
          <a:noFill/>
        </p:spPr>
        <p:txBody>
          <a:bodyPr wrap="square" lIns="25400" rIns="12700" tIns="12700" bIns="12700"/>
          <a:lstStyle/>
          <a:p>
            <a:pPr algn="ctr"/>
            <a:r>
              <a:rPr sz="2800" b="1" i="0">
                <a:solidFill>
                  <a:srgbClr val="0B1E35"/>
                </a:solidFill>
                <a:latin typeface="Arial"/>
              </a:rPr>
              <a:t>S2.0</a:t>
            </a:r>
          </a:p>
        </p:txBody>
      </p:sp>
      <p:sp>
        <p:nvSpPr>
          <p:cNvPr id="142" name="TextBox 141"/>
          <p:cNvSpPr txBox="1"/>
          <p:nvPr/>
        </p:nvSpPr>
        <p:spPr>
          <a:xfrm>
            <a:off x="16824960" y="10671048"/>
            <a:ext cx="3108960" cy="237744"/>
          </a:xfrm>
          <a:prstGeom prst="rect">
            <a:avLst/>
          </a:prstGeom>
          <a:noFill/>
        </p:spPr>
        <p:txBody>
          <a:bodyPr wrap="square" lIns="25400" rIns="12700" tIns="12700" bIns="12700"/>
          <a:lstStyle/>
          <a:p>
            <a:pPr algn="ctr"/>
            <a:r>
              <a:rPr sz="800" b="1" i="0">
                <a:solidFill>
                  <a:srgbClr val="000000"/>
                </a:solidFill>
                <a:latin typeface="Arial"/>
              </a:rPr>
              <a:t>GROUNDING DETAILS</a:t>
            </a:r>
          </a:p>
        </p:txBody>
      </p:sp>
      <p:sp>
        <p:nvSpPr>
          <p:cNvPr id="143" name="Rectangle 142"/>
          <p:cNvSpPr/>
          <p:nvPr/>
        </p:nvSpPr>
        <p:spPr>
          <a:xfrm>
            <a:off x="16824960" y="10927080"/>
            <a:ext cx="3108960" cy="2487168"/>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16870680" y="10963656"/>
            <a:ext cx="3017520" cy="2395728"/>
          </a:xfrm>
          <a:prstGeom prst="rect">
            <a:avLst/>
          </a:prstGeom>
          <a:noFill/>
        </p:spPr>
        <p:txBody>
          <a:bodyPr wrap="square" lIns="25400" rIns="12700" tIns="12700" bIns="12700"/>
          <a:lstStyle/>
          <a:p>
            <a:pPr algn="l"/>
            <a:r>
              <a:rPr sz="650" b="0">
                <a:solidFill>
                  <a:srgbClr val="000000"/>
                </a:solidFill>
                <a:latin typeface="Arial"/>
              </a:rPr>
              <a:t>ISSUE DATE</a:t>
            </a:r>
          </a:p>
          <a:p>
            <a:pPr algn="l"/>
            <a:r>
              <a:rPr sz="650" b="0">
                <a:solidFill>
                  <a:srgbClr val="000000"/>
                </a:solidFill>
                <a:latin typeface="Arial"/>
              </a:rPr>
              <a:t>{{ISSUE_DATE}}</a:t>
            </a:r>
          </a:p>
          <a:p>
            <a:pPr algn="l"/>
            <a:r>
              <a:rPr sz="650" b="0">
                <a:solidFill>
                  <a:srgbClr val="000000"/>
                </a:solidFill>
                <a:latin typeface="Arial"/>
              </a:rPr>
              <a:t>REVISION DATE</a:t>
            </a:r>
          </a:p>
          <a:p>
            <a:pPr algn="l"/>
            <a:r>
              <a:rPr sz="650" b="0">
                <a:solidFill>
                  <a:srgbClr val="000000"/>
                </a:solidFill>
                <a:latin typeface="Arial"/>
              </a:rPr>
              <a:t>{{ISSUE_DATE}}</a:t>
            </a:r>
          </a:p>
          <a:p>
            <a:pPr algn="l"/>
            <a:r>
              <a:rPr sz="650" b="0">
                <a:solidFill>
                  <a:srgbClr val="000000"/>
                </a:solidFill>
                <a:latin typeface="Arial"/>
              </a:rPr>
              <a:t>DESIGNED BY</a:t>
            </a:r>
          </a:p>
          <a:p>
            <a:pPr algn="l"/>
            <a:r>
              <a:rPr sz="650" b="0">
                <a:solidFill>
                  <a:srgbClr val="000000"/>
                </a:solidFill>
                <a:latin typeface="Arial"/>
              </a:rPr>
              <a:t>{{DESIGNED_BY}}</a:t>
            </a:r>
          </a:p>
          <a:p>
            <a:pPr algn="l"/>
            <a:r>
              <a:rPr sz="650" b="0">
                <a:solidFill>
                  <a:srgbClr val="000000"/>
                </a:solidFill>
                <a:latin typeface="Arial"/>
              </a:rPr>
              <a:t>CHECKED BY</a:t>
            </a:r>
          </a:p>
          <a:p>
            <a:pPr algn="l"/>
            <a:r>
              <a:rPr sz="650" b="0">
                <a:solidFill>
                  <a:srgbClr val="000000"/>
                </a:solidFill>
                <a:latin typeface="Arial"/>
              </a:rPr>
              <a:t>{{CHECKED_BY}}</a:t>
            </a:r>
          </a:p>
          <a:p>
            <a:pPr algn="l"/>
            <a:r>
              <a:rPr sz="650" b="0">
                <a:solidFill>
                  <a:srgbClr val="000000"/>
                </a:solidFill>
                <a:latin typeface="Arial"/>
              </a:rPr>
              <a:t>JOB NO.</a:t>
            </a:r>
          </a:p>
          <a:p>
            <a:pPr algn="l"/>
            <a:r>
              <a:rPr sz="650" b="0">
                <a:solidFill>
                  <a:srgbClr val="000000"/>
                </a:solidFill>
                <a:latin typeface="Arial"/>
              </a:rPr>
              <a:t>{{JOB_NO}}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00584" y="100584"/>
            <a:ext cx="16614647" cy="13213080"/>
          </a:xfrm>
          <a:prstGeom prst="rect">
            <a:avLst/>
          </a:prstGeom>
          <a:noFill/>
          <a:ln w="9525">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55448"/>
            <a:ext cx="16413479" cy="228600"/>
          </a:xfrm>
          <a:prstGeom prst="rect">
            <a:avLst/>
          </a:prstGeom>
          <a:noFill/>
        </p:spPr>
        <p:txBody>
          <a:bodyPr wrap="square" lIns="25400" rIns="12700" tIns="12700" bIns="12700"/>
          <a:lstStyle/>
          <a:p>
            <a:pPr algn="l"/>
            <a:r>
              <a:rPr sz="800" b="1" i="0">
                <a:solidFill>
                  <a:srgbClr val="0B1E35"/>
                </a:solidFill>
                <a:latin typeface="Arial"/>
              </a:rPr>
              <a:t>FENCING DETAILS — ISOMETRIC, PARKING LOT AND STREET VIEWS</a:t>
            </a:r>
          </a:p>
        </p:txBody>
      </p:sp>
      <p:sp>
        <p:nvSpPr>
          <p:cNvPr id="4" name="Rectangle 3"/>
          <p:cNvSpPr/>
          <p:nvPr/>
        </p:nvSpPr>
        <p:spPr>
          <a:xfrm>
            <a:off x="201168" y="429768"/>
            <a:ext cx="9036557" cy="4754880"/>
          </a:xfrm>
          <a:prstGeom prst="rect">
            <a:avLst/>
          </a:prstGeom>
          <a:solidFill>
            <a:srgbClr val="E26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 y="2680208"/>
            <a:ext cx="9036557" cy="254000"/>
          </a:xfrm>
          <a:prstGeom prst="rect">
            <a:avLst/>
          </a:prstGeom>
          <a:noFill/>
        </p:spPr>
        <p:txBody>
          <a:bodyPr wrap="square" lIns="25400" rIns="12700" tIns="12700" bIns="12700"/>
          <a:lstStyle/>
          <a:p>
            <a:pPr algn="ctr"/>
            <a:r>
              <a:rPr sz="1400" b="0" i="0">
                <a:solidFill>
                  <a:srgbClr val="FFFFFF"/>
                </a:solidFill>
                <a:latin typeface="Arial"/>
              </a:rPr>
              <a:t>S3.0 ISOMETRIC VIEW
(Upload fencing isometric rendering)</a:t>
            </a:r>
          </a:p>
        </p:txBody>
      </p:sp>
      <p:sp>
        <p:nvSpPr>
          <p:cNvPr id="6" name="Rectangle 5"/>
          <p:cNvSpPr/>
          <p:nvPr/>
        </p:nvSpPr>
        <p:spPr>
          <a:xfrm>
            <a:off x="9329165" y="429768"/>
            <a:ext cx="7210957" cy="4754880"/>
          </a:xfrm>
          <a:prstGeom prst="rect">
            <a:avLst/>
          </a:prstGeom>
          <a:solidFill>
            <a:srgbClr val="E26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9165" y="2680208"/>
            <a:ext cx="7210957" cy="254000"/>
          </a:xfrm>
          <a:prstGeom prst="rect">
            <a:avLst/>
          </a:prstGeom>
          <a:noFill/>
        </p:spPr>
        <p:txBody>
          <a:bodyPr wrap="square" lIns="25400" rIns="12700" tIns="12700" bIns="12700"/>
          <a:lstStyle/>
          <a:p>
            <a:pPr algn="ctr"/>
            <a:r>
              <a:rPr sz="1400" b="0" i="0">
                <a:solidFill>
                  <a:srgbClr val="FFFFFF"/>
                </a:solidFill>
                <a:latin typeface="Arial"/>
              </a:rPr>
              <a:t>S3.0 PARKING LOT VIEW
(Upload fencing side view)</a:t>
            </a:r>
          </a:p>
        </p:txBody>
      </p:sp>
      <p:sp>
        <p:nvSpPr>
          <p:cNvPr id="8" name="Rectangle 7"/>
          <p:cNvSpPr/>
          <p:nvPr/>
        </p:nvSpPr>
        <p:spPr>
          <a:xfrm>
            <a:off x="201168" y="5276088"/>
            <a:ext cx="9036557" cy="3657600"/>
          </a:xfrm>
          <a:prstGeom prst="rect">
            <a:avLst/>
          </a:prstGeom>
          <a:solidFill>
            <a:srgbClr val="E26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1168" y="6977888"/>
            <a:ext cx="9036557" cy="254000"/>
          </a:xfrm>
          <a:prstGeom prst="rect">
            <a:avLst/>
          </a:prstGeom>
          <a:noFill/>
        </p:spPr>
        <p:txBody>
          <a:bodyPr wrap="square" lIns="25400" rIns="12700" tIns="12700" bIns="12700"/>
          <a:lstStyle/>
          <a:p>
            <a:pPr algn="ctr"/>
            <a:r>
              <a:rPr sz="1400" b="0" i="0">
                <a:solidFill>
                  <a:srgbClr val="FFFFFF"/>
                </a:solidFill>
                <a:latin typeface="Arial"/>
              </a:rPr>
              <a:t>S3.0 STREET ELEVATION VIEW
(Upload cross street elevation)</a:t>
            </a:r>
          </a:p>
        </p:txBody>
      </p:sp>
      <p:sp>
        <p:nvSpPr>
          <p:cNvPr id="10" name="Rectangle 9"/>
          <p:cNvSpPr/>
          <p:nvPr/>
        </p:nvSpPr>
        <p:spPr>
          <a:xfrm>
            <a:off x="9661092" y="5276088"/>
            <a:ext cx="7044994" cy="201168"/>
          </a:xfrm>
          <a:prstGeom prst="rect">
            <a:avLst/>
          </a:prstGeom>
          <a:solidFill>
            <a:srgbClr val="0B1E35"/>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06812" y="5276088"/>
            <a:ext cx="7044994" cy="201168"/>
          </a:xfrm>
          <a:prstGeom prst="rect">
            <a:avLst/>
          </a:prstGeom>
          <a:noFill/>
        </p:spPr>
        <p:txBody>
          <a:bodyPr wrap="square" lIns="25400" rIns="12700" tIns="12700" bIns="12700"/>
          <a:lstStyle/>
          <a:p>
            <a:pPr algn="l"/>
            <a:r>
              <a:rPr sz="700" b="1" i="0">
                <a:solidFill>
                  <a:srgbClr val="FFFFFF"/>
                </a:solidFill>
                <a:latin typeface="Arial"/>
              </a:rPr>
              <a:t>FENCING SCHEDULE</a:t>
            </a:r>
          </a:p>
        </p:txBody>
      </p:sp>
      <p:sp>
        <p:nvSpPr>
          <p:cNvPr id="12" name="Rectangle 11"/>
          <p:cNvSpPr/>
          <p:nvPr/>
        </p:nvSpPr>
        <p:spPr>
          <a:xfrm>
            <a:off x="9661092" y="5477256"/>
            <a:ext cx="7044994" cy="201168"/>
          </a:xfrm>
          <a:prstGeom prst="rect">
            <a:avLst/>
          </a:prstGeom>
          <a:solidFill>
            <a:srgbClr val="E8E8E8"/>
          </a:solidFill>
          <a:ln w="25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79380" y="5504688"/>
            <a:ext cx="329184" cy="164592"/>
          </a:xfrm>
          <a:prstGeom prst="rect">
            <a:avLst/>
          </a:prstGeom>
          <a:noFill/>
        </p:spPr>
        <p:txBody>
          <a:bodyPr wrap="square" lIns="25400" rIns="12700" tIns="12700" bIns="12700"/>
          <a:lstStyle/>
          <a:p>
            <a:pPr algn="l"/>
            <a:r>
              <a:rPr sz="600" b="1" i="0">
                <a:solidFill>
                  <a:srgbClr val="000000"/>
                </a:solidFill>
                <a:latin typeface="Arial"/>
              </a:rPr>
              <a:t>RUN</a:t>
            </a:r>
          </a:p>
        </p:txBody>
      </p:sp>
      <p:sp>
        <p:nvSpPr>
          <p:cNvPr id="14" name="TextBox 13"/>
          <p:cNvSpPr txBox="1"/>
          <p:nvPr/>
        </p:nvSpPr>
        <p:spPr>
          <a:xfrm>
            <a:off x="10045140" y="5504688"/>
            <a:ext cx="1060704" cy="164592"/>
          </a:xfrm>
          <a:prstGeom prst="rect">
            <a:avLst/>
          </a:prstGeom>
          <a:noFill/>
        </p:spPr>
        <p:txBody>
          <a:bodyPr wrap="square" lIns="25400" rIns="12700" tIns="12700" bIns="12700"/>
          <a:lstStyle/>
          <a:p>
            <a:pPr algn="l"/>
            <a:r>
              <a:rPr sz="600" b="1" i="0">
                <a:solidFill>
                  <a:srgbClr val="000000"/>
                </a:solidFill>
                <a:latin typeface="Arial"/>
              </a:rPr>
              <a:t>SIDE</a:t>
            </a:r>
          </a:p>
        </p:txBody>
      </p:sp>
      <p:sp>
        <p:nvSpPr>
          <p:cNvPr id="15" name="TextBox 14"/>
          <p:cNvSpPr txBox="1"/>
          <p:nvPr/>
        </p:nvSpPr>
        <p:spPr>
          <a:xfrm>
            <a:off x="11142420" y="5504688"/>
            <a:ext cx="694944" cy="164592"/>
          </a:xfrm>
          <a:prstGeom prst="rect">
            <a:avLst/>
          </a:prstGeom>
          <a:noFill/>
        </p:spPr>
        <p:txBody>
          <a:bodyPr wrap="square" lIns="25400" rIns="12700" tIns="12700" bIns="12700"/>
          <a:lstStyle/>
          <a:p>
            <a:pPr algn="l"/>
            <a:r>
              <a:rPr sz="600" b="1" i="0">
                <a:solidFill>
                  <a:srgbClr val="000000"/>
                </a:solidFill>
                <a:latin typeface="Arial"/>
              </a:rPr>
              <a:t>LENGTH</a:t>
            </a:r>
          </a:p>
        </p:txBody>
      </p:sp>
      <p:sp>
        <p:nvSpPr>
          <p:cNvPr id="16" name="TextBox 15"/>
          <p:cNvSpPr txBox="1"/>
          <p:nvPr/>
        </p:nvSpPr>
        <p:spPr>
          <a:xfrm>
            <a:off x="11873940" y="5504688"/>
            <a:ext cx="603503" cy="164592"/>
          </a:xfrm>
          <a:prstGeom prst="rect">
            <a:avLst/>
          </a:prstGeom>
          <a:noFill/>
        </p:spPr>
        <p:txBody>
          <a:bodyPr wrap="square" lIns="25400" rIns="12700" tIns="12700" bIns="12700"/>
          <a:lstStyle/>
          <a:p>
            <a:pPr algn="l"/>
            <a:r>
              <a:rPr sz="600" b="1" i="0">
                <a:solidFill>
                  <a:srgbClr val="000000"/>
                </a:solidFill>
                <a:latin typeface="Arial"/>
              </a:rPr>
              <a:t>HEIGHT</a:t>
            </a:r>
          </a:p>
        </p:txBody>
      </p:sp>
      <p:sp>
        <p:nvSpPr>
          <p:cNvPr id="17" name="TextBox 16"/>
          <p:cNvSpPr txBox="1"/>
          <p:nvPr/>
        </p:nvSpPr>
        <p:spPr>
          <a:xfrm>
            <a:off x="12514020" y="5504688"/>
            <a:ext cx="1060704" cy="164592"/>
          </a:xfrm>
          <a:prstGeom prst="rect">
            <a:avLst/>
          </a:prstGeom>
          <a:noFill/>
        </p:spPr>
        <p:txBody>
          <a:bodyPr wrap="square" lIns="25400" rIns="12700" tIns="12700" bIns="12700"/>
          <a:lstStyle/>
          <a:p>
            <a:pPr algn="l"/>
            <a:r>
              <a:rPr sz="600" b="1" i="0">
                <a:solidFill>
                  <a:srgbClr val="000000"/>
                </a:solidFill>
                <a:latin typeface="Arial"/>
              </a:rPr>
              <a:t>PANEL TYPE</a:t>
            </a:r>
          </a:p>
        </p:txBody>
      </p:sp>
      <p:sp>
        <p:nvSpPr>
          <p:cNvPr id="18" name="Rectangle 17"/>
          <p:cNvSpPr/>
          <p:nvPr/>
        </p:nvSpPr>
        <p:spPr>
          <a:xfrm>
            <a:off x="9661092" y="5678424"/>
            <a:ext cx="7044994" cy="201168"/>
          </a:xfrm>
          <a:prstGeom prst="rect">
            <a:avLst/>
          </a:prstGeom>
          <a:solidFill>
            <a:srgbClr val="FFFFFF"/>
          </a:solidFill>
          <a:ln w="127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79380" y="5705856"/>
            <a:ext cx="329184" cy="173736"/>
          </a:xfrm>
          <a:prstGeom prst="rect">
            <a:avLst/>
          </a:prstGeom>
          <a:noFill/>
        </p:spPr>
        <p:txBody>
          <a:bodyPr wrap="square" lIns="25400" rIns="12700" tIns="12700" bIns="12700"/>
          <a:lstStyle/>
          <a:p>
            <a:pPr algn="l"/>
            <a:r>
              <a:rPr sz="600" b="0" i="0">
                <a:solidFill>
                  <a:srgbClr val="000000"/>
                </a:solidFill>
                <a:latin typeface="Arial"/>
              </a:rPr>
              <a:t>A</a:t>
            </a:r>
          </a:p>
        </p:txBody>
      </p:sp>
      <p:sp>
        <p:nvSpPr>
          <p:cNvPr id="20" name="TextBox 19"/>
          <p:cNvSpPr txBox="1"/>
          <p:nvPr/>
        </p:nvSpPr>
        <p:spPr>
          <a:xfrm>
            <a:off x="10045140" y="5705856"/>
            <a:ext cx="1060704" cy="173736"/>
          </a:xfrm>
          <a:prstGeom prst="rect">
            <a:avLst/>
          </a:prstGeom>
          <a:noFill/>
        </p:spPr>
        <p:txBody>
          <a:bodyPr wrap="square" lIns="25400" rIns="12700" tIns="12700" bIns="12700"/>
          <a:lstStyle/>
          <a:p>
            <a:pPr algn="l"/>
            <a:r>
              <a:rPr sz="600" b="0" i="0">
                <a:solidFill>
                  <a:srgbClr val="000000"/>
                </a:solidFill>
                <a:latin typeface="Arial"/>
              </a:rPr>
              <a:t>Parking Lot</a:t>
            </a:r>
          </a:p>
        </p:txBody>
      </p:sp>
      <p:sp>
        <p:nvSpPr>
          <p:cNvPr id="21" name="TextBox 20"/>
          <p:cNvSpPr txBox="1"/>
          <p:nvPr/>
        </p:nvSpPr>
        <p:spPr>
          <a:xfrm>
            <a:off x="11142420" y="5705856"/>
            <a:ext cx="694944" cy="173736"/>
          </a:xfrm>
          <a:prstGeom prst="rect">
            <a:avLst/>
          </a:prstGeom>
          <a:noFill/>
        </p:spPr>
        <p:txBody>
          <a:bodyPr wrap="square" lIns="25400" rIns="12700" tIns="12700" bIns="12700"/>
          <a:lstStyle/>
          <a:p>
            <a:pPr algn="l"/>
            <a:r>
              <a:rPr sz="600" b="0" i="0">
                <a:solidFill>
                  <a:srgbClr val="000000"/>
                </a:solidFill>
                <a:latin typeface="Arial"/>
              </a:rPr>
              <a:t>{{FENCE_LEN}}</a:t>
            </a:r>
          </a:p>
        </p:txBody>
      </p:sp>
      <p:sp>
        <p:nvSpPr>
          <p:cNvPr id="22" name="TextBox 21"/>
          <p:cNvSpPr txBox="1"/>
          <p:nvPr/>
        </p:nvSpPr>
        <p:spPr>
          <a:xfrm>
            <a:off x="11873940" y="5705856"/>
            <a:ext cx="603503" cy="173736"/>
          </a:xfrm>
          <a:prstGeom prst="rect">
            <a:avLst/>
          </a:prstGeom>
          <a:noFill/>
        </p:spPr>
        <p:txBody>
          <a:bodyPr wrap="square" lIns="25400" rIns="12700" tIns="12700" bIns="12700"/>
          <a:lstStyle/>
          <a:p>
            <a:pPr algn="l"/>
            <a:r>
              <a:rPr sz="600" b="0" i="0">
                <a:solidFill>
                  <a:srgbClr val="000000"/>
                </a:solidFill>
                <a:latin typeface="Arial"/>
              </a:rPr>
              <a:t>8'-0"</a:t>
            </a:r>
          </a:p>
        </p:txBody>
      </p:sp>
      <p:sp>
        <p:nvSpPr>
          <p:cNvPr id="23" name="TextBox 22"/>
          <p:cNvSpPr txBox="1"/>
          <p:nvPr/>
        </p:nvSpPr>
        <p:spPr>
          <a:xfrm>
            <a:off x="12514020" y="5705856"/>
            <a:ext cx="1060704" cy="173736"/>
          </a:xfrm>
          <a:prstGeom prst="rect">
            <a:avLst/>
          </a:prstGeom>
          <a:noFill/>
        </p:spPr>
        <p:txBody>
          <a:bodyPr wrap="square" lIns="25400" rIns="12700" tIns="12700" bIns="12700"/>
          <a:lstStyle/>
          <a:p>
            <a:pPr algn="l"/>
            <a:r>
              <a:rPr sz="600" b="0" i="0">
                <a:solidFill>
                  <a:srgbClr val="000000"/>
                </a:solidFill>
                <a:latin typeface="Arial"/>
              </a:rPr>
              <a:t/>
            </a:r>
          </a:p>
        </p:txBody>
      </p:sp>
      <p:sp>
        <p:nvSpPr>
          <p:cNvPr id="24" name="Rectangle 23"/>
          <p:cNvSpPr/>
          <p:nvPr/>
        </p:nvSpPr>
        <p:spPr>
          <a:xfrm>
            <a:off x="9661092" y="5879592"/>
            <a:ext cx="7044994" cy="201168"/>
          </a:xfrm>
          <a:prstGeom prst="rect">
            <a:avLst/>
          </a:prstGeom>
          <a:solidFill>
            <a:srgbClr val="E8E8E8"/>
          </a:solidFill>
          <a:ln w="127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79380" y="5907024"/>
            <a:ext cx="329184" cy="173736"/>
          </a:xfrm>
          <a:prstGeom prst="rect">
            <a:avLst/>
          </a:prstGeom>
          <a:noFill/>
        </p:spPr>
        <p:txBody>
          <a:bodyPr wrap="square" lIns="25400" rIns="12700" tIns="12700" bIns="12700"/>
          <a:lstStyle/>
          <a:p>
            <a:pPr algn="l"/>
            <a:r>
              <a:rPr sz="600" b="0" i="0">
                <a:solidFill>
                  <a:srgbClr val="000000"/>
                </a:solidFill>
                <a:latin typeface="Arial"/>
              </a:rPr>
              <a:t>B</a:t>
            </a:r>
          </a:p>
        </p:txBody>
      </p:sp>
      <p:sp>
        <p:nvSpPr>
          <p:cNvPr id="26" name="TextBox 25"/>
          <p:cNvSpPr txBox="1"/>
          <p:nvPr/>
        </p:nvSpPr>
        <p:spPr>
          <a:xfrm>
            <a:off x="10045140" y="5907024"/>
            <a:ext cx="1060704" cy="173736"/>
          </a:xfrm>
          <a:prstGeom prst="rect">
            <a:avLst/>
          </a:prstGeom>
          <a:noFill/>
        </p:spPr>
        <p:txBody>
          <a:bodyPr wrap="square" lIns="25400" rIns="12700" tIns="12700" bIns="12700"/>
          <a:lstStyle/>
          <a:p>
            <a:pPr algn="l"/>
            <a:r>
              <a:rPr sz="600" b="0" i="0">
                <a:solidFill>
                  <a:srgbClr val="000000"/>
                </a:solidFill>
                <a:latin typeface="Arial"/>
              </a:rPr>
              <a:t>Cross Street</a:t>
            </a:r>
          </a:p>
        </p:txBody>
      </p:sp>
      <p:sp>
        <p:nvSpPr>
          <p:cNvPr id="27" name="TextBox 26"/>
          <p:cNvSpPr txBox="1"/>
          <p:nvPr/>
        </p:nvSpPr>
        <p:spPr>
          <a:xfrm>
            <a:off x="11142420" y="5907024"/>
            <a:ext cx="694944" cy="173736"/>
          </a:xfrm>
          <a:prstGeom prst="rect">
            <a:avLst/>
          </a:prstGeom>
          <a:noFill/>
        </p:spPr>
        <p:txBody>
          <a:bodyPr wrap="square" lIns="25400" rIns="12700" tIns="12700" bIns="12700"/>
          <a:lstStyle/>
          <a:p>
            <a:pPr algn="l"/>
            <a:r>
              <a:rPr sz="600" b="0" i="0">
                <a:solidFill>
                  <a:srgbClr val="000000"/>
                </a:solidFill>
                <a:latin typeface="Arial"/>
              </a:rPr>
              <a:t>{{FENCE_LEN}}</a:t>
            </a:r>
          </a:p>
        </p:txBody>
      </p:sp>
      <p:sp>
        <p:nvSpPr>
          <p:cNvPr id="28" name="TextBox 27"/>
          <p:cNvSpPr txBox="1"/>
          <p:nvPr/>
        </p:nvSpPr>
        <p:spPr>
          <a:xfrm>
            <a:off x="11873940" y="5907024"/>
            <a:ext cx="603503" cy="173736"/>
          </a:xfrm>
          <a:prstGeom prst="rect">
            <a:avLst/>
          </a:prstGeom>
          <a:noFill/>
        </p:spPr>
        <p:txBody>
          <a:bodyPr wrap="square" lIns="25400" rIns="12700" tIns="12700" bIns="12700"/>
          <a:lstStyle/>
          <a:p>
            <a:pPr algn="l"/>
            <a:r>
              <a:rPr sz="600" b="0" i="0">
                <a:solidFill>
                  <a:srgbClr val="000000"/>
                </a:solidFill>
                <a:latin typeface="Arial"/>
              </a:rPr>
              <a:t>8'-0"</a:t>
            </a:r>
          </a:p>
        </p:txBody>
      </p:sp>
      <p:sp>
        <p:nvSpPr>
          <p:cNvPr id="29" name="TextBox 28"/>
          <p:cNvSpPr txBox="1"/>
          <p:nvPr/>
        </p:nvSpPr>
        <p:spPr>
          <a:xfrm>
            <a:off x="12514020" y="5907024"/>
            <a:ext cx="1060704" cy="173736"/>
          </a:xfrm>
          <a:prstGeom prst="rect">
            <a:avLst/>
          </a:prstGeom>
          <a:noFill/>
        </p:spPr>
        <p:txBody>
          <a:bodyPr wrap="square" lIns="25400" rIns="12700" tIns="12700" bIns="12700"/>
          <a:lstStyle/>
          <a:p>
            <a:pPr algn="l"/>
            <a:r>
              <a:rPr sz="600" b="0" i="0">
                <a:solidFill>
                  <a:srgbClr val="000000"/>
                </a:solidFill>
                <a:latin typeface="Arial"/>
              </a:rPr>
              <a:t/>
            </a:r>
          </a:p>
        </p:txBody>
      </p:sp>
      <p:sp>
        <p:nvSpPr>
          <p:cNvPr id="30" name="Rectangle 29"/>
          <p:cNvSpPr/>
          <p:nvPr/>
        </p:nvSpPr>
        <p:spPr>
          <a:xfrm>
            <a:off x="9661092" y="6080760"/>
            <a:ext cx="7044994" cy="201168"/>
          </a:xfrm>
          <a:prstGeom prst="rect">
            <a:avLst/>
          </a:prstGeom>
          <a:solidFill>
            <a:srgbClr val="FFFFFF"/>
          </a:solidFill>
          <a:ln w="127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79380" y="6108192"/>
            <a:ext cx="329184" cy="173736"/>
          </a:xfrm>
          <a:prstGeom prst="rect">
            <a:avLst/>
          </a:prstGeom>
          <a:noFill/>
        </p:spPr>
        <p:txBody>
          <a:bodyPr wrap="square" lIns="25400" rIns="12700" tIns="12700" bIns="12700"/>
          <a:lstStyle/>
          <a:p>
            <a:pPr algn="l"/>
            <a:r>
              <a:rPr sz="600" b="0" i="0">
                <a:solidFill>
                  <a:srgbClr val="000000"/>
                </a:solidFill>
                <a:latin typeface="Arial"/>
              </a:rPr>
              <a:t>C</a:t>
            </a:r>
          </a:p>
        </p:txBody>
      </p:sp>
      <p:sp>
        <p:nvSpPr>
          <p:cNvPr id="32" name="TextBox 31"/>
          <p:cNvSpPr txBox="1"/>
          <p:nvPr/>
        </p:nvSpPr>
        <p:spPr>
          <a:xfrm>
            <a:off x="10045140" y="6108192"/>
            <a:ext cx="1060704" cy="173736"/>
          </a:xfrm>
          <a:prstGeom prst="rect">
            <a:avLst/>
          </a:prstGeom>
          <a:noFill/>
        </p:spPr>
        <p:txBody>
          <a:bodyPr wrap="square" lIns="25400" rIns="12700" tIns="12700" bIns="12700"/>
          <a:lstStyle/>
          <a:p>
            <a:pPr algn="l"/>
            <a:r>
              <a:rPr sz="600" b="0" i="0">
                <a:solidFill>
                  <a:srgbClr val="000000"/>
                </a:solidFill>
                <a:latin typeface="Arial"/>
              </a:rPr>
              <a:t>Property Line</a:t>
            </a:r>
          </a:p>
        </p:txBody>
      </p:sp>
      <p:sp>
        <p:nvSpPr>
          <p:cNvPr id="33" name="TextBox 32"/>
          <p:cNvSpPr txBox="1"/>
          <p:nvPr/>
        </p:nvSpPr>
        <p:spPr>
          <a:xfrm>
            <a:off x="11142420" y="6108192"/>
            <a:ext cx="694944" cy="173736"/>
          </a:xfrm>
          <a:prstGeom prst="rect">
            <a:avLst/>
          </a:prstGeom>
          <a:noFill/>
        </p:spPr>
        <p:txBody>
          <a:bodyPr wrap="square" lIns="25400" rIns="12700" tIns="12700" bIns="12700"/>
          <a:lstStyle/>
          <a:p>
            <a:pPr algn="l"/>
            <a:r>
              <a:rPr sz="600" b="0" i="0">
                <a:solidFill>
                  <a:srgbClr val="000000"/>
                </a:solidFill>
                <a:latin typeface="Arial"/>
              </a:rPr>
              <a:t>{{FENCE_LEN}}</a:t>
            </a:r>
          </a:p>
        </p:txBody>
      </p:sp>
      <p:sp>
        <p:nvSpPr>
          <p:cNvPr id="34" name="TextBox 33"/>
          <p:cNvSpPr txBox="1"/>
          <p:nvPr/>
        </p:nvSpPr>
        <p:spPr>
          <a:xfrm>
            <a:off x="11873940" y="6108192"/>
            <a:ext cx="603503" cy="173736"/>
          </a:xfrm>
          <a:prstGeom prst="rect">
            <a:avLst/>
          </a:prstGeom>
          <a:noFill/>
        </p:spPr>
        <p:txBody>
          <a:bodyPr wrap="square" lIns="25400" rIns="12700" tIns="12700" bIns="12700"/>
          <a:lstStyle/>
          <a:p>
            <a:pPr algn="l"/>
            <a:r>
              <a:rPr sz="600" b="0" i="0">
                <a:solidFill>
                  <a:srgbClr val="000000"/>
                </a:solidFill>
                <a:latin typeface="Arial"/>
              </a:rPr>
              <a:t>8'-0"</a:t>
            </a:r>
          </a:p>
        </p:txBody>
      </p:sp>
      <p:sp>
        <p:nvSpPr>
          <p:cNvPr id="35" name="TextBox 34"/>
          <p:cNvSpPr txBox="1"/>
          <p:nvPr/>
        </p:nvSpPr>
        <p:spPr>
          <a:xfrm>
            <a:off x="12514020" y="6108192"/>
            <a:ext cx="1060704" cy="173736"/>
          </a:xfrm>
          <a:prstGeom prst="rect">
            <a:avLst/>
          </a:prstGeom>
          <a:noFill/>
        </p:spPr>
        <p:txBody>
          <a:bodyPr wrap="square" lIns="25400" rIns="12700" tIns="12700" bIns="12700"/>
          <a:lstStyle/>
          <a:p>
            <a:pPr algn="l"/>
            <a:r>
              <a:rPr sz="600" b="0" i="0">
                <a:solidFill>
                  <a:srgbClr val="000000"/>
                </a:solidFill>
                <a:latin typeface="Arial"/>
              </a:rPr>
              <a:t/>
            </a:r>
          </a:p>
        </p:txBody>
      </p:sp>
      <p:sp>
        <p:nvSpPr>
          <p:cNvPr id="36" name="Rectangle 35"/>
          <p:cNvSpPr/>
          <p:nvPr/>
        </p:nvSpPr>
        <p:spPr>
          <a:xfrm>
            <a:off x="9661092" y="6281928"/>
            <a:ext cx="7044994" cy="201168"/>
          </a:xfrm>
          <a:prstGeom prst="rect">
            <a:avLst/>
          </a:prstGeom>
          <a:solidFill>
            <a:srgbClr val="E8E8E8"/>
          </a:solidFill>
          <a:ln w="127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679380" y="6309360"/>
            <a:ext cx="329184" cy="173736"/>
          </a:xfrm>
          <a:prstGeom prst="rect">
            <a:avLst/>
          </a:prstGeom>
          <a:noFill/>
        </p:spPr>
        <p:txBody>
          <a:bodyPr wrap="square" lIns="25400" rIns="12700" tIns="12700" bIns="12700"/>
          <a:lstStyle/>
          <a:p>
            <a:pPr algn="l"/>
            <a:r>
              <a:rPr sz="600" b="0" i="0">
                <a:solidFill>
                  <a:srgbClr val="000000"/>
                </a:solidFill>
                <a:latin typeface="Arial"/>
              </a:rPr>
              <a:t>D</a:t>
            </a:r>
          </a:p>
        </p:txBody>
      </p:sp>
      <p:sp>
        <p:nvSpPr>
          <p:cNvPr id="38" name="TextBox 37"/>
          <p:cNvSpPr txBox="1"/>
          <p:nvPr/>
        </p:nvSpPr>
        <p:spPr>
          <a:xfrm>
            <a:off x="10045140" y="6309360"/>
            <a:ext cx="1060704" cy="173736"/>
          </a:xfrm>
          <a:prstGeom prst="rect">
            <a:avLst/>
          </a:prstGeom>
          <a:noFill/>
        </p:spPr>
        <p:txBody>
          <a:bodyPr wrap="square" lIns="25400" rIns="12700" tIns="12700" bIns="12700"/>
          <a:lstStyle/>
          <a:p>
            <a:pPr algn="l"/>
            <a:r>
              <a:rPr sz="600" b="0" i="0">
                <a:solidFill>
                  <a:srgbClr val="000000"/>
                </a:solidFill>
                <a:latin typeface="Arial"/>
              </a:rPr>
              <a:t>Gate</a:t>
            </a:r>
          </a:p>
        </p:txBody>
      </p:sp>
      <p:sp>
        <p:nvSpPr>
          <p:cNvPr id="39" name="TextBox 38"/>
          <p:cNvSpPr txBox="1"/>
          <p:nvPr/>
        </p:nvSpPr>
        <p:spPr>
          <a:xfrm>
            <a:off x="11142420" y="6309360"/>
            <a:ext cx="694944" cy="173736"/>
          </a:xfrm>
          <a:prstGeom prst="rect">
            <a:avLst/>
          </a:prstGeom>
          <a:noFill/>
        </p:spPr>
        <p:txBody>
          <a:bodyPr wrap="square" lIns="25400" rIns="12700" tIns="12700" bIns="12700"/>
          <a:lstStyle/>
          <a:p>
            <a:pPr algn="l"/>
            <a:r>
              <a:rPr sz="600" b="0" i="0">
                <a:solidFill>
                  <a:srgbClr val="000000"/>
                </a:solidFill>
                <a:latin typeface="Arial"/>
              </a:rPr>
              <a:t>8'-0"</a:t>
            </a:r>
          </a:p>
        </p:txBody>
      </p:sp>
      <p:sp>
        <p:nvSpPr>
          <p:cNvPr id="40" name="TextBox 39"/>
          <p:cNvSpPr txBox="1"/>
          <p:nvPr/>
        </p:nvSpPr>
        <p:spPr>
          <a:xfrm>
            <a:off x="11873940" y="6309360"/>
            <a:ext cx="603503" cy="173736"/>
          </a:xfrm>
          <a:prstGeom prst="rect">
            <a:avLst/>
          </a:prstGeom>
          <a:noFill/>
        </p:spPr>
        <p:txBody>
          <a:bodyPr wrap="square" lIns="25400" rIns="12700" tIns="12700" bIns="12700"/>
          <a:lstStyle/>
          <a:p>
            <a:pPr algn="l"/>
            <a:r>
              <a:rPr sz="600" b="0" i="0">
                <a:solidFill>
                  <a:srgbClr val="000000"/>
                </a:solidFill>
                <a:latin typeface="Arial"/>
              </a:rPr>
              <a:t>8'-0"</a:t>
            </a:r>
          </a:p>
        </p:txBody>
      </p:sp>
      <p:sp>
        <p:nvSpPr>
          <p:cNvPr id="41" name="TextBox 40"/>
          <p:cNvSpPr txBox="1"/>
          <p:nvPr/>
        </p:nvSpPr>
        <p:spPr>
          <a:xfrm>
            <a:off x="12514020" y="6309360"/>
            <a:ext cx="1060704" cy="173736"/>
          </a:xfrm>
          <a:prstGeom prst="rect">
            <a:avLst/>
          </a:prstGeom>
          <a:noFill/>
        </p:spPr>
        <p:txBody>
          <a:bodyPr wrap="square" lIns="25400" rIns="12700" tIns="12700" bIns="12700"/>
          <a:lstStyle/>
          <a:p>
            <a:pPr algn="l"/>
            <a:r>
              <a:rPr sz="600" b="0" i="0">
                <a:solidFill>
                  <a:srgbClr val="000000"/>
                </a:solidFill>
                <a:latin typeface="Arial"/>
              </a:rPr>
              <a:t>Double Swing</a:t>
            </a:r>
          </a:p>
        </p:txBody>
      </p:sp>
      <p:sp>
        <p:nvSpPr>
          <p:cNvPr id="42" name="Rectangle 41"/>
          <p:cNvSpPr/>
          <p:nvPr/>
        </p:nvSpPr>
        <p:spPr>
          <a:xfrm>
            <a:off x="9661092" y="6574536"/>
            <a:ext cx="7044994" cy="201168"/>
          </a:xfrm>
          <a:prstGeom prst="rect">
            <a:avLst/>
          </a:prstGeom>
          <a:solidFill>
            <a:srgbClr val="E8E8E8"/>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706812" y="6574536"/>
            <a:ext cx="7044994" cy="201168"/>
          </a:xfrm>
          <a:prstGeom prst="rect">
            <a:avLst/>
          </a:prstGeom>
          <a:noFill/>
        </p:spPr>
        <p:txBody>
          <a:bodyPr wrap="square" lIns="25400" rIns="12700" tIns="12700" bIns="12700"/>
          <a:lstStyle/>
          <a:p>
            <a:pPr algn="l"/>
            <a:r>
              <a:rPr sz="700" b="1" i="0">
                <a:solidFill>
                  <a:srgbClr val="000000"/>
                </a:solidFill>
                <a:latin typeface="Arial"/>
              </a:rPr>
              <a:t>FENCING NOTES</a:t>
            </a:r>
          </a:p>
        </p:txBody>
      </p:sp>
      <p:sp>
        <p:nvSpPr>
          <p:cNvPr id="44" name="TextBox 43"/>
          <p:cNvSpPr txBox="1"/>
          <p:nvPr/>
        </p:nvSpPr>
        <p:spPr>
          <a:xfrm>
            <a:off x="9706812" y="6775704"/>
            <a:ext cx="6953554" cy="3200400"/>
          </a:xfrm>
          <a:prstGeom prst="rect">
            <a:avLst/>
          </a:prstGeom>
          <a:noFill/>
        </p:spPr>
        <p:txBody>
          <a:bodyPr wrap="square" lIns="25400" rIns="12700" tIns="12700" bIns="12700"/>
          <a:lstStyle/>
          <a:p>
            <a:pPr algn="l"/>
            <a:r>
              <a:rPr sz="600" b="0" i="0">
                <a:solidFill>
                  <a:srgbClr val="000000"/>
                </a:solidFill>
                <a:latin typeface="Arial"/>
              </a:rPr>
              <a:t>Fence height: 8'-0" minimum measured from finish grade. Coordinate with local zoning and AHJ if greater height required.
Posts: [2" × 2"] HDG steel tube. Set in [12" Ø] concrete footing, [36"] minimum depth below grade.
Post spacing: [8'-0" o.c. typical], max [10'-0" o.c.]; reduce as required at gates and panel transitions.
Concrete footing: f'c = [3,000] psi, crown above grade to shed water.
Provide ground bonding jumper #6 AWG Cu between adjacent fence posts and to grounding electrode system per IEEE 80 and NEC 250.
Gates: Provide one [double-swing 12'-0" wide] vehicle gate and one [pedestrian 4'-0"] gate. Gates to be self-closing &amp; lockable per AHJ / IFC 1207.
Signage on fence per E4.0 (Caution / Energy Storage / Emergency Contact).
Maintain minimum [3'-0"] clearance from BESS enclosure to inside face of fence per NEC 110.26.
Provide vegetation-free perimeter of [3'-0"] on both sides of fence; coordinate with landscape per local fire department requirements.
All exposed fasteners: stainless or HDG. Tamper-resistant where accessible from public side.
Coordinate fence location with property line survey and easements. Maintain {{SETBACK}} per local code.</a:t>
            </a:r>
          </a:p>
        </p:txBody>
      </p:sp>
      <p:sp>
        <p:nvSpPr>
          <p:cNvPr id="45" name="TextBox 44"/>
          <p:cNvSpPr txBox="1"/>
          <p:nvPr/>
        </p:nvSpPr>
        <p:spPr>
          <a:xfrm>
            <a:off x="201168" y="12938760"/>
            <a:ext cx="10972800" cy="228600"/>
          </a:xfrm>
          <a:prstGeom prst="rect">
            <a:avLst/>
          </a:prstGeom>
          <a:noFill/>
        </p:spPr>
        <p:txBody>
          <a:bodyPr wrap="square" lIns="25400" rIns="12700" tIns="12700" bIns="12700"/>
          <a:lstStyle/>
          <a:p>
            <a:pPr algn="l"/>
            <a:r>
              <a:rPr sz="700" b="0" i="0">
                <a:solidFill>
                  <a:srgbClr val="000000"/>
                </a:solidFill>
                <a:latin typeface="Arial"/>
              </a:rPr>
              <a:t>1 — FENCING DETAILS — ISOMETRIC VIEW · SCALE: NTS    2 — PARKING LOT VIEW · SCALE: NTS    3 — CROSS STREET ELEVATION · SCALE: NTS</a:t>
            </a:r>
          </a:p>
        </p:txBody>
      </p:sp>
      <p:sp>
        <p:nvSpPr>
          <p:cNvPr id="46" name="Rectangle 45"/>
          <p:cNvSpPr/>
          <p:nvPr/>
        </p:nvSpPr>
        <p:spPr>
          <a:xfrm>
            <a:off x="16806672" y="0"/>
            <a:ext cx="3127248" cy="13414248"/>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6824960" y="0"/>
            <a:ext cx="3108960" cy="82296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6870680" y="45720"/>
            <a:ext cx="3017520" cy="731520"/>
          </a:xfrm>
          <a:prstGeom prst="rect">
            <a:avLst/>
          </a:prstGeom>
          <a:noFill/>
        </p:spPr>
        <p:txBody>
          <a:bodyPr wrap="square" lIns="25400" rIns="12700" tIns="12700" bIns="12700"/>
          <a:lstStyle/>
          <a:p>
            <a:pPr algn="ctr"/>
            <a:r>
              <a:rPr sz="2000" b="1" i="0">
                <a:solidFill>
                  <a:srgbClr val="0B1E35"/>
                </a:solidFill>
                <a:latin typeface="Arial"/>
              </a:rPr>
              <a:t>ClearSky</a:t>
            </a:r>
          </a:p>
        </p:txBody>
      </p:sp>
      <p:sp>
        <p:nvSpPr>
          <p:cNvPr id="49" name="TextBox 48"/>
          <p:cNvSpPr txBox="1"/>
          <p:nvPr/>
        </p:nvSpPr>
        <p:spPr>
          <a:xfrm>
            <a:off x="16870680" y="457200"/>
            <a:ext cx="3017520" cy="320040"/>
          </a:xfrm>
          <a:prstGeom prst="rect">
            <a:avLst/>
          </a:prstGeom>
          <a:noFill/>
        </p:spPr>
        <p:txBody>
          <a:bodyPr wrap="square" lIns="25400" rIns="12700" tIns="12700" bIns="12700"/>
          <a:lstStyle/>
          <a:p>
            <a:pPr algn="ctr"/>
            <a:r>
              <a:rPr sz="700" b="1" i="0">
                <a:solidFill>
                  <a:srgbClr val="C9A84C"/>
                </a:solidFill>
                <a:latin typeface="Arial"/>
              </a:rPr>
              <a:t>BUILDERS LLC</a:t>
            </a:r>
          </a:p>
        </p:txBody>
      </p:sp>
      <p:sp>
        <p:nvSpPr>
          <p:cNvPr id="50" name="Rectangle 49"/>
          <p:cNvSpPr/>
          <p:nvPr/>
        </p:nvSpPr>
        <p:spPr>
          <a:xfrm>
            <a:off x="16824960" y="822960"/>
            <a:ext cx="3108960" cy="6858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6870680" y="859536"/>
            <a:ext cx="3017520" cy="612648"/>
          </a:xfrm>
          <a:prstGeom prst="rect">
            <a:avLst/>
          </a:prstGeom>
          <a:noFill/>
        </p:spPr>
        <p:txBody>
          <a:bodyPr wrap="square" lIns="25400" rIns="12700" tIns="12700" bIns="12700"/>
          <a:lstStyle/>
          <a:p>
            <a:pPr algn="l"/>
            <a:r>
              <a:rPr sz="650" b="0">
                <a:solidFill>
                  <a:srgbClr val="000000"/>
                </a:solidFill>
                <a:latin typeface="Arial"/>
              </a:rPr>
              <a:t>PO BOX {{GC_PO_BOX}}</a:t>
            </a:r>
          </a:p>
          <a:p>
            <a:pPr algn="l"/>
            <a:r>
              <a:rPr sz="650" b="0">
                <a:solidFill>
                  <a:srgbClr val="000000"/>
                </a:solidFill>
                <a:latin typeface="Arial"/>
              </a:rPr>
              <a:t>{{GC_CITY}}, {{GC_STATE}} {{GC_ZIP}}</a:t>
            </a:r>
          </a:p>
          <a:p>
            <a:pPr algn="l"/>
            <a:r>
              <a:rPr sz="650" b="0">
                <a:solidFill>
                  <a:srgbClr val="000000"/>
                </a:solidFill>
                <a:latin typeface="Arial"/>
              </a:rPr>
              <a:t>PH: {{GC_PHONE}}</a:t>
            </a:r>
          </a:p>
        </p:txBody>
      </p:sp>
      <p:sp>
        <p:nvSpPr>
          <p:cNvPr id="52" name="Rectangle 51"/>
          <p:cNvSpPr/>
          <p:nvPr/>
        </p:nvSpPr>
        <p:spPr>
          <a:xfrm>
            <a:off x="16824960" y="1508760"/>
            <a:ext cx="3108960" cy="5943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rot="-5400000">
            <a:off x="16916400" y="1600200"/>
            <a:ext cx="2926080" cy="5760720"/>
          </a:xfrm>
          <a:prstGeom prst="rect">
            <a:avLst/>
          </a:prstGeom>
          <a:noFill/>
        </p:spPr>
        <p:txBody>
          <a:bodyPr wrap="none">
            <a:spAutoFit/>
          </a:bodyPr>
          <a:lstStyle/>
          <a:p>
            <a:r>
              <a:rPr sz="800" b="1">
                <a:solidFill>
                  <a:srgbClr val="0B1E35"/>
                </a:solidFill>
                <a:latin typeface="Arial"/>
              </a:rPr>
              <a:t>PN - {{PROJECT_NAME}}</a:t>
            </a:r>
          </a:p>
          <a:p>
            <a:r>
              <a:rPr sz="700" b="0">
                <a:solidFill>
                  <a:srgbClr val="000000"/>
                </a:solidFill>
                <a:latin typeface="Arial"/>
              </a:rPr>
              <a:t>{{SITE_ADDR}}</a:t>
            </a:r>
          </a:p>
          <a:p>
            <a:r>
              <a:rPr sz="700" b="0">
                <a:solidFill>
                  <a:srgbClr val="000000"/>
                </a:solidFill>
                <a:latin typeface="Arial"/>
              </a:rPr>
              <a:t>{{CITY_SHORT}}, {{STATE}} {{ZIP}}</a:t>
            </a:r>
          </a:p>
          <a:p>
            <a:r>
              <a:rPr sz="700" b="0">
                <a:solidFill>
                  <a:srgbClr val="000000"/>
                </a:solidFill>
                <a:latin typeface="Arial"/>
              </a:rPr>
              <a:t>APN: {{APN}}</a:t>
            </a:r>
          </a:p>
        </p:txBody>
      </p:sp>
      <p:sp>
        <p:nvSpPr>
          <p:cNvPr id="54" name="Rectangle 53"/>
          <p:cNvSpPr/>
          <p:nvPr/>
        </p:nvSpPr>
        <p:spPr>
          <a:xfrm>
            <a:off x="16824960" y="7452360"/>
            <a:ext cx="3108960" cy="1645920"/>
          </a:xfrm>
          <a:prstGeom prst="rect">
            <a:avLst/>
          </a:prstGeom>
          <a:solidFill>
            <a:srgbClr val="FFF3A8"/>
          </a:solidFill>
          <a:ln w="1270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6870680" y="7498080"/>
            <a:ext cx="3017520" cy="1554480"/>
          </a:xfrm>
          <a:prstGeom prst="rect">
            <a:avLst/>
          </a:prstGeom>
          <a:solidFill>
            <a:srgbClr val="FFF3A8"/>
          </a:solidFill>
        </p:spPr>
        <p:txBody>
          <a:bodyPr wrap="square" lIns="25400" rIns="12700" tIns="12700" bIns="12700"/>
          <a:lstStyle/>
          <a:p>
            <a:pPr algn="l"/>
            <a:r>
              <a:rPr sz="650" b="0">
                <a:solidFill>
                  <a:srgbClr val="CC0000"/>
                </a:solidFill>
                <a:latin typeface="Arial"/>
              </a:rPr>
              <a:t>{{PERMIT_NO}}</a:t>
            </a:r>
          </a:p>
          <a:p>
            <a:pPr algn="l"/>
            <a:r>
              <a:rPr sz="650" b="0">
                <a:solidFill>
                  <a:srgbClr val="CC0000"/>
                </a:solidFill>
                <a:latin typeface="Arial"/>
              </a:rPr>
              <a:t>REVIEWED FOR COMPLIANCE</a:t>
            </a:r>
          </a:p>
          <a:p>
            <a:pPr algn="l"/>
            <a:r>
              <a:rPr sz="650" b="0">
                <a:solidFill>
                  <a:srgbClr val="CC0000"/>
                </a:solidFill>
                <a:latin typeface="Arial"/>
              </a:rPr>
              <a:t>{{AHJ_CITY}}</a:t>
            </a:r>
          </a:p>
          <a:p>
            <a:pPr algn="l"/>
            <a:r>
              <a:rPr sz="650" b="0">
                <a:solidFill>
                  <a:srgbClr val="CC0000"/>
                </a:solidFill>
                <a:latin typeface="Arial"/>
              </a:rPr>
              <a:t>{{AHJ_DEPT}}</a:t>
            </a:r>
          </a:p>
          <a:p>
            <a:pPr algn="l"/>
            <a:r>
              <a:rPr sz="650" b="0">
                <a:solidFill>
                  <a:srgbClr val="CC0000"/>
                </a:solidFill>
                <a:latin typeface="Arial"/>
              </a:rPr>
              <a:t>For {{PROJECT_NAME}} Subject to Code Compliance.</a:t>
            </a:r>
          </a:p>
          <a:p>
            <a:pPr algn="l"/>
            <a:r>
              <a:rPr sz="650" b="0">
                <a:solidFill>
                  <a:srgbClr val="CC0000"/>
                </a:solidFill>
                <a:latin typeface="Arial"/>
              </a:rPr>
              <a:t>REVISIONS NEED REVIEW</a:t>
            </a:r>
          </a:p>
        </p:txBody>
      </p:sp>
      <p:sp>
        <p:nvSpPr>
          <p:cNvPr id="56" name="Rectangle 55"/>
          <p:cNvSpPr/>
          <p:nvPr/>
        </p:nvSpPr>
        <p:spPr>
          <a:xfrm>
            <a:off x="16824960" y="9098280"/>
            <a:ext cx="3108960" cy="109728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16824960" y="9098280"/>
            <a:ext cx="3108960" cy="201168"/>
          </a:xfrm>
          <a:prstGeom prst="rect">
            <a:avLst/>
          </a:prstGeom>
          <a:solidFill>
            <a:srgbClr val="E8E8E8"/>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6852392" y="9125712"/>
            <a:ext cx="640080" cy="164592"/>
          </a:xfrm>
          <a:prstGeom prst="rect">
            <a:avLst/>
          </a:prstGeom>
          <a:noFill/>
        </p:spPr>
        <p:txBody>
          <a:bodyPr wrap="square" lIns="25400" rIns="12700" tIns="12700" bIns="12700"/>
          <a:lstStyle/>
          <a:p>
            <a:pPr algn="l"/>
            <a:r>
              <a:rPr sz="600" b="1" i="0">
                <a:solidFill>
                  <a:srgbClr val="000000"/>
                </a:solidFill>
                <a:latin typeface="Arial"/>
              </a:rPr>
              <a:t>DATE</a:t>
            </a:r>
          </a:p>
        </p:txBody>
      </p:sp>
      <p:sp>
        <p:nvSpPr>
          <p:cNvPr id="59" name="TextBox 58"/>
          <p:cNvSpPr txBox="1"/>
          <p:nvPr/>
        </p:nvSpPr>
        <p:spPr>
          <a:xfrm>
            <a:off x="17510760" y="9125712"/>
            <a:ext cx="365760" cy="164592"/>
          </a:xfrm>
          <a:prstGeom prst="rect">
            <a:avLst/>
          </a:prstGeom>
          <a:noFill/>
        </p:spPr>
        <p:txBody>
          <a:bodyPr wrap="square" lIns="25400" rIns="12700" tIns="12700" bIns="12700"/>
          <a:lstStyle/>
          <a:p>
            <a:pPr algn="l"/>
            <a:r>
              <a:rPr sz="600" b="1" i="0">
                <a:solidFill>
                  <a:srgbClr val="000000"/>
                </a:solidFill>
                <a:latin typeface="Arial"/>
              </a:rPr>
              <a:t>REV</a:t>
            </a:r>
          </a:p>
        </p:txBody>
      </p:sp>
      <p:sp>
        <p:nvSpPr>
          <p:cNvPr id="60" name="TextBox 59"/>
          <p:cNvSpPr txBox="1"/>
          <p:nvPr/>
        </p:nvSpPr>
        <p:spPr>
          <a:xfrm>
            <a:off x="17922240" y="9125712"/>
            <a:ext cx="1828800" cy="164592"/>
          </a:xfrm>
          <a:prstGeom prst="rect">
            <a:avLst/>
          </a:prstGeom>
          <a:noFill/>
        </p:spPr>
        <p:txBody>
          <a:bodyPr wrap="square" lIns="25400" rIns="12700" tIns="12700" bIns="12700"/>
          <a:lstStyle/>
          <a:p>
            <a:pPr algn="l"/>
            <a:r>
              <a:rPr sz="600" b="1" i="0">
                <a:solidFill>
                  <a:srgbClr val="000000"/>
                </a:solidFill>
                <a:latin typeface="Arial"/>
              </a:rPr>
              <a:t>COMMENTS</a:t>
            </a:r>
          </a:p>
        </p:txBody>
      </p:sp>
      <p:sp>
        <p:nvSpPr>
          <p:cNvPr id="61" name="TextBox 60"/>
          <p:cNvSpPr txBox="1"/>
          <p:nvPr/>
        </p:nvSpPr>
        <p:spPr>
          <a:xfrm>
            <a:off x="16852392" y="9326880"/>
            <a:ext cx="640080" cy="164592"/>
          </a:xfrm>
          <a:prstGeom prst="rect">
            <a:avLst/>
          </a:prstGeom>
          <a:noFill/>
        </p:spPr>
        <p:txBody>
          <a:bodyPr wrap="square" lIns="25400" rIns="12700" tIns="12700" bIns="12700"/>
          <a:lstStyle/>
          <a:p>
            <a:pPr algn="l"/>
            <a:r>
              <a:rPr sz="600" b="0" i="0">
                <a:solidFill>
                  <a:srgbClr val="000000"/>
                </a:solidFill>
                <a:latin typeface="Arial"/>
              </a:rPr>
              <a:t>{{ISSUE_DATE}}</a:t>
            </a:r>
          </a:p>
        </p:txBody>
      </p:sp>
      <p:sp>
        <p:nvSpPr>
          <p:cNvPr id="62" name="TextBox 61"/>
          <p:cNvSpPr txBox="1"/>
          <p:nvPr/>
        </p:nvSpPr>
        <p:spPr>
          <a:xfrm>
            <a:off x="17510760" y="9326880"/>
            <a:ext cx="365760" cy="164592"/>
          </a:xfrm>
          <a:prstGeom prst="rect">
            <a:avLst/>
          </a:prstGeom>
          <a:noFill/>
        </p:spPr>
        <p:txBody>
          <a:bodyPr wrap="square" lIns="25400" rIns="12700" tIns="12700" bIns="12700"/>
          <a:lstStyle/>
          <a:p>
            <a:pPr algn="l"/>
            <a:r>
              <a:rPr sz="600" b="0" i="0">
                <a:solidFill>
                  <a:srgbClr val="000000"/>
                </a:solidFill>
                <a:latin typeface="Arial"/>
              </a:rPr>
              <a:t>00</a:t>
            </a:r>
          </a:p>
        </p:txBody>
      </p:sp>
      <p:sp>
        <p:nvSpPr>
          <p:cNvPr id="63" name="TextBox 62"/>
          <p:cNvSpPr txBox="1"/>
          <p:nvPr/>
        </p:nvSpPr>
        <p:spPr>
          <a:xfrm>
            <a:off x="17922240" y="9326880"/>
            <a:ext cx="1828800" cy="164592"/>
          </a:xfrm>
          <a:prstGeom prst="rect">
            <a:avLst/>
          </a:prstGeom>
          <a:noFill/>
        </p:spPr>
        <p:txBody>
          <a:bodyPr wrap="square" lIns="25400" rIns="12700" tIns="12700" bIns="12700"/>
          <a:lstStyle/>
          <a:p>
            <a:pPr algn="l"/>
            <a:r>
              <a:rPr sz="600" b="0" i="0">
                <a:solidFill>
                  <a:srgbClr val="000000"/>
                </a:solidFill>
                <a:latin typeface="Arial"/>
              </a:rPr>
              <a:t>ISSUE FOR PERMIT</a:t>
            </a:r>
          </a:p>
        </p:txBody>
      </p:sp>
      <p:sp>
        <p:nvSpPr>
          <p:cNvPr id="64" name="TextBox 63"/>
          <p:cNvSpPr txBox="1"/>
          <p:nvPr/>
        </p:nvSpPr>
        <p:spPr>
          <a:xfrm>
            <a:off x="16852392" y="9528048"/>
            <a:ext cx="64008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65" name="TextBox 64"/>
          <p:cNvSpPr txBox="1"/>
          <p:nvPr/>
        </p:nvSpPr>
        <p:spPr>
          <a:xfrm>
            <a:off x="17510760" y="9528048"/>
            <a:ext cx="36576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66" name="TextBox 65"/>
          <p:cNvSpPr txBox="1"/>
          <p:nvPr/>
        </p:nvSpPr>
        <p:spPr>
          <a:xfrm>
            <a:off x="17922240" y="9528048"/>
            <a:ext cx="182880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67" name="TextBox 66"/>
          <p:cNvSpPr txBox="1"/>
          <p:nvPr/>
        </p:nvSpPr>
        <p:spPr>
          <a:xfrm>
            <a:off x="16852392" y="9729216"/>
            <a:ext cx="64008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68" name="TextBox 67"/>
          <p:cNvSpPr txBox="1"/>
          <p:nvPr/>
        </p:nvSpPr>
        <p:spPr>
          <a:xfrm>
            <a:off x="17510760" y="9729216"/>
            <a:ext cx="36576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69" name="TextBox 68"/>
          <p:cNvSpPr txBox="1"/>
          <p:nvPr/>
        </p:nvSpPr>
        <p:spPr>
          <a:xfrm>
            <a:off x="17922240" y="9729216"/>
            <a:ext cx="182880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70" name="TextBox 69"/>
          <p:cNvSpPr txBox="1"/>
          <p:nvPr/>
        </p:nvSpPr>
        <p:spPr>
          <a:xfrm>
            <a:off x="16852392" y="9930384"/>
            <a:ext cx="64008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71" name="TextBox 70"/>
          <p:cNvSpPr txBox="1"/>
          <p:nvPr/>
        </p:nvSpPr>
        <p:spPr>
          <a:xfrm>
            <a:off x="17510760" y="9930384"/>
            <a:ext cx="36576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72" name="TextBox 71"/>
          <p:cNvSpPr txBox="1"/>
          <p:nvPr/>
        </p:nvSpPr>
        <p:spPr>
          <a:xfrm>
            <a:off x="17922240" y="9930384"/>
            <a:ext cx="1828800" cy="164592"/>
          </a:xfrm>
          <a:prstGeom prst="rect">
            <a:avLst/>
          </a:prstGeom>
          <a:noFill/>
        </p:spPr>
        <p:txBody>
          <a:bodyPr wrap="square" lIns="25400" rIns="12700" tIns="12700" bIns="12700"/>
          <a:lstStyle/>
          <a:p>
            <a:pPr algn="l"/>
            <a:r>
              <a:rPr sz="600" b="0" i="0">
                <a:solidFill>
                  <a:srgbClr val="000000"/>
                </a:solidFill>
                <a:latin typeface="Arial"/>
              </a:rPr>
              <a:t/>
            </a:r>
          </a:p>
        </p:txBody>
      </p:sp>
      <p:sp>
        <p:nvSpPr>
          <p:cNvPr id="73" name="Rectangle 72"/>
          <p:cNvSpPr/>
          <p:nvPr/>
        </p:nvSpPr>
        <p:spPr>
          <a:xfrm>
            <a:off x="16824960" y="10195560"/>
            <a:ext cx="3108960" cy="73152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6824960" y="10213848"/>
            <a:ext cx="3108960" cy="457200"/>
          </a:xfrm>
          <a:prstGeom prst="rect">
            <a:avLst/>
          </a:prstGeom>
          <a:noFill/>
        </p:spPr>
        <p:txBody>
          <a:bodyPr wrap="square" lIns="25400" rIns="12700" tIns="12700" bIns="12700"/>
          <a:lstStyle/>
          <a:p>
            <a:pPr algn="ctr"/>
            <a:r>
              <a:rPr sz="2800" b="1" i="0">
                <a:solidFill>
                  <a:srgbClr val="0B1E35"/>
                </a:solidFill>
                <a:latin typeface="Arial"/>
              </a:rPr>
              <a:t>S3.0</a:t>
            </a:r>
          </a:p>
        </p:txBody>
      </p:sp>
      <p:sp>
        <p:nvSpPr>
          <p:cNvPr id="75" name="TextBox 74"/>
          <p:cNvSpPr txBox="1"/>
          <p:nvPr/>
        </p:nvSpPr>
        <p:spPr>
          <a:xfrm>
            <a:off x="16824960" y="10671048"/>
            <a:ext cx="3108960" cy="237744"/>
          </a:xfrm>
          <a:prstGeom prst="rect">
            <a:avLst/>
          </a:prstGeom>
          <a:noFill/>
        </p:spPr>
        <p:txBody>
          <a:bodyPr wrap="square" lIns="25400" rIns="12700" tIns="12700" bIns="12700"/>
          <a:lstStyle/>
          <a:p>
            <a:pPr algn="ctr"/>
            <a:r>
              <a:rPr sz="800" b="1" i="0">
                <a:solidFill>
                  <a:srgbClr val="000000"/>
                </a:solidFill>
                <a:latin typeface="Arial"/>
              </a:rPr>
              <a:t>FENCING DETAILS</a:t>
            </a:r>
          </a:p>
        </p:txBody>
      </p:sp>
      <p:sp>
        <p:nvSpPr>
          <p:cNvPr id="76" name="Rectangle 75"/>
          <p:cNvSpPr/>
          <p:nvPr/>
        </p:nvSpPr>
        <p:spPr>
          <a:xfrm>
            <a:off x="16824960" y="10927080"/>
            <a:ext cx="3108960" cy="2487168"/>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6870680" y="10963656"/>
            <a:ext cx="3017520" cy="2395728"/>
          </a:xfrm>
          <a:prstGeom prst="rect">
            <a:avLst/>
          </a:prstGeom>
          <a:noFill/>
        </p:spPr>
        <p:txBody>
          <a:bodyPr wrap="square" lIns="25400" rIns="12700" tIns="12700" bIns="12700"/>
          <a:lstStyle/>
          <a:p>
            <a:pPr algn="l"/>
            <a:r>
              <a:rPr sz="650" b="0">
                <a:solidFill>
                  <a:srgbClr val="000000"/>
                </a:solidFill>
                <a:latin typeface="Arial"/>
              </a:rPr>
              <a:t>ISSUE DATE</a:t>
            </a:r>
          </a:p>
          <a:p>
            <a:pPr algn="l"/>
            <a:r>
              <a:rPr sz="650" b="0">
                <a:solidFill>
                  <a:srgbClr val="000000"/>
                </a:solidFill>
                <a:latin typeface="Arial"/>
              </a:rPr>
              <a:t>{{ISSUE_DATE}}</a:t>
            </a:r>
          </a:p>
          <a:p>
            <a:pPr algn="l"/>
            <a:r>
              <a:rPr sz="650" b="0">
                <a:solidFill>
                  <a:srgbClr val="000000"/>
                </a:solidFill>
                <a:latin typeface="Arial"/>
              </a:rPr>
              <a:t>REVISION DATE</a:t>
            </a:r>
          </a:p>
          <a:p>
            <a:pPr algn="l"/>
            <a:r>
              <a:rPr sz="650" b="0">
                <a:solidFill>
                  <a:srgbClr val="000000"/>
                </a:solidFill>
                <a:latin typeface="Arial"/>
              </a:rPr>
              <a:t>{{ISSUE_DATE}}</a:t>
            </a:r>
          </a:p>
          <a:p>
            <a:pPr algn="l"/>
            <a:r>
              <a:rPr sz="650" b="0">
                <a:solidFill>
                  <a:srgbClr val="000000"/>
                </a:solidFill>
                <a:latin typeface="Arial"/>
              </a:rPr>
              <a:t>DESIGNED BY</a:t>
            </a:r>
          </a:p>
          <a:p>
            <a:pPr algn="l"/>
            <a:r>
              <a:rPr sz="650" b="0">
                <a:solidFill>
                  <a:srgbClr val="000000"/>
                </a:solidFill>
                <a:latin typeface="Arial"/>
              </a:rPr>
              <a:t>{{DESIGNED_BY}}</a:t>
            </a:r>
          </a:p>
          <a:p>
            <a:pPr algn="l"/>
            <a:r>
              <a:rPr sz="650" b="0">
                <a:solidFill>
                  <a:srgbClr val="000000"/>
                </a:solidFill>
                <a:latin typeface="Arial"/>
              </a:rPr>
              <a:t>CHECKED BY</a:t>
            </a:r>
          </a:p>
          <a:p>
            <a:pPr algn="l"/>
            <a:r>
              <a:rPr sz="650" b="0">
                <a:solidFill>
                  <a:srgbClr val="000000"/>
                </a:solidFill>
                <a:latin typeface="Arial"/>
              </a:rPr>
              <a:t>{{CHECKED_BY}}</a:t>
            </a:r>
          </a:p>
          <a:p>
            <a:pPr algn="l"/>
            <a:r>
              <a:rPr sz="650" b="0">
                <a:solidFill>
                  <a:srgbClr val="000000"/>
                </a:solidFill>
                <a:latin typeface="Arial"/>
              </a:rPr>
              <a:t>JOB NO.</a:t>
            </a:r>
          </a:p>
          <a:p>
            <a:pPr algn="l"/>
            <a:r>
              <a:rPr sz="650" b="0">
                <a:solidFill>
                  <a:srgbClr val="000000"/>
                </a:solidFill>
                <a:latin typeface="Arial"/>
              </a:rPr>
              <a:t>{{JOB_NO}}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