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Types>
</file>

<file path=_rels/.rels><?xml version="1.0" encoding="UTF-8"?><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8288000" cy="12192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914400" y="163688"/>
            <a:ext cx="16459200" cy="2681113"/>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914400" y="2844800"/>
            <a:ext cx="16459200" cy="93472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839200" y="10975622"/>
            <a:ext cx="4267200" cy="649112"/>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2.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3.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4.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5.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6.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logo_clearsky.png"/></Relationships>
</file>

<file path=ppt/slides/_rels/slide7.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logo_clearsky.png"/></Relationships>
</file>

<file path=ppt/slides/_rels/slide8.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logo_clearsky.png"/></Relationships>
</file>

<file path=ppt/slides/_rels/slide9.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logo_clearsky.png"/></Relationships>
</file>

<file path=ppt/slides/_rels/slide10.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logo_clearsky.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21"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22"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23"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24" name="Text 4"/>
          <p:cNvSpPr txBox="1"/>
          <p:nvPr/>
        </p:nvSpPr>
        <p:spPr>
          <a:xfrm>
            <a:off x="228599" y="294803"/>
            <a:ext cx="15926107" cy="7262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pc="150" sz="2500">
                <a:latin typeface="Arial"/>
                <a:ea typeface="Arial"/>
                <a:cs typeface="Arial"/>
                <a:sym typeface="Arial"/>
              </a:defRPr>
            </a:pPr>
            <a:r>
              <a:t xml:space="preserve"> BATTERY ENERGY STORAGE SYSTEM</a:t>
            </a:r>
          </a:p>
          <a:p>
            <a:pPr algn="ctr">
              <a:defRPr b="1" spc="150" sz="2500">
                <a:latin typeface="Arial"/>
                <a:ea typeface="Arial"/>
                <a:cs typeface="Arial"/>
                <a:sym typeface="Arial"/>
              </a:defRPr>
            </a:pPr>
            <a:r>
              <a:t xml:space="preserve">PERMIT SET </a:t>
            </a:r>
          </a:p>
        </p:txBody>
      </p:sp>
      <p:sp>
        <p:nvSpPr>
          <p:cNvPr id="25" name="Shape 5"/>
          <p:cNvSpPr/>
          <p:nvPr/>
        </p:nvSpPr>
        <p:spPr>
          <a:xfrm>
            <a:off x="342899" y="1238097"/>
            <a:ext cx="5581500" cy="7258509"/>
          </a:xfrm>
          <a:prstGeom prst="rect">
            <a:avLst/>
          </a:prstGeom>
          <a:solidFill>
            <a:srgbClr val="FFFFFF"/>
          </a:solidFill>
          <a:ln w="12700">
            <a:solidFill>
              <a:srgbClr val="111111"/>
            </a:solidFill>
          </a:ln>
        </p:spPr>
        <p:txBody>
          <a:bodyPr lIns="45719" rIns="45719"/>
          <a:lstStyle/>
          <a:p>
            <a:pPr/>
          </a:p>
        </p:txBody>
      </p:sp>
      <p:sp>
        <p:nvSpPr>
          <p:cNvPr id="26" name="Text 6"/>
          <p:cNvSpPr txBox="1"/>
          <p:nvPr/>
        </p:nvSpPr>
        <p:spPr>
          <a:xfrm>
            <a:off x="466344" y="1346504"/>
            <a:ext cx="53346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GENERAL NOTES</a:t>
            </a:r>
          </a:p>
        </p:txBody>
      </p:sp>
      <p:sp>
        <p:nvSpPr>
          <p:cNvPr id="27" name="Text 7"/>
          <p:cNvSpPr txBox="1"/>
          <p:nvPr/>
        </p:nvSpPr>
        <p:spPr>
          <a:xfrm>
            <a:off x="638251" y="1535110"/>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CONSTRUCTION SHALL COMPLY WITH THE CODES ADOPTED BY {{AHJ_CITY}} AS DESCRIBED IN THE {{MUNICIPAL_CODE}} INCLUDING BUT NOT LIMITED TO {{CODE_YEAR}} CEC, CFC &amp; CBC.</a:t>
            </a:r>
          </a:p>
        </p:txBody>
      </p:sp>
      <p:sp>
        <p:nvSpPr>
          <p:cNvPr id="28" name="Text 8"/>
          <p:cNvSpPr txBox="1"/>
          <p:nvPr/>
        </p:nvSpPr>
        <p:spPr>
          <a:xfrm>
            <a:off x="638251" y="1792971"/>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BEFORE INITIATING ANY WORK, THE CONTRACTOR SHALL NOTIFY ENGINEER OF RECORDS OF ANY DISCREPANCIES IDENTIFIED ON EXISTING CONDITIONS, STRUCTURE, ELECTRICAL, ETC.</a:t>
            </a:r>
          </a:p>
        </p:txBody>
      </p:sp>
      <p:sp>
        <p:nvSpPr>
          <p:cNvPr id="29" name="Text 9"/>
          <p:cNvSpPr txBox="1"/>
          <p:nvPr/>
        </p:nvSpPr>
        <p:spPr>
          <a:xfrm>
            <a:off x="638251" y="2049918"/>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SHALL BE RESPONSIBLE FOR ALL SAFETY PRECAUTIONS, OSHA REQUIREMENTS AND SAFETY MEASUREMENTS ON SITE.</a:t>
            </a:r>
          </a:p>
        </p:txBody>
      </p:sp>
      <p:sp>
        <p:nvSpPr>
          <p:cNvPr id="30" name="Text 10"/>
          <p:cNvSpPr txBox="1"/>
          <p:nvPr/>
        </p:nvSpPr>
        <p:spPr>
          <a:xfrm>
            <a:off x="638251" y="2306864"/>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IS RESPONSIBLE FOR INSTALLING ALL EQUIPMENT AND FOLLOWING ALL MANUFACTURER'S OR ENGINEER'S DIRECTIONS AND INSTRUCTIONS.</a:t>
            </a:r>
          </a:p>
        </p:txBody>
      </p:sp>
      <p:sp>
        <p:nvSpPr>
          <p:cNvPr id="31" name="Text 11"/>
          <p:cNvSpPr txBox="1"/>
          <p:nvPr/>
        </p:nvSpPr>
        <p:spPr>
          <a:xfrm>
            <a:off x="638251" y="2506660"/>
            <a:ext cx="5162702" cy="3395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IS ADVISED THAT ALL DRAWINGS, COMPONENT MANUALS, ESPECIALLY INVERTER MANUALS, ARE TO BE READ AND UNDERSTOOD PRIOR TO INSTALLATION OR ENERGIZING OF ANY EQUIPMENT.</a:t>
            </a:r>
          </a:p>
        </p:txBody>
      </p:sp>
      <p:sp>
        <p:nvSpPr>
          <p:cNvPr id="32" name="Text 12"/>
          <p:cNvSpPr txBox="1"/>
          <p:nvPr/>
        </p:nvSpPr>
        <p:spPr>
          <a:xfrm>
            <a:off x="638251" y="2835844"/>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IS RESPONSIBLE FOR SELECTING AND PURCHASING EQUIPMENT DESIGNED TO LAST A MIN. OF 30 YEARS IN CONJUNCTION WITH THE BESS SYSTEM. ALL ENCLOSURES, CONDUITS, STRAPS, PAINTED METAL SURFACES, CONCRETE, GROUNDING EQUIPMENT AND OTHER EQUIPMENT AND OTHER PRODUCTS SHALL BE SELECTED TO LAST THE LIFECYCLE OF THE BESS SYSTEM.</a:t>
            </a:r>
          </a:p>
        </p:txBody>
      </p:sp>
      <p:sp>
        <p:nvSpPr>
          <p:cNvPr id="33" name="Text 13"/>
          <p:cNvSpPr txBox="1"/>
          <p:nvPr/>
        </p:nvSpPr>
        <p:spPr>
          <a:xfrm>
            <a:off x="638251" y="3335564"/>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CONTRACTORS ARE REQUIRED TO PROVIDE FULL SUBMITTALS OF INTENDED ORDERS TO CLEARSKY FOR REVIEW.</a:t>
            </a:r>
          </a:p>
        </p:txBody>
      </p:sp>
      <p:sp>
        <p:nvSpPr>
          <p:cNvPr id="34" name="Text 14"/>
          <p:cNvSpPr txBox="1"/>
          <p:nvPr/>
        </p:nvSpPr>
        <p:spPr>
          <a:xfrm>
            <a:off x="638251" y="3606683"/>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WHENEVER ANY SURFACE IMPROVEMENTS SUCH AS PAVEMENT, CURBING, PEDESTRIAN WALKS, FENCING, OR TURFING HAVE BEEN REMOVED, DAMAGED, OR OTHERWISE DISTURBED BY THE CONTRACTOR'S OPERATIONS, THEY SHALL BE REPAIRED OR REPLACED TO THE PRE-EXISTING CONDITION. THE REPAIRS ARE TO MEET THE OWNER'S SATISFACTION.</a:t>
            </a:r>
          </a:p>
        </p:txBody>
      </p:sp>
      <p:sp>
        <p:nvSpPr>
          <p:cNvPr id="35" name="Text 15"/>
          <p:cNvSpPr txBox="1"/>
          <p:nvPr/>
        </p:nvSpPr>
        <p:spPr>
          <a:xfrm>
            <a:off x="638251" y="4107318"/>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REFILL AND RESTORE THE WORK AS DIRECTED, DURING CONSTRUCTION AND PRIOR TO PROJECT COMPLETION, TO MAINTAIN ACCEPTABLE SURFACE CONDITIONS.</a:t>
            </a:r>
          </a:p>
        </p:txBody>
      </p:sp>
      <p:sp>
        <p:nvSpPr>
          <p:cNvPr id="36" name="Text 16"/>
          <p:cNvSpPr txBox="1"/>
          <p:nvPr/>
        </p:nvSpPr>
        <p:spPr>
          <a:xfrm>
            <a:off x="638251" y="4302084"/>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ADDITIONAL MATERIALS REQUIRED SHALL BE FURNISHED WITHOUT ADDITIONAL COST TO THE OWNER.</a:t>
            </a:r>
          </a:p>
        </p:txBody>
      </p:sp>
      <p:sp>
        <p:nvSpPr>
          <p:cNvPr id="37" name="Text 17"/>
          <p:cNvSpPr txBox="1"/>
          <p:nvPr/>
        </p:nvSpPr>
        <p:spPr>
          <a:xfrm>
            <a:off x="638251" y="4493194"/>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ANY WORK BEGUN PRIOR TO ATTAINING APPROVAL AND SIGNATURES OF {{AHJ_CITY}} WILL BE AT CONTRACTOR'S RISK, AND WILL BE STOPPED IF PRE-APPROVED BY PROJECT OWNER.</a:t>
            </a:r>
          </a:p>
        </p:txBody>
      </p:sp>
      <p:sp>
        <p:nvSpPr>
          <p:cNvPr id="38" name="Text 18"/>
          <p:cNvSpPr txBox="1"/>
          <p:nvPr/>
        </p:nvSpPr>
        <p:spPr>
          <a:xfrm>
            <a:off x="638251" y="4759742"/>
            <a:ext cx="5162702" cy="3395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COORDINATE OPERATIONS WITH ALL REQUIRED MATERIALS TESTING SERVICES AS REQUIRED BY THESE DRAWINGS. EACH PHASE OF CONSTRUCTION SHALL BE TESTED AND APPROVED BY {{AHJ_CITY}} AS REQUIRED PRIOR TO PROCEEDING TO SUBSEQUENT PHASES.</a:t>
            </a:r>
          </a:p>
        </p:txBody>
      </p:sp>
      <p:sp>
        <p:nvSpPr>
          <p:cNvPr id="39" name="Text 19"/>
          <p:cNvSpPr txBox="1"/>
          <p:nvPr/>
        </p:nvSpPr>
        <p:spPr>
          <a:xfrm>
            <a:off x="638251" y="5073838"/>
            <a:ext cx="53154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NOTIFY ALL UTILITY COMPANIES INVOLVED IN THE DEVELOPMENT PRIOR TO BEGINNING ANY EXCAVATION.</a:t>
            </a:r>
          </a:p>
        </p:txBody>
      </p:sp>
      <p:sp>
        <p:nvSpPr>
          <p:cNvPr id="40" name="Text 20"/>
          <p:cNvSpPr txBox="1"/>
          <p:nvPr/>
        </p:nvSpPr>
        <p:spPr>
          <a:xfrm>
            <a:off x="638251" y="5279121"/>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COMPLY WITH ALL CURRENTLY APPLICABLE SAFETY LAWS OF ALL JURISDICTIONAL BODIES. PROVIDE AND MAINTAIN ALL BARRICADES, SAFETY DEVICES, AND CONTROL OF TRAFFIC WITHIN AND AROUND THE CONSTRUCTION AREA. FOR ALL TRENCH EXCAVATION 5 FEET OR MORE IN DEPTH, OBTAIN PERMITS PRIOR TO BEGINNING ANY EXCAVATION.</a:t>
            </a:r>
          </a:p>
        </p:txBody>
      </p:sp>
      <p:sp>
        <p:nvSpPr>
          <p:cNvPr id="41" name="Text 21"/>
          <p:cNvSpPr txBox="1"/>
          <p:nvPr/>
        </p:nvSpPr>
        <p:spPr>
          <a:xfrm>
            <a:off x="638251" y="5793014"/>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MAINTAIN CONTINUOUS TEMPORARY TRAFFIC BARRICADES, WITH OPERABLE FLASHING DEVICES, SPACED AT INTERVALS OF NOT TO EXCEED 50 FEET WHENEVER THE WORK AREA IS ADJACENT TO AN EXISTING TRAFFIC LANE AND THERE IS A PAVEMENT CUT, TRENCH, OR DITCH WHICH IS OVER 2 INCHES IN DEPTH, OR IF THE TRAFFIC LANE USED BY VEHICLES IS NOT PAVED.</a:t>
            </a:r>
          </a:p>
        </p:txBody>
      </p:sp>
      <p:sp>
        <p:nvSpPr>
          <p:cNvPr id="42" name="Shape 22"/>
          <p:cNvSpPr/>
          <p:nvPr/>
        </p:nvSpPr>
        <p:spPr>
          <a:xfrm>
            <a:off x="342899" y="8382304"/>
            <a:ext cx="5581500" cy="3733496"/>
          </a:xfrm>
          <a:prstGeom prst="rect">
            <a:avLst/>
          </a:prstGeom>
          <a:solidFill>
            <a:srgbClr val="FFFFFF"/>
          </a:solidFill>
          <a:ln w="12700">
            <a:solidFill>
              <a:srgbClr val="111111"/>
            </a:solidFill>
          </a:ln>
        </p:spPr>
        <p:txBody>
          <a:bodyPr lIns="45719" rIns="45719"/>
          <a:lstStyle/>
          <a:p>
            <a:pPr/>
          </a:p>
        </p:txBody>
      </p:sp>
      <p:sp>
        <p:nvSpPr>
          <p:cNvPr id="43" name="Text 23"/>
          <p:cNvSpPr txBox="1"/>
          <p:nvPr/>
        </p:nvSpPr>
        <p:spPr>
          <a:xfrm>
            <a:off x="466344" y="8489797"/>
            <a:ext cx="53346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ELECTRICAL NOTES</a:t>
            </a:r>
          </a:p>
        </p:txBody>
      </p:sp>
      <p:sp>
        <p:nvSpPr>
          <p:cNvPr id="44" name="Text 24"/>
          <p:cNvSpPr txBox="1"/>
          <p:nvPr/>
        </p:nvSpPr>
        <p:spPr>
          <a:xfrm>
            <a:off x="638251" y="8679318"/>
            <a:ext cx="51627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THE LINE AND LOAD TERMINALS ON THE AC DISCONNECTS MAY BE ENERGIZED IN THE OPEN POSITION. SWITCH IS TO BE LABELED TO COMPLY WITH ARTICLE 690.17 OF THE NEC.</a:t>
            </a:r>
          </a:p>
        </p:txBody>
      </p:sp>
      <p:sp>
        <p:nvSpPr>
          <p:cNvPr id="45" name="Text 25"/>
          <p:cNvSpPr txBox="1"/>
          <p:nvPr/>
        </p:nvSpPr>
        <p:spPr>
          <a:xfrm>
            <a:off x="638251" y="8936263"/>
            <a:ext cx="5162702" cy="2252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WIRING SHALL CONFORM WITH THE LATEST EDITION OF THE NEC. ALL WIRING IS ASSUMED IN ACCORDANCE WITH THE NEC, UNLESS OTHERWISE LABELED.</a:t>
            </a:r>
          </a:p>
        </p:txBody>
      </p:sp>
      <p:sp>
        <p:nvSpPr>
          <p:cNvPr id="46" name="Text 26"/>
          <p:cNvSpPr txBox="1"/>
          <p:nvPr/>
        </p:nvSpPr>
        <p:spPr>
          <a:xfrm>
            <a:off x="638251" y="9180169"/>
            <a:ext cx="51627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GROUNDING OF THE BESS SHALL COMPLY WITH NEC 690.45 AND 690.47.</a:t>
            </a:r>
          </a:p>
        </p:txBody>
      </p:sp>
      <p:sp>
        <p:nvSpPr>
          <p:cNvPr id="47" name="Text 27"/>
          <p:cNvSpPr txBox="1"/>
          <p:nvPr/>
        </p:nvSpPr>
        <p:spPr>
          <a:xfrm>
            <a:off x="638251" y="9264991"/>
            <a:ext cx="5162702" cy="3395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THE ESTIMATED EXISTING ELECTRICAL SERVICE FROM UTILITY GRID IS ADEQUATE TO HANDLE ENERGY GENERATION AND PROVIDE A CLEAN POWER SUPPLY TO IDENTIFY ANY OBSTACLES IN THE WIRING.</a:t>
            </a:r>
          </a:p>
        </p:txBody>
      </p:sp>
      <p:sp>
        <p:nvSpPr>
          <p:cNvPr id="48" name="Text 28"/>
          <p:cNvSpPr txBox="1"/>
          <p:nvPr/>
        </p:nvSpPr>
        <p:spPr>
          <a:xfrm>
            <a:off x="638251" y="9531539"/>
            <a:ext cx="5162702"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IN EVERY PULL, BOX, TERMINAL BOX, AND AT ALL PLACES WHERE WIRES MAY NOT BE ALREADY IDENTIFIED BY MANUFACTURER MARKINGS ON CONDUCTORS WITH OUTER FINISH WHITE, IT SHALL BE THE NEUTRAL ON A POLY-PHASE CIRCUIT, AS WELL AS THE GROUNDED CONDUCTOR ON A SINGLE-PHASE CIRCUIT.</a:t>
            </a:r>
          </a:p>
        </p:txBody>
      </p:sp>
      <p:sp>
        <p:nvSpPr>
          <p:cNvPr id="49" name="Text 29"/>
          <p:cNvSpPr txBox="1"/>
          <p:nvPr/>
        </p:nvSpPr>
        <p:spPr>
          <a:xfrm>
            <a:off x="638251" y="9951922"/>
            <a:ext cx="51627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FUSE CONDUIT SHALL ONLY BE USED WHERE SPECIFIED OR APPROVED IN WRITING.</a:t>
            </a:r>
          </a:p>
        </p:txBody>
      </p:sp>
      <p:sp>
        <p:nvSpPr>
          <p:cNvPr id="50" name="Text 30"/>
          <p:cNvSpPr txBox="1"/>
          <p:nvPr/>
        </p:nvSpPr>
        <p:spPr>
          <a:xfrm>
            <a:off x="638251" y="10093893"/>
            <a:ext cx="5162702" cy="2252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THE GROUP-WIRING PROVISIONS OF THE NEC SHALL BE FOLLOWED FOR ALL CONDUCTORS PRE-ENGINEERED EXTENDED BATTERY ENERGY STORAGE.</a:t>
            </a:r>
          </a:p>
        </p:txBody>
      </p:sp>
      <p:sp>
        <p:nvSpPr>
          <p:cNvPr id="51" name="Shape 31"/>
          <p:cNvSpPr/>
          <p:nvPr/>
        </p:nvSpPr>
        <p:spPr>
          <a:xfrm>
            <a:off x="5810098" y="4572000"/>
            <a:ext cx="3258008" cy="2305203"/>
          </a:xfrm>
          <a:prstGeom prst="rect">
            <a:avLst/>
          </a:prstGeom>
          <a:solidFill>
            <a:srgbClr val="FFFFFF"/>
          </a:solidFill>
          <a:ln w="12700">
            <a:solidFill>
              <a:srgbClr val="111111"/>
            </a:solidFill>
          </a:ln>
        </p:spPr>
        <p:txBody>
          <a:bodyPr lIns="45719" rIns="45719"/>
          <a:lstStyle/>
          <a:p>
            <a:pPr/>
          </a:p>
        </p:txBody>
      </p:sp>
      <p:sp>
        <p:nvSpPr>
          <p:cNvPr id="52" name="Shape 32"/>
          <p:cNvSpPr/>
          <p:nvPr/>
        </p:nvSpPr>
        <p:spPr>
          <a:xfrm>
            <a:off x="5820155" y="4581144"/>
            <a:ext cx="3238807" cy="209399"/>
          </a:xfrm>
          <a:prstGeom prst="rect">
            <a:avLst/>
          </a:prstGeom>
          <a:solidFill>
            <a:srgbClr val="E9E9E9"/>
          </a:solidFill>
          <a:ln w="12700">
            <a:miter lim="400000"/>
          </a:ln>
        </p:spPr>
        <p:txBody>
          <a:bodyPr lIns="45719" rIns="45719"/>
          <a:lstStyle/>
          <a:p>
            <a:pPr/>
          </a:p>
        </p:txBody>
      </p:sp>
      <p:sp>
        <p:nvSpPr>
          <p:cNvPr id="53" name="Shape 33"/>
          <p:cNvSpPr/>
          <p:nvPr/>
        </p:nvSpPr>
        <p:spPr>
          <a:xfrm>
            <a:off x="5820155" y="4779619"/>
            <a:ext cx="3238807" cy="12701"/>
          </a:xfrm>
          <a:prstGeom prst="rect">
            <a:avLst/>
          </a:prstGeom>
          <a:solidFill>
            <a:srgbClr val="111111"/>
          </a:solidFill>
          <a:ln w="12700">
            <a:solidFill>
              <a:srgbClr val="111111">
                <a:alpha val="0"/>
              </a:srgbClr>
            </a:solidFill>
          </a:ln>
        </p:spPr>
        <p:txBody>
          <a:bodyPr lIns="45719" rIns="45719"/>
          <a:lstStyle/>
          <a:p>
            <a:pPr/>
          </a:p>
        </p:txBody>
      </p:sp>
      <p:grpSp>
        <p:nvGrpSpPr>
          <p:cNvPr id="56" name="Text 34"/>
          <p:cNvGrpSpPr/>
          <p:nvPr/>
        </p:nvGrpSpPr>
        <p:grpSpPr>
          <a:xfrm>
            <a:off x="5820155" y="4581144"/>
            <a:ext cx="3238807" cy="165710"/>
            <a:chOff x="0" y="0"/>
            <a:chExt cx="3238805" cy="165709"/>
          </a:xfrm>
        </p:grpSpPr>
        <p:sp>
          <p:nvSpPr>
            <p:cNvPr id="54" name="Rectangle"/>
            <p:cNvSpPr/>
            <p:nvPr/>
          </p:nvSpPr>
          <p:spPr>
            <a:xfrm>
              <a:off x="0" y="0"/>
              <a:ext cx="3238806"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5" name="SHEET INDEX"/>
            <p:cNvSpPr txBox="1"/>
            <p:nvPr/>
          </p:nvSpPr>
          <p:spPr>
            <a:xfrm>
              <a:off x="55562" y="38709"/>
              <a:ext cx="312768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SHEET INDEX</a:t>
              </a:r>
            </a:p>
          </p:txBody>
        </p:sp>
      </p:grpSp>
      <p:graphicFrame>
        <p:nvGraphicFramePr>
          <p:cNvPr id="57" name="Table 0"/>
          <p:cNvGraphicFramePr/>
          <p:nvPr/>
        </p:nvGraphicFramePr>
        <p:xfrm>
          <a:off x="5820155" y="4791455"/>
          <a:ext cx="3228748" cy="1895554"/>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07415"/>
                <a:gridCol w="2421331"/>
              </a:tblGrid>
              <a:tr h="172323">
                <a:tc>
                  <a:txBody>
                    <a:bodyPr/>
                    <a:lstStyle/>
                    <a:p>
                      <a:pPr algn="ctr">
                        <a:defRPr sz="1800"/>
                      </a:pPr>
                      <a:r>
                        <a:rPr b="1" sz="700">
                          <a:latin typeface="Arial"/>
                          <a:ea typeface="Arial"/>
                          <a:cs typeface="Arial"/>
                          <a:sym typeface="Arial"/>
                        </a:rPr>
                        <a:t>SHEET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l">
                        <a:defRPr sz="1800"/>
                      </a:pPr>
                      <a:r>
                        <a:rPr b="1" sz="700">
                          <a:latin typeface="Arial"/>
                          <a:ea typeface="Arial"/>
                          <a:cs typeface="Arial"/>
                          <a:sym typeface="Arial"/>
                        </a:rPr>
                        <a:t>DESCRIPTION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2323">
                <a:tc>
                  <a:txBody>
                    <a:bodyPr/>
                    <a:lstStyle/>
                    <a:p>
                      <a:pPr algn="ctr">
                        <a:defRPr sz="1800"/>
                      </a:pPr>
                      <a:r>
                        <a:rPr sz="700">
                          <a:latin typeface="Arial"/>
                          <a:ea typeface="Arial"/>
                          <a:cs typeface="Arial"/>
                          <a:sym typeface="Arial"/>
                        </a:rPr>
                        <a:t>E0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COVER SHEET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E1.0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PLOT PLAN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E1.1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ENLARGED PLOT PLAN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E1.2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DEMOLITION PLAN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E2.0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SINGLE LINE DIAGRAM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E4.0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SIGNAGE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S1.1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PAD DETAILS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S1.2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GEAR PAD DETAILS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S2.0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GROUNDING DETAILS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2323">
                <a:tc>
                  <a:txBody>
                    <a:bodyPr/>
                    <a:lstStyle/>
                    <a:p>
                      <a:pPr algn="ctr">
                        <a:defRPr sz="1800"/>
                      </a:pPr>
                      <a:r>
                        <a:rPr sz="700">
                          <a:latin typeface="Arial"/>
                          <a:ea typeface="Arial"/>
                          <a:cs typeface="Arial"/>
                          <a:sym typeface="Arial"/>
                        </a:rPr>
                        <a:t>S3.0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FENCING DETAILS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58" name="Shape 35"/>
          <p:cNvSpPr/>
          <p:nvPr/>
        </p:nvSpPr>
        <p:spPr>
          <a:xfrm>
            <a:off x="9144000" y="4572000"/>
            <a:ext cx="3258007" cy="2305203"/>
          </a:xfrm>
          <a:prstGeom prst="rect">
            <a:avLst/>
          </a:prstGeom>
          <a:solidFill>
            <a:srgbClr val="FFFFFF"/>
          </a:solidFill>
          <a:ln w="12700">
            <a:solidFill>
              <a:srgbClr val="111111"/>
            </a:solidFill>
          </a:ln>
        </p:spPr>
        <p:txBody>
          <a:bodyPr lIns="45719" rIns="45719"/>
          <a:lstStyle/>
          <a:p>
            <a:pPr/>
          </a:p>
        </p:txBody>
      </p:sp>
      <p:sp>
        <p:nvSpPr>
          <p:cNvPr id="59" name="Shape 36"/>
          <p:cNvSpPr/>
          <p:nvPr/>
        </p:nvSpPr>
        <p:spPr>
          <a:xfrm>
            <a:off x="9153143" y="4581144"/>
            <a:ext cx="3238806" cy="209399"/>
          </a:xfrm>
          <a:prstGeom prst="rect">
            <a:avLst/>
          </a:prstGeom>
          <a:solidFill>
            <a:srgbClr val="E9E9E9"/>
          </a:solidFill>
          <a:ln w="12700">
            <a:miter lim="400000"/>
          </a:ln>
        </p:spPr>
        <p:txBody>
          <a:bodyPr lIns="45719" rIns="45719"/>
          <a:lstStyle/>
          <a:p>
            <a:pPr/>
          </a:p>
        </p:txBody>
      </p:sp>
      <p:sp>
        <p:nvSpPr>
          <p:cNvPr id="60" name="Shape 37"/>
          <p:cNvSpPr/>
          <p:nvPr/>
        </p:nvSpPr>
        <p:spPr>
          <a:xfrm>
            <a:off x="9153143" y="4779619"/>
            <a:ext cx="3238806" cy="12701"/>
          </a:xfrm>
          <a:prstGeom prst="rect">
            <a:avLst/>
          </a:prstGeom>
          <a:solidFill>
            <a:srgbClr val="111111"/>
          </a:solidFill>
          <a:ln w="12700">
            <a:solidFill>
              <a:srgbClr val="111111">
                <a:alpha val="0"/>
              </a:srgbClr>
            </a:solidFill>
          </a:ln>
        </p:spPr>
        <p:txBody>
          <a:bodyPr lIns="45719" rIns="45719"/>
          <a:lstStyle/>
          <a:p>
            <a:pPr/>
          </a:p>
        </p:txBody>
      </p:sp>
      <p:grpSp>
        <p:nvGrpSpPr>
          <p:cNvPr id="63" name="Text 38"/>
          <p:cNvGrpSpPr/>
          <p:nvPr/>
        </p:nvGrpSpPr>
        <p:grpSpPr>
          <a:xfrm>
            <a:off x="9153143" y="4581144"/>
            <a:ext cx="3238806" cy="165710"/>
            <a:chOff x="0" y="0"/>
            <a:chExt cx="3238805" cy="165709"/>
          </a:xfrm>
        </p:grpSpPr>
        <p:sp>
          <p:nvSpPr>
            <p:cNvPr id="61" name="Rectangle"/>
            <p:cNvSpPr/>
            <p:nvPr/>
          </p:nvSpPr>
          <p:spPr>
            <a:xfrm>
              <a:off x="0" y="0"/>
              <a:ext cx="3238806"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2" name="SITE INFORMATION"/>
            <p:cNvSpPr txBox="1"/>
            <p:nvPr/>
          </p:nvSpPr>
          <p:spPr>
            <a:xfrm>
              <a:off x="55562" y="38709"/>
              <a:ext cx="3127681"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SITE INFORMATION</a:t>
              </a:r>
            </a:p>
          </p:txBody>
        </p:sp>
      </p:grpSp>
      <p:graphicFrame>
        <p:nvGraphicFramePr>
          <p:cNvPr id="64" name="Table 1"/>
          <p:cNvGraphicFramePr/>
          <p:nvPr/>
        </p:nvGraphicFramePr>
        <p:xfrm>
          <a:off x="9153143" y="4791455"/>
          <a:ext cx="3228748" cy="15343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775765"/>
                <a:gridCol w="1452982"/>
              </a:tblGrid>
              <a:tr h="191795">
                <a:tc>
                  <a:txBody>
                    <a:bodyPr/>
                    <a:lstStyle/>
                    <a:p>
                      <a:pPr algn="l">
                        <a:defRPr sz="1800"/>
                      </a:pPr>
                      <a:r>
                        <a:rPr b="1" sz="700">
                          <a:latin typeface="Arial"/>
                          <a:ea typeface="Arial"/>
                          <a:cs typeface="Arial"/>
                          <a:sym typeface="Arial"/>
                        </a:rPr>
                        <a:t>SITE LATITUDE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{{LAT}}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ZONING DISTRICT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{{ZONING}}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FLOOD ZONE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{{FLOOD_ZONE}}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EXPOSURE CATEGORY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{{EXPOSURE}}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SEISMIC DESIGN CATEGORY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{{SDC}}</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RISK CATEGORY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{{RISK_CAT}}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WIND SPEED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{{WIND_SPEED}}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SNOW LOAD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700">
                          <a:latin typeface="Arial"/>
                          <a:ea typeface="Arial"/>
                          <a:cs typeface="Arial"/>
                          <a:sym typeface="Arial"/>
                        </a:rPr>
                        <a:t>{{SNOW_LOAD}}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5" name="Shape 39"/>
          <p:cNvSpPr/>
          <p:nvPr/>
        </p:nvSpPr>
        <p:spPr>
          <a:xfrm>
            <a:off x="5810098" y="1238097"/>
            <a:ext cx="6858001" cy="3448203"/>
          </a:xfrm>
          <a:prstGeom prst="rect">
            <a:avLst/>
          </a:prstGeom>
          <a:solidFill>
            <a:srgbClr val="FFFFFF"/>
          </a:solidFill>
          <a:ln w="12700">
            <a:solidFill>
              <a:srgbClr val="111111"/>
            </a:solidFill>
          </a:ln>
        </p:spPr>
        <p:txBody>
          <a:bodyPr lIns="45719" rIns="45719"/>
          <a:lstStyle/>
          <a:p>
            <a:pPr/>
          </a:p>
        </p:txBody>
      </p:sp>
      <p:sp>
        <p:nvSpPr>
          <p:cNvPr id="66" name="Text 40"/>
          <p:cNvSpPr txBox="1"/>
          <p:nvPr/>
        </p:nvSpPr>
        <p:spPr>
          <a:xfrm>
            <a:off x="5952744" y="1351534"/>
            <a:ext cx="6572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ELECTRICAL ENGINEER</a:t>
            </a:r>
          </a:p>
        </p:txBody>
      </p:sp>
      <p:sp>
        <p:nvSpPr>
          <p:cNvPr id="67" name="Text 41"/>
          <p:cNvSpPr txBox="1"/>
          <p:nvPr/>
        </p:nvSpPr>
        <p:spPr>
          <a:xfrm>
            <a:off x="5952744" y="1610548"/>
            <a:ext cx="6572708" cy="7967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{{EE_NAME}}</a:t>
            </a:r>
          </a:p>
          <a:p>
            <a:pPr>
              <a:defRPr sz="800">
                <a:latin typeface="Arial"/>
                <a:ea typeface="Arial"/>
                <a:cs typeface="Arial"/>
                <a:sym typeface="Arial"/>
              </a:defRPr>
            </a:pPr>
            <a:r>
              <a:t xml:space="preserve"> {{EE_FIRM}}</a:t>
            </a:r>
          </a:p>
          <a:p>
            <a:pPr>
              <a:defRPr sz="800">
                <a:latin typeface="Arial"/>
                <a:ea typeface="Arial"/>
                <a:cs typeface="Arial"/>
                <a:sym typeface="Arial"/>
              </a:defRPr>
            </a:pPr>
            <a:r>
              <a:t xml:space="preserve"> {{EE_ADDR}}</a:t>
            </a:r>
          </a:p>
          <a:p>
            <a:pPr>
              <a:defRPr sz="800">
                <a:latin typeface="Arial"/>
                <a:ea typeface="Arial"/>
                <a:cs typeface="Arial"/>
                <a:sym typeface="Arial"/>
              </a:defRPr>
            </a:pPr>
            <a:r>
              <a:t xml:space="preserve"> {{EE_CITY_STATE_ZIP}}</a:t>
            </a:r>
          </a:p>
          <a:p>
            <a:pPr>
              <a:defRPr sz="800">
                <a:latin typeface="Arial"/>
                <a:ea typeface="Arial"/>
                <a:cs typeface="Arial"/>
                <a:sym typeface="Arial"/>
              </a:defRPr>
            </a:pPr>
            <a:r>
              <a:t xml:space="preserve"> PHONE: {{EE_PHONE}}</a:t>
            </a:r>
          </a:p>
          <a:p>
            <a:pPr>
              <a:defRPr sz="800">
                <a:latin typeface="Arial"/>
                <a:ea typeface="Arial"/>
                <a:cs typeface="Arial"/>
                <a:sym typeface="Arial"/>
              </a:defRPr>
            </a:pPr>
            <a:r>
              <a:t xml:space="preserve"> FAX: {{EE_FAX}} EXT. {{EE_EXT}}</a:t>
            </a:r>
          </a:p>
          <a:p>
            <a:pPr>
              <a:defRPr sz="800">
                <a:latin typeface="Arial"/>
                <a:ea typeface="Arial"/>
                <a:cs typeface="Arial"/>
                <a:sym typeface="Arial"/>
              </a:defRPr>
            </a:pPr>
            <a:r>
              <a:t xml:space="preserve"> {{EE_EMAIL}} </a:t>
            </a:r>
          </a:p>
        </p:txBody>
      </p:sp>
      <p:sp>
        <p:nvSpPr>
          <p:cNvPr id="68" name="Text 42"/>
          <p:cNvSpPr txBox="1"/>
          <p:nvPr/>
        </p:nvSpPr>
        <p:spPr>
          <a:xfrm>
            <a:off x="5952744" y="2606090"/>
            <a:ext cx="6572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STRUCTURAL ENGINEER</a:t>
            </a:r>
          </a:p>
        </p:txBody>
      </p:sp>
      <p:sp>
        <p:nvSpPr>
          <p:cNvPr id="69" name="Text 43"/>
          <p:cNvSpPr txBox="1"/>
          <p:nvPr/>
        </p:nvSpPr>
        <p:spPr>
          <a:xfrm>
            <a:off x="5952744" y="2855504"/>
            <a:ext cx="6572708" cy="6824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{{SE_NAME}}</a:t>
            </a:r>
          </a:p>
          <a:p>
            <a:pPr>
              <a:defRPr sz="800">
                <a:latin typeface="Arial"/>
                <a:ea typeface="Arial"/>
                <a:cs typeface="Arial"/>
                <a:sym typeface="Arial"/>
              </a:defRPr>
            </a:pPr>
            <a:r>
              <a:t xml:space="preserve"> {{SE_FIRM}}</a:t>
            </a:r>
          </a:p>
          <a:p>
            <a:pPr>
              <a:defRPr sz="800">
                <a:latin typeface="Arial"/>
                <a:ea typeface="Arial"/>
                <a:cs typeface="Arial"/>
                <a:sym typeface="Arial"/>
              </a:defRPr>
            </a:pPr>
            <a:r>
              <a:t xml:space="preserve"> {{SE_ADDR}}</a:t>
            </a:r>
          </a:p>
          <a:p>
            <a:pPr>
              <a:defRPr sz="800">
                <a:latin typeface="Arial"/>
                <a:ea typeface="Arial"/>
                <a:cs typeface="Arial"/>
                <a:sym typeface="Arial"/>
              </a:defRPr>
            </a:pPr>
            <a:r>
              <a:t xml:space="preserve"> {{SE_CITY_STATE_ZIP}}</a:t>
            </a:r>
          </a:p>
          <a:p>
            <a:pPr>
              <a:defRPr sz="800">
                <a:latin typeface="Arial"/>
                <a:ea typeface="Arial"/>
                <a:cs typeface="Arial"/>
                <a:sym typeface="Arial"/>
              </a:defRPr>
            </a:pPr>
            <a:r>
              <a:t xml:space="preserve"> PHONE: {{SE_PHONE}}</a:t>
            </a:r>
          </a:p>
          <a:p>
            <a:pPr>
              <a:defRPr sz="800">
                <a:latin typeface="Arial"/>
                <a:ea typeface="Arial"/>
                <a:cs typeface="Arial"/>
                <a:sym typeface="Arial"/>
              </a:defRPr>
            </a:pPr>
            <a:r>
              <a:t xml:space="preserve"> {{SE_EMAIL}} </a:t>
            </a:r>
          </a:p>
        </p:txBody>
      </p:sp>
      <p:sp>
        <p:nvSpPr>
          <p:cNvPr id="70" name="Text 44"/>
          <p:cNvSpPr txBox="1"/>
          <p:nvPr/>
        </p:nvSpPr>
        <p:spPr>
          <a:xfrm>
            <a:off x="5952744" y="3719830"/>
            <a:ext cx="6572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SCOPE OF WORK</a:t>
            </a:r>
          </a:p>
        </p:txBody>
      </p:sp>
      <p:sp>
        <p:nvSpPr>
          <p:cNvPr id="71" name="Text 45"/>
          <p:cNvSpPr txBox="1"/>
          <p:nvPr/>
        </p:nvSpPr>
        <p:spPr>
          <a:xfrm>
            <a:off x="5952744" y="3863666"/>
            <a:ext cx="6572708" cy="8221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 xml:space="preserve"> THE PROJECT IS TO INSTALL NEW BATTERY ENERGY STORAGE SYSTEMS (BESS) AND ASSOCIATED ELECTRICAL EQUIPMENT.</a:t>
            </a:r>
          </a:p>
          <a:p>
            <a:pPr>
              <a:defRPr sz="800"/>
            </a:pPr>
          </a:p>
          <a:p>
            <a:pPr>
              <a:defRPr sz="800">
                <a:latin typeface="Arial"/>
                <a:ea typeface="Arial"/>
                <a:cs typeface="Arial"/>
                <a:sym typeface="Arial"/>
              </a:defRPr>
            </a:pPr>
            <a:r>
              <a:t xml:space="preserve"> ALL CONSTRUCTION SHALL COMPLY WITH THE CODES ADOPTED BY {{AHJ_CITY}} AS DESCRIBED IN THE {{MUNICIPAL_CODE}} INCLUDING BUT NOT LIMITED TO {{CODE_YEAR}} {{STATE_CODE}}, CFC, CBC &amp; OSHA.</a:t>
            </a:r>
          </a:p>
          <a:p>
            <a:pPr>
              <a:defRPr sz="800"/>
            </a:pPr>
          </a:p>
          <a:p>
            <a:pPr>
              <a:defRPr sz="800">
                <a:latin typeface="Arial"/>
                <a:ea typeface="Arial"/>
                <a:cs typeface="Arial"/>
                <a:sym typeface="Arial"/>
              </a:defRPr>
            </a:pPr>
            <a:r>
              <a:t xml:space="preserve"> THE SYSTEM WILL BE INTERCONNECTED TO AND WILL BE OPERATING IN PARALLEL WITH THE ELECTRICAL UTILITY UNDER THE REQUIREMENTS OF {{UTILITY}} BY {{AHJ_CITY}} AT THE TIME OF PERMIT APPLICATION. </a:t>
            </a:r>
          </a:p>
        </p:txBody>
      </p:sp>
      <p:sp>
        <p:nvSpPr>
          <p:cNvPr id="72" name="Shape 46"/>
          <p:cNvSpPr/>
          <p:nvPr/>
        </p:nvSpPr>
        <p:spPr>
          <a:xfrm>
            <a:off x="5810098" y="6953098"/>
            <a:ext cx="3467406" cy="2095806"/>
          </a:xfrm>
          <a:prstGeom prst="rect">
            <a:avLst/>
          </a:prstGeom>
          <a:solidFill>
            <a:srgbClr val="FFFFFF">
              <a:alpha val="92000"/>
            </a:srgbClr>
          </a:solidFill>
          <a:ln w="25400">
            <a:solidFill>
              <a:srgbClr val="C81E1E"/>
            </a:solidFill>
          </a:ln>
        </p:spPr>
        <p:txBody>
          <a:bodyPr lIns="45719" rIns="45719"/>
          <a:lstStyle/>
          <a:p>
            <a:pPr/>
          </a:p>
        </p:txBody>
      </p:sp>
      <p:grpSp>
        <p:nvGrpSpPr>
          <p:cNvPr id="75" name="Text 47"/>
          <p:cNvGrpSpPr/>
          <p:nvPr/>
        </p:nvGrpSpPr>
        <p:grpSpPr>
          <a:xfrm>
            <a:off x="5924398" y="7048195"/>
            <a:ext cx="3238806" cy="352959"/>
            <a:chOff x="0" y="0"/>
            <a:chExt cx="3238805" cy="352958"/>
          </a:xfrm>
        </p:grpSpPr>
        <p:sp>
          <p:nvSpPr>
            <p:cNvPr id="73" name="Rectangle"/>
            <p:cNvSpPr/>
            <p:nvPr/>
          </p:nvSpPr>
          <p:spPr>
            <a:xfrm>
              <a:off x="-1" y="-1"/>
              <a:ext cx="3238807" cy="352960"/>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1600"/>
              </a:pPr>
            </a:p>
          </p:txBody>
        </p:sp>
        <p:sp>
          <p:nvSpPr>
            <p:cNvPr id="74" name="{{PERMIT_NO}}"/>
            <p:cNvSpPr txBox="1"/>
            <p:nvPr/>
          </p:nvSpPr>
          <p:spPr>
            <a:xfrm>
              <a:off x="30162" y="27402"/>
              <a:ext cx="3178481" cy="29815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ctr">
              <a:spAutoFit/>
            </a:bodyPr>
            <a:lstStyle>
              <a:lvl1pPr algn="ctr">
                <a:defRPr b="1" spc="75" sz="1600">
                  <a:latin typeface="Arial"/>
                  <a:ea typeface="Arial"/>
                  <a:cs typeface="Arial"/>
                  <a:sym typeface="Arial"/>
                </a:defRPr>
              </a:lvl1pPr>
            </a:lstStyle>
            <a:p>
              <a:pPr/>
              <a:r>
                <a:t>{{PERMIT_NO}}</a:t>
              </a:r>
            </a:p>
          </p:txBody>
        </p:sp>
      </p:grpSp>
      <p:sp>
        <p:nvSpPr>
          <p:cNvPr id="76" name="Text 48"/>
          <p:cNvSpPr txBox="1"/>
          <p:nvPr/>
        </p:nvSpPr>
        <p:spPr>
          <a:xfrm>
            <a:off x="5924398" y="7476942"/>
            <a:ext cx="3238806" cy="13554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000">
                <a:solidFill>
                  <a:srgbClr val="C81E1E"/>
                </a:solidFill>
                <a:latin typeface="Arial"/>
                <a:ea typeface="Arial"/>
                <a:cs typeface="Arial"/>
                <a:sym typeface="Arial"/>
              </a:defRPr>
            </a:lvl1pPr>
          </a:lstStyle>
          <a:p>
            <a:pPr/>
            <a:r>
              <a:t>REVIEWED FOR COMPLIANCE</a:t>
            </a:r>
          </a:p>
        </p:txBody>
      </p:sp>
      <p:sp>
        <p:nvSpPr>
          <p:cNvPr id="77" name="Text 49"/>
          <p:cNvSpPr txBox="1"/>
          <p:nvPr/>
        </p:nvSpPr>
        <p:spPr>
          <a:xfrm>
            <a:off x="5924398" y="7645806"/>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900">
                <a:solidFill>
                  <a:srgbClr val="C81E1E"/>
                </a:solidFill>
                <a:latin typeface="Arial"/>
                <a:ea typeface="Arial"/>
                <a:cs typeface="Arial"/>
                <a:sym typeface="Arial"/>
              </a:defRPr>
            </a:lvl1pPr>
          </a:lstStyle>
          <a:p>
            <a:pPr/>
            <a:r>
              <a:t>{{AHJ_CITY}}</a:t>
            </a:r>
          </a:p>
        </p:txBody>
      </p:sp>
      <p:sp>
        <p:nvSpPr>
          <p:cNvPr id="78" name="Text 50"/>
          <p:cNvSpPr txBox="1"/>
          <p:nvPr/>
        </p:nvSpPr>
        <p:spPr>
          <a:xfrm>
            <a:off x="5924398" y="7816342"/>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C81E1E"/>
                </a:solidFill>
                <a:latin typeface="Arial"/>
                <a:ea typeface="Arial"/>
                <a:cs typeface="Arial"/>
                <a:sym typeface="Arial"/>
              </a:defRPr>
            </a:lvl1pPr>
          </a:lstStyle>
          <a:p>
            <a:pPr/>
            <a:r>
              <a:t>{{AHJ_DEPT}}</a:t>
            </a:r>
          </a:p>
        </p:txBody>
      </p:sp>
      <p:sp>
        <p:nvSpPr>
          <p:cNvPr id="79" name="Text 51"/>
          <p:cNvSpPr txBox="1"/>
          <p:nvPr/>
        </p:nvSpPr>
        <p:spPr>
          <a:xfrm>
            <a:off x="5924398" y="7994649"/>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latin typeface="Arial"/>
                <a:ea typeface="Arial"/>
                <a:cs typeface="Arial"/>
                <a:sym typeface="Arial"/>
              </a:defRPr>
            </a:lvl1pPr>
          </a:lstStyle>
          <a:p>
            <a:pPr/>
            <a:r>
              <a:t>For {{PROJECT_NAME}} Subject to Code Compliance.</a:t>
            </a:r>
          </a:p>
        </p:txBody>
      </p:sp>
      <p:grpSp>
        <p:nvGrpSpPr>
          <p:cNvPr id="82" name="Text 52"/>
          <p:cNvGrpSpPr/>
          <p:nvPr/>
        </p:nvGrpSpPr>
        <p:grpSpPr>
          <a:xfrm>
            <a:off x="5924398" y="8150962"/>
            <a:ext cx="3238806" cy="162764"/>
            <a:chOff x="0" y="0"/>
            <a:chExt cx="3238805" cy="162763"/>
          </a:xfrm>
        </p:grpSpPr>
        <p:sp>
          <p:nvSpPr>
            <p:cNvPr id="80" name="Rectangle"/>
            <p:cNvSpPr/>
            <p:nvPr/>
          </p:nvSpPr>
          <p:spPr>
            <a:xfrm>
              <a:off x="-1" y="-1"/>
              <a:ext cx="3238807" cy="162765"/>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81" name="REVISIONS NEED REVIEW"/>
            <p:cNvSpPr txBox="1"/>
            <p:nvPr/>
          </p:nvSpPr>
          <p:spPr>
            <a:xfrm>
              <a:off x="17462" y="493"/>
              <a:ext cx="3203881"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REVISIONS NEED REVIEW</a:t>
              </a:r>
            </a:p>
          </p:txBody>
        </p:sp>
      </p:grpSp>
      <p:sp>
        <p:nvSpPr>
          <p:cNvPr id="83" name="Text 53"/>
          <p:cNvSpPr txBox="1"/>
          <p:nvPr/>
        </p:nvSpPr>
        <p:spPr>
          <a:xfrm>
            <a:off x="5924398" y="8351056"/>
            <a:ext cx="3238806" cy="36150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 xml:space="preserve"> ☐ BUILDING CODE ☐ ELECTRICAL CODE</a:t>
            </a:r>
          </a:p>
          <a:p>
            <a:pPr>
              <a:defRPr sz="800">
                <a:latin typeface="Arial"/>
                <a:ea typeface="Arial"/>
                <a:cs typeface="Arial"/>
                <a:sym typeface="Arial"/>
              </a:defRPr>
            </a:pPr>
            <a:r>
              <a:t xml:space="preserve"> ☐ MECHANICAL CODE ☐ PLUMBING CODE</a:t>
            </a:r>
          </a:p>
          <a:p>
            <a:pPr>
              <a:defRPr sz="800">
                <a:latin typeface="Arial"/>
                <a:ea typeface="Arial"/>
                <a:cs typeface="Arial"/>
                <a:sym typeface="Arial"/>
              </a:defRPr>
            </a:pPr>
            <a:r>
              <a:t xml:space="preserve"> ☐ GRADING/DRAINAGE ☐ STRUCTURAL DESIGN </a:t>
            </a:r>
          </a:p>
        </p:txBody>
      </p:sp>
      <p:sp>
        <p:nvSpPr>
          <p:cNvPr id="84" name="Shape 54"/>
          <p:cNvSpPr/>
          <p:nvPr/>
        </p:nvSpPr>
        <p:spPr>
          <a:xfrm>
            <a:off x="9144000" y="6953098"/>
            <a:ext cx="3448202" cy="2076602"/>
          </a:xfrm>
          <a:prstGeom prst="rect">
            <a:avLst/>
          </a:prstGeom>
          <a:solidFill>
            <a:srgbClr val="FFFFFF"/>
          </a:solidFill>
          <a:ln w="12700">
            <a:solidFill>
              <a:srgbClr val="111111"/>
            </a:solidFill>
          </a:ln>
        </p:spPr>
        <p:txBody>
          <a:bodyPr lIns="45719" rIns="45719"/>
          <a:lstStyle/>
          <a:p>
            <a:pPr/>
          </a:p>
        </p:txBody>
      </p:sp>
      <p:sp>
        <p:nvSpPr>
          <p:cNvPr id="85" name="Text 55"/>
          <p:cNvSpPr txBox="1"/>
          <p:nvPr/>
        </p:nvSpPr>
        <p:spPr>
          <a:xfrm>
            <a:off x="9249156" y="7042301"/>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u="sng">
                <a:latin typeface="Arial"/>
                <a:ea typeface="Arial"/>
                <a:cs typeface="Arial"/>
                <a:sym typeface="Arial"/>
              </a:defRPr>
            </a:pPr>
            <a:r>
              <a:t xml:space="preserve">SPECIAL INSPECTION LIST </a:t>
            </a:r>
            <a:r>
              <a:rPr u="none"/>
              <a:t>(checked items as required)</a:t>
            </a:r>
          </a:p>
        </p:txBody>
      </p:sp>
      <p:sp>
        <p:nvSpPr>
          <p:cNvPr id="86" name="Text 56"/>
          <p:cNvSpPr txBox="1"/>
          <p:nvPr/>
        </p:nvSpPr>
        <p:spPr>
          <a:xfrm>
            <a:off x="9249156" y="72132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FOUNDATION</a:t>
            </a:r>
          </a:p>
        </p:txBody>
      </p:sp>
      <p:sp>
        <p:nvSpPr>
          <p:cNvPr id="87" name="Text 57"/>
          <p:cNvSpPr txBox="1"/>
          <p:nvPr/>
        </p:nvSpPr>
        <p:spPr>
          <a:xfrm>
            <a:off x="10906049" y="72132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Grading and Drainage</a:t>
            </a:r>
          </a:p>
        </p:txBody>
      </p:sp>
      <p:sp>
        <p:nvSpPr>
          <p:cNvPr id="88" name="Text 58"/>
          <p:cNvSpPr txBox="1"/>
          <p:nvPr/>
        </p:nvSpPr>
        <p:spPr>
          <a:xfrm>
            <a:off x="9249156" y="73659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Piers and Caissons</a:t>
            </a:r>
          </a:p>
        </p:txBody>
      </p:sp>
      <p:sp>
        <p:nvSpPr>
          <p:cNvPr id="89" name="Text 59"/>
          <p:cNvSpPr txBox="1"/>
          <p:nvPr/>
        </p:nvSpPr>
        <p:spPr>
          <a:xfrm>
            <a:off x="10906049" y="73659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Shotcrete or Masonry</a:t>
            </a:r>
          </a:p>
        </p:txBody>
      </p:sp>
      <p:sp>
        <p:nvSpPr>
          <p:cNvPr id="90" name="Text 60"/>
          <p:cNvSpPr txBox="1"/>
          <p:nvPr/>
        </p:nvSpPr>
        <p:spPr>
          <a:xfrm>
            <a:off x="9249156" y="75187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CONCRETE</a:t>
            </a:r>
          </a:p>
        </p:txBody>
      </p:sp>
      <p:sp>
        <p:nvSpPr>
          <p:cNvPr id="91" name="Text 61"/>
          <p:cNvSpPr txBox="1"/>
          <p:nvPr/>
        </p:nvSpPr>
        <p:spPr>
          <a:xfrm>
            <a:off x="10906049" y="75187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Concrete Placement</a:t>
            </a:r>
          </a:p>
        </p:txBody>
      </p:sp>
      <p:sp>
        <p:nvSpPr>
          <p:cNvPr id="92" name="Text 62"/>
          <p:cNvSpPr txBox="1"/>
          <p:nvPr/>
        </p:nvSpPr>
        <p:spPr>
          <a:xfrm>
            <a:off x="9249156" y="76704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f'c = ___ psi</a:t>
            </a:r>
          </a:p>
        </p:txBody>
      </p:sp>
      <p:sp>
        <p:nvSpPr>
          <p:cNvPr id="93" name="Text 63"/>
          <p:cNvSpPr txBox="1"/>
          <p:nvPr/>
        </p:nvSpPr>
        <p:spPr>
          <a:xfrm>
            <a:off x="10906049" y="76704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Welding</a:t>
            </a:r>
          </a:p>
        </p:txBody>
      </p:sp>
      <p:sp>
        <p:nvSpPr>
          <p:cNvPr id="94" name="Text 64"/>
          <p:cNvSpPr txBox="1"/>
          <p:nvPr/>
        </p:nvSpPr>
        <p:spPr>
          <a:xfrm>
            <a:off x="9249156" y="78231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Reinf. Placement</a:t>
            </a:r>
          </a:p>
        </p:txBody>
      </p:sp>
      <p:sp>
        <p:nvSpPr>
          <p:cNvPr id="95" name="Text 65"/>
          <p:cNvSpPr txBox="1"/>
          <p:nvPr/>
        </p:nvSpPr>
        <p:spPr>
          <a:xfrm>
            <a:off x="10906049" y="78231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High Strength Bolting</a:t>
            </a:r>
          </a:p>
        </p:txBody>
      </p:sp>
      <p:sp>
        <p:nvSpPr>
          <p:cNvPr id="96" name="Text 66"/>
          <p:cNvSpPr txBox="1"/>
          <p:nvPr/>
        </p:nvSpPr>
        <p:spPr>
          <a:xfrm>
            <a:off x="9249156" y="79759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Bolts in Concrete</a:t>
            </a:r>
          </a:p>
        </p:txBody>
      </p:sp>
      <p:sp>
        <p:nvSpPr>
          <p:cNvPr id="97" name="Text 67"/>
          <p:cNvSpPr txBox="1"/>
          <p:nvPr/>
        </p:nvSpPr>
        <p:spPr>
          <a:xfrm>
            <a:off x="10906049" y="79759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Field/Shop Welding</a:t>
            </a:r>
          </a:p>
        </p:txBody>
      </p:sp>
      <p:sp>
        <p:nvSpPr>
          <p:cNvPr id="98" name="Text 68"/>
          <p:cNvSpPr txBox="1"/>
          <p:nvPr/>
        </p:nvSpPr>
        <p:spPr>
          <a:xfrm>
            <a:off x="9249156" y="81276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STEEL CONSTRUCTION</a:t>
            </a:r>
          </a:p>
        </p:txBody>
      </p:sp>
      <p:sp>
        <p:nvSpPr>
          <p:cNvPr id="99" name="Text 69"/>
          <p:cNvSpPr txBox="1"/>
          <p:nvPr/>
        </p:nvSpPr>
        <p:spPr>
          <a:xfrm>
            <a:off x="10906049" y="812769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SEISMIC</a:t>
            </a:r>
          </a:p>
        </p:txBody>
      </p:sp>
      <p:sp>
        <p:nvSpPr>
          <p:cNvPr id="100" name="Text 70"/>
          <p:cNvSpPr txBox="1"/>
          <p:nvPr/>
        </p:nvSpPr>
        <p:spPr>
          <a:xfrm>
            <a:off x="9249156" y="82803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Field/Shop Welding</a:t>
            </a:r>
          </a:p>
        </p:txBody>
      </p:sp>
      <p:sp>
        <p:nvSpPr>
          <p:cNvPr id="101" name="Text 71"/>
          <p:cNvSpPr txBox="1"/>
          <p:nvPr/>
        </p:nvSpPr>
        <p:spPr>
          <a:xfrm>
            <a:off x="10906049" y="8280399"/>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Structural Wood</a:t>
            </a:r>
          </a:p>
        </p:txBody>
      </p:sp>
      <p:sp>
        <p:nvSpPr>
          <p:cNvPr id="102" name="Text 72"/>
          <p:cNvSpPr txBox="1"/>
          <p:nvPr/>
        </p:nvSpPr>
        <p:spPr>
          <a:xfrm>
            <a:off x="9249156" y="84331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FIRE RESISTANCE</a:t>
            </a:r>
          </a:p>
        </p:txBody>
      </p:sp>
      <p:sp>
        <p:nvSpPr>
          <p:cNvPr id="103" name="Text 73"/>
          <p:cNvSpPr txBox="1"/>
          <p:nvPr/>
        </p:nvSpPr>
        <p:spPr>
          <a:xfrm>
            <a:off x="10906049" y="8433104"/>
            <a:ext cx="15819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Structural Steel</a:t>
            </a:r>
          </a:p>
        </p:txBody>
      </p:sp>
      <p:sp>
        <p:nvSpPr>
          <p:cNvPr id="104" name="Text 74"/>
          <p:cNvSpPr txBox="1"/>
          <p:nvPr/>
        </p:nvSpPr>
        <p:spPr>
          <a:xfrm>
            <a:off x="9249156" y="8623299"/>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 STRUCTURAL OBSERVATIONS (list below)</a:t>
            </a:r>
          </a:p>
        </p:txBody>
      </p:sp>
      <p:sp>
        <p:nvSpPr>
          <p:cNvPr id="105" name="Shape 75"/>
          <p:cNvSpPr/>
          <p:nvPr/>
        </p:nvSpPr>
        <p:spPr>
          <a:xfrm>
            <a:off x="5810098" y="8953804"/>
            <a:ext cx="6590996" cy="2971801"/>
          </a:xfrm>
          <a:prstGeom prst="rect">
            <a:avLst/>
          </a:prstGeom>
          <a:solidFill>
            <a:srgbClr val="FFFFFF"/>
          </a:solidFill>
          <a:ln w="12700">
            <a:solidFill>
              <a:srgbClr val="111111"/>
            </a:solidFill>
          </a:ln>
        </p:spPr>
        <p:txBody>
          <a:bodyPr lIns="45719" rIns="45719"/>
          <a:lstStyle/>
          <a:p>
            <a:pPr/>
          </a:p>
        </p:txBody>
      </p:sp>
      <p:sp>
        <p:nvSpPr>
          <p:cNvPr id="106" name="Shape 76"/>
          <p:cNvSpPr/>
          <p:nvPr/>
        </p:nvSpPr>
        <p:spPr>
          <a:xfrm>
            <a:off x="5820155" y="8962949"/>
            <a:ext cx="6572709" cy="209399"/>
          </a:xfrm>
          <a:prstGeom prst="rect">
            <a:avLst/>
          </a:prstGeom>
          <a:solidFill>
            <a:srgbClr val="E9E9E9"/>
          </a:solidFill>
          <a:ln w="12700">
            <a:miter lim="400000"/>
          </a:ln>
        </p:spPr>
        <p:txBody>
          <a:bodyPr lIns="45719" rIns="45719"/>
          <a:lstStyle/>
          <a:p>
            <a:pPr/>
          </a:p>
        </p:txBody>
      </p:sp>
      <p:sp>
        <p:nvSpPr>
          <p:cNvPr id="107" name="Shape 77"/>
          <p:cNvSpPr/>
          <p:nvPr/>
        </p:nvSpPr>
        <p:spPr>
          <a:xfrm>
            <a:off x="5820155" y="9161423"/>
            <a:ext cx="6572709" cy="12701"/>
          </a:xfrm>
          <a:prstGeom prst="rect">
            <a:avLst/>
          </a:prstGeom>
          <a:solidFill>
            <a:srgbClr val="111111"/>
          </a:solidFill>
          <a:ln w="12700">
            <a:solidFill>
              <a:srgbClr val="111111">
                <a:alpha val="0"/>
              </a:srgbClr>
            </a:solidFill>
          </a:ln>
        </p:spPr>
        <p:txBody>
          <a:bodyPr lIns="45719" rIns="45719"/>
          <a:lstStyle/>
          <a:p>
            <a:pPr/>
          </a:p>
        </p:txBody>
      </p:sp>
      <p:grpSp>
        <p:nvGrpSpPr>
          <p:cNvPr id="110" name="Text 78"/>
          <p:cNvGrpSpPr/>
          <p:nvPr/>
        </p:nvGrpSpPr>
        <p:grpSpPr>
          <a:xfrm>
            <a:off x="5820155" y="8962949"/>
            <a:ext cx="6572709" cy="165710"/>
            <a:chOff x="0" y="0"/>
            <a:chExt cx="6572707" cy="165709"/>
          </a:xfrm>
        </p:grpSpPr>
        <p:sp>
          <p:nvSpPr>
            <p:cNvPr id="108" name="Rectangle"/>
            <p:cNvSpPr/>
            <p:nvPr/>
          </p:nvSpPr>
          <p:spPr>
            <a:xfrm>
              <a:off x="0" y="0"/>
              <a:ext cx="6572708"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109" name="BESS EQUIPMENT SUMMARY"/>
            <p:cNvSpPr txBox="1"/>
            <p:nvPr/>
          </p:nvSpPr>
          <p:spPr>
            <a:xfrm>
              <a:off x="55562" y="38709"/>
              <a:ext cx="6461583"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BESS EQUIPMENT SUMMARY</a:t>
              </a:r>
            </a:p>
          </p:txBody>
        </p:sp>
      </p:grpSp>
      <p:graphicFrame>
        <p:nvGraphicFramePr>
          <p:cNvPr id="111" name="Table 2"/>
          <p:cNvGraphicFramePr/>
          <p:nvPr/>
        </p:nvGraphicFramePr>
        <p:xfrm>
          <a:off x="5820155" y="9172346"/>
          <a:ext cx="6562650" cy="15343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241194"/>
                <a:gridCol w="1366114"/>
                <a:gridCol w="1445666"/>
                <a:gridCol w="1509674"/>
              </a:tblGrid>
              <a:tr h="191795">
                <a:tc>
                  <a:txBody>
                    <a:bodyPr/>
                    <a:lstStyle/>
                    <a:p>
                      <a:pPr algn="ctr">
                        <a:defRPr sz="1800"/>
                      </a:pPr>
                      <a:r>
                        <a:rPr b="1" sz="700">
                          <a:latin typeface="Arial"/>
                          <a:ea typeface="Arial"/>
                          <a:cs typeface="Arial"/>
                          <a:sym typeface="Arial"/>
                        </a:rPr>
                        <a:t>PARAMETER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BATTERY CABINET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BATTERY INVERTER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BATTERY SNAPSHOT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91795">
                <a:tc>
                  <a:txBody>
                    <a:bodyPr/>
                    <a:lstStyle/>
                    <a:p>
                      <a:pPr algn="l">
                        <a:defRPr sz="1800"/>
                      </a:pPr>
                      <a:r>
                        <a:rPr b="1" sz="700">
                          <a:latin typeface="Arial"/>
                          <a:ea typeface="Arial"/>
                          <a:cs typeface="Arial"/>
                          <a:sym typeface="Arial"/>
                        </a:rPr>
                        <a:t>MANUFACTURER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{{BAT_MFR}}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{{BAT_MFR}}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{{BAT_MFR}}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MODEL NUMBER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QUANTITY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BATTERY BANK CAPACITY (kWh)</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N/A</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RATED VOLTAGE (V)</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{{DCV}}</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{{INV_AC}}</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{{VOLTAGE}}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ENCLOSURE TYPE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91795">
                <a:tc>
                  <a:txBody>
                    <a:bodyPr/>
                    <a:lstStyle/>
                    <a:p>
                      <a:pPr algn="l">
                        <a:defRPr sz="1800"/>
                      </a:pPr>
                      <a:r>
                        <a:rPr b="1" sz="700">
                          <a:latin typeface="Arial"/>
                          <a:ea typeface="Arial"/>
                          <a:cs typeface="Arial"/>
                          <a:sym typeface="Arial"/>
                        </a:rPr>
                        <a:t>RATED OUTPUT CURRENT (A)</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12" name="Shape 79"/>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113" name="Shape 80"/>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137" name="ClearSky Logo"/>
          <p:cNvPicPr/>
          <p:nvPr/>
        </p:nvPicPr>
        <p:blipFill>
          <a:blip r:embed="rId2" cstate="print"/>
          <a:stretch>
            <a:fillRect/>
          </a:stretch>
        </p:blipFill>
        <p:spPr>
          <a:xfrm>
            <a:off x="16822342" y="673813"/>
            <a:ext cx="574909" cy="481174"/>
          </a:xfrm>
          <a:prstGeom prst="rect">
            <a:avLst/>
          </a:prstGeom>
        </p:spPr>
      </p:pic>
      <p:sp>
        <p:nvSpPr>
          <p:cNvPr id="115" name="Text 83"/>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{{GC_CITY}}, {{GC_STATE}} {{GC_ZIP}}</a:t>
            </a:r>
          </a:p>
          <a:p>
            <a:pPr algn="ctr">
              <a:defRPr sz="800">
                <a:solidFill>
                  <a:srgbClr val="222222"/>
                </a:solidFill>
                <a:latin typeface="Arial"/>
                <a:ea typeface="Arial"/>
                <a:cs typeface="Arial"/>
                <a:sym typeface="Arial"/>
              </a:defRPr>
            </a:pPr>
            <a:r>
              <a:t>PH: {{GC_PHONE}}</a:t>
            </a:r>
          </a:p>
        </p:txBody>
      </p:sp>
      <p:sp>
        <p:nvSpPr>
          <p:cNvPr id="116" name="Shape 84"/>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117" name="Shape 85"/>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118" name="Text 86"/>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119" name="Text 87"/>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120" name="Text 88"/>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121" name="Text 89"/>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122" name="Shape 90"/>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123" name="Shape 91"/>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124" name="Table 3"/>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25" name="Shape 92"/>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126" name="Shape 93"/>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129" name="Text 94"/>
          <p:cNvGrpSpPr/>
          <p:nvPr/>
        </p:nvGrpSpPr>
        <p:grpSpPr>
          <a:xfrm>
            <a:off x="16154705" y="9372599"/>
            <a:ext cx="1905611" cy="858624"/>
            <a:chOff x="0" y="0"/>
            <a:chExt cx="1905610" cy="858622"/>
          </a:xfrm>
        </p:grpSpPr>
        <p:sp>
          <p:nvSpPr>
            <p:cNvPr id="127"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128" name="E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E0</a:t>
              </a:r>
            </a:p>
          </p:txBody>
        </p:sp>
      </p:grpSp>
      <p:sp>
        <p:nvSpPr>
          <p:cNvPr id="130" name="Shape 95"/>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131" name="Shape 96"/>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134" name="Text 97"/>
          <p:cNvGrpSpPr/>
          <p:nvPr/>
        </p:nvGrpSpPr>
        <p:grpSpPr>
          <a:xfrm>
            <a:off x="16154705" y="10230307"/>
            <a:ext cx="1905611" cy="286208"/>
            <a:chOff x="0" y="0"/>
            <a:chExt cx="1905610" cy="286206"/>
          </a:xfrm>
        </p:grpSpPr>
        <p:sp>
          <p:nvSpPr>
            <p:cNvPr id="132"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133" name="COVER SHEET"/>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COVER SHEET</a:t>
              </a:r>
            </a:p>
          </p:txBody>
        </p:sp>
      </p:grpSp>
      <p:sp>
        <p:nvSpPr>
          <p:cNvPr id="135" name="Shape 98"/>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136" name="Table 4"/>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901" name="Text 901"/>
          <p:cNvSpPr txBox="1"/>
          <p:nvPr/>
        </p:nvSpPr>
        <p:spPr>
          <a:xfrm>
            <a:off x="9557098" y="1351483"/>
            <a:ext cx="3200000" cy="127001"/>
          </a:xfrm>
          <a:prstGeom prst="rect">
            <a:avLst/>
          </a:prstGeom>
          <a:ln w="12700">
            <a:miter lim="400000"/>
          </a:ln>
        </p:spPr>
        <p:txBody>
          <a:bodyPr lIns="0" tIns="0" rIns="0" bIns="0" anchor="ctr">
            <a:spAutoFit/>
          </a:bodyPr>
          <a:lstStyle>
            <a:lvl1pPr>
              <a:defRPr b="1" sz="800">
                <a:latin typeface="Arial"/>
                <a:ea typeface="Arial"/>
                <a:cs typeface="Arial"/>
                <a:sym typeface="Arial"/>
              </a:defRPr>
            </a:lvl1pPr>
          </a:lstStyle>
          <a:p>
            <a:pPr/>
            <a:r>
              <a:t>PROPERTY OWNER</a:t>
            </a:r>
          </a:p>
        </p:txBody>
      </p:sp>
      <p:sp>
        <p:nvSpPr>
          <p:cNvPr id="902" name="Text 902"/>
          <p:cNvSpPr txBox="1"/>
          <p:nvPr/>
        </p:nvSpPr>
        <p:spPr>
          <a:xfrm>
            <a:off x="9557098" y="1478584"/>
            <a:ext cx="3200000" cy="500000"/>
          </a:xfrm>
          <a:prstGeom prst="rect">
            <a:avLst/>
          </a:prstGeom>
          <a:ln w="12700">
            <a:miter lim="400000"/>
          </a:ln>
        </p:spPr>
        <p:txBody>
          <a:bodyPr lIns="0" tIns="0" rIns="0" bIns="0" anchor="ctr">
            <a:spAutoFit/>
          </a:bodyPr>
          <a:lstStyle/>
          <a:p>
            <a:pPr>
              <a:defRPr sz="800">
                <a:latin typeface="Arial"/>
              </a:defRPr>
            </a:pPr>
            <a:r>
              <a:t xml:space="preserve"> {{OWNER_NAME}}</a:t>
            </a:r>
          </a:p>
          <a:p>
            <a:pPr>
              <a:defRPr sz="800">
                <a:latin typeface="Arial"/>
              </a:defRPr>
            </a:pPr>
            <a:r>
              <a:t xml:space="preserve"> {{OWNER_ADDR}}</a:t>
            </a:r>
          </a:p>
        </p:txBody>
      </p:sp>
      <p:sp>
        <p:nvSpPr>
          <p:cNvPr id="903" name="Text 903"/>
          <p:cNvSpPr txBox="1"/>
          <p:nvPr/>
        </p:nvSpPr>
        <p:spPr>
          <a:xfrm>
            <a:off x="9557098" y="2606040"/>
            <a:ext cx="3200000" cy="127001"/>
          </a:xfrm>
          <a:prstGeom prst="rect">
            <a:avLst/>
          </a:prstGeom>
          <a:ln w="12700">
            <a:miter lim="400000"/>
          </a:ln>
        </p:spPr>
        <p:txBody>
          <a:bodyPr lIns="0" tIns="0" rIns="0" bIns="0" anchor="ctr">
            <a:spAutoFit/>
          </a:bodyPr>
          <a:lstStyle>
            <a:lvl1pPr>
              <a:defRPr b="1" sz="800">
                <a:latin typeface="Arial"/>
                <a:ea typeface="Arial"/>
                <a:cs typeface="Arial"/>
                <a:sym typeface="Arial"/>
              </a:defRPr>
            </a:lvl1pPr>
          </a:lstStyle>
          <a:p>
            <a:pPr/>
            <a:r>
              <a:t>GENERAL CONTRACTOR</a:t>
            </a:r>
          </a:p>
        </p:txBody>
      </p:sp>
      <p:sp>
        <p:nvSpPr>
          <p:cNvPr id="904" name="Text 904"/>
          <p:cNvSpPr txBox="1"/>
          <p:nvPr/>
        </p:nvSpPr>
        <p:spPr>
          <a:xfrm>
            <a:off x="9557098" y="2733141"/>
            <a:ext cx="3200000" cy="500000"/>
          </a:xfrm>
          <a:prstGeom prst="rect">
            <a:avLst/>
          </a:prstGeom>
          <a:ln w="12700">
            <a:miter lim="400000"/>
          </a:ln>
        </p:spPr>
        <p:txBody>
          <a:bodyPr lIns="0" tIns="0" rIns="0" bIns="0" anchor="ctr">
            <a:spAutoFit/>
          </a:bodyPr>
          <a:lstStyle/>
          <a:p>
            <a:pPr>
              <a:defRPr sz="800">
                <a:latin typeface="Arial"/>
              </a:defRPr>
            </a:pPr>
            <a:r>
              <a:t xml:space="preserve"> {{GC_NAME}}  DBA CLEARSKY</a:t>
            </a:r>
          </a:p>
          <a:p>
            <a:pPr>
              <a:defRPr sz="800">
                <a:latin typeface="Arial"/>
              </a:defRPr>
            </a:pPr>
            <a:r>
              <a:t xml:space="preserve"> {{GC_CITY}}, {{GC_STATE}} {{GC_ZIP}}</a:t>
            </a:r>
          </a:p>
          <a:p>
            <a:pPr>
              <a:defRPr sz="800">
                <a:latin typeface="Arial"/>
              </a:defRPr>
            </a:pPr>
            <a:r>
              <a:t xml:space="preserve"> {{GC_EMAIL}}  PHONE: {{GC_PHONE}}</a:t>
            </a:r>
          </a:p>
          <a:p>
            <a:pPr>
              <a:defRPr sz="800">
                <a:latin typeface="Arial"/>
              </a:defRPr>
            </a:pPr>
            <a:r>
              <a:t xml:space="preserve"> LICENSE NUMBER: {{GC_LIC}}</a:t>
            </a:r>
          </a:p>
          <a:p>
            <a:pPr>
              <a:defRPr sz="800">
                <a:latin typeface="Arial"/>
              </a:defRPr>
            </a:pPr>
            <a:r>
              <a:t xml:space="preserve"> LICENSE CLASSIFICATION: C10, EL</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8"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139"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140"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141" name="Shape 3"/>
          <p:cNvSpPr/>
          <p:nvPr/>
        </p:nvSpPr>
        <p:spPr>
          <a:xfrm>
            <a:off x="342899" y="1429207"/>
            <a:ext cx="15354607" cy="9639605"/>
          </a:xfrm>
          <a:prstGeom prst="rect">
            <a:avLst/>
          </a:prstGeom>
          <a:solidFill>
            <a:srgbClr val="FFFFFF"/>
          </a:solidFill>
          <a:ln w="12700">
            <a:solidFill>
              <a:srgbClr val="999999"/>
            </a:solidFill>
          </a:ln>
        </p:spPr>
        <p:txBody>
          <a:bodyPr lIns="45719" rIns="45719"/>
          <a:lstStyle/>
          <a:p>
            <a:pPr/>
          </a:p>
        </p:txBody>
      </p:sp>
      <p:sp>
        <p:nvSpPr>
          <p:cNvPr id="142" name="Shape 4"/>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143" name="Shape 5"/>
          <p:cNvSpPr/>
          <p:nvPr/>
        </p:nvSpPr>
        <p:spPr>
          <a:xfrm>
            <a:off x="342900" y="342900"/>
            <a:ext cx="2686507" cy="590702"/>
          </a:xfrm>
          <a:prstGeom prst="rect">
            <a:avLst/>
          </a:prstGeom>
          <a:solidFill>
            <a:srgbClr val="FFFFFF"/>
          </a:solidFill>
          <a:ln w="12700">
            <a:solidFill>
              <a:srgbClr val="111111"/>
            </a:solidFill>
          </a:ln>
        </p:spPr>
        <p:txBody>
          <a:bodyPr lIns="45719" rIns="45719"/>
          <a:lstStyle/>
          <a:p>
            <a:pPr/>
          </a:p>
        </p:txBody>
      </p:sp>
      <p:graphicFrame>
        <p:nvGraphicFramePr>
          <p:cNvPr id="144" name="Table 0"/>
          <p:cNvGraphicFramePr/>
          <p:nvPr/>
        </p:nvGraphicFramePr>
        <p:xfrm>
          <a:off x="352043" y="352043"/>
          <a:ext cx="2658163" cy="5239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86053"/>
                <a:gridCol w="886053"/>
                <a:gridCol w="886053"/>
              </a:tblGrid>
              <a:tr h="174650">
                <a:tc gridSpan="3">
                  <a:txBody>
                    <a:bodyPr/>
                    <a:lstStyle/>
                    <a:p>
                      <a:pPr algn="ctr">
                        <a:defRPr sz="1800"/>
                      </a:pPr>
                      <a:r>
                        <a:rPr b="1" sz="700">
                          <a:latin typeface="Arial"/>
                          <a:ea typeface="Arial"/>
                          <a:cs typeface="Arial"/>
                          <a:sym typeface="Arial"/>
                        </a:rPr>
                        <a:t>ESTIMATED TRENCHING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hMerge="1">
                  <a:tcPr/>
                </a:tc>
                <a:tc hMerge="1">
                  <a:tcPr/>
                </a:tc>
              </a:tr>
              <a:tr h="174650">
                <a:tc>
                  <a:txBody>
                    <a:bodyPr/>
                    <a:lstStyle/>
                    <a:p>
                      <a:pPr algn="l">
                        <a:defRPr sz="1800"/>
                      </a:pPr>
                      <a:r>
                        <a:rPr b="1" sz="700">
                          <a:latin typeface="Arial"/>
                          <a:ea typeface="Arial"/>
                          <a:cs typeface="Arial"/>
                          <a:sym typeface="Arial"/>
                        </a:rPr>
                        <a:t>ASPHALT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650">
                <a:tc>
                  <a:txBody>
                    <a:bodyPr/>
                    <a:lstStyle/>
                    <a:p>
                      <a:pPr algn="l">
                        <a:defRPr sz="1800"/>
                      </a:pPr>
                      <a:r>
                        <a:rPr b="1" sz="700">
                          <a:latin typeface="Arial"/>
                          <a:ea typeface="Arial"/>
                          <a:cs typeface="Arial"/>
                          <a:sym typeface="Arial"/>
                        </a:rPr>
                        <a:t>SET OF {{NUM}}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45" name="Shape 6"/>
          <p:cNvSpPr/>
          <p:nvPr/>
        </p:nvSpPr>
        <p:spPr>
          <a:xfrm>
            <a:off x="3238805" y="342900"/>
            <a:ext cx="4972507" cy="875995"/>
          </a:xfrm>
          <a:prstGeom prst="rect">
            <a:avLst/>
          </a:prstGeom>
          <a:solidFill>
            <a:srgbClr val="FFFFFF"/>
          </a:solidFill>
          <a:ln w="12700">
            <a:solidFill>
              <a:srgbClr val="111111"/>
            </a:solidFill>
          </a:ln>
        </p:spPr>
        <p:txBody>
          <a:bodyPr lIns="45719" rIns="45719"/>
          <a:lstStyle/>
          <a:p>
            <a:pPr/>
          </a:p>
        </p:txBody>
      </p:sp>
      <p:graphicFrame>
        <p:nvGraphicFramePr>
          <p:cNvPr id="146" name="Table 1"/>
          <p:cNvGraphicFramePr/>
          <p:nvPr/>
        </p:nvGraphicFramePr>
        <p:xfrm>
          <a:off x="3247949" y="352043"/>
          <a:ext cx="4943248" cy="6958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647749"/>
                <a:gridCol w="1647749"/>
                <a:gridCol w="1647749"/>
              </a:tblGrid>
              <a:tr h="173965">
                <a:tc gridSpan="3">
                  <a:txBody>
                    <a:bodyPr/>
                    <a:lstStyle/>
                    <a:p>
                      <a:pPr algn="l">
                        <a:defRPr sz="1800"/>
                      </a:pPr>
                      <a:r>
                        <a:rPr b="1" sz="700">
                          <a:latin typeface="Arial"/>
                          <a:ea typeface="Arial"/>
                          <a:cs typeface="Arial"/>
                          <a:sym typeface="Arial"/>
                        </a:rPr>
                        <a:t>SYSTEM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hMerge="1">
                  <a:tcPr/>
                </a:tc>
                <a:tc hMerge="1">
                  <a:tcPr/>
                </a:tc>
              </a:tr>
              <a:tr h="173965">
                <a:tc>
                  <a:txBody>
                    <a:bodyPr/>
                    <a:lstStyle/>
                    <a:p>
                      <a:pPr algn="l">
                        <a:defRPr sz="1800"/>
                      </a:pPr>
                      <a:r>
                        <a:rPr b="1" sz="700">
                          <a:latin typeface="Arial"/>
                          <a:ea typeface="Arial"/>
                          <a:cs typeface="Arial"/>
                          <a:sym typeface="Arial"/>
                        </a:rPr>
                        <a:t>INVERTERS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gridSpan="2">
                  <a:txBody>
                    <a:bodyPr/>
                    <a:lstStyle/>
                    <a:p>
                      <a:pPr algn="l">
                        <a:defRPr sz="1800"/>
                      </a:pPr>
                      <a:r>
                        <a:rPr sz="700">
                          <a:latin typeface="Arial"/>
                          <a:ea typeface="Arial"/>
                          <a:cs typeface="Arial"/>
                          <a:sym typeface="Arial"/>
                        </a:rPr>
                        <a:t>({{BAT_QTY}}) {{BAT_MFR}} {{BAT_MODEL}}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hMerge="1">
                  <a:tcPr/>
                </a:tc>
              </a:tr>
              <a:tr h="173965">
                <a:tc>
                  <a:txBody>
                    <a:bodyPr/>
                    <a:lstStyle/>
                    <a:p>
                      <a:pPr algn="l">
                        <a:defRPr sz="1800"/>
                      </a:pPr>
                      <a:r>
                        <a:rPr b="1" sz="700">
                          <a:latin typeface="Arial"/>
                          <a:ea typeface="Arial"/>
                          <a:cs typeface="Arial"/>
                          <a:sym typeface="Arial"/>
                        </a:rPr>
                        <a:t>BATTERY MODULES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gridSpan="2">
                  <a:txBody>
                    <a:bodyPr/>
                    <a:lstStyle/>
                    <a:p>
                      <a:pPr algn="l">
                        <a:defRPr sz="1800"/>
                      </a:pPr>
                      <a:r>
                        <a:rPr sz="700">
                          <a:latin typeface="Arial"/>
                          <a:ea typeface="Arial"/>
                          <a:cs typeface="Arial"/>
                          <a:sym typeface="Arial"/>
                        </a:rPr>
                        <a:t>({{BAT_QTY}}) {{BAT_MFR}} LFP — Lithium Iron Phosphate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hMerge="1">
                  <a:tcPr/>
                </a:tc>
              </a:tr>
              <a:tr h="173965">
                <a:tc>
                  <a:txBody>
                    <a:bodyPr/>
                    <a:lstStyle/>
                    <a:p>
                      <a:pPr algn="l">
                        <a:defRPr sz="1800"/>
                      </a:pPr>
                      <a:r>
                        <a:rPr b="1" sz="700">
                          <a:latin typeface="Arial"/>
                          <a:ea typeface="Arial"/>
                          <a:cs typeface="Arial"/>
                          <a:sym typeface="Arial"/>
                        </a:rPr>
                        <a:t>RATED CAPACITY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47" name="Shape 7"/>
          <p:cNvSpPr/>
          <p:nvPr/>
        </p:nvSpPr>
        <p:spPr>
          <a:xfrm>
            <a:off x="8382304" y="342900"/>
            <a:ext cx="3258008" cy="875995"/>
          </a:xfrm>
          <a:prstGeom prst="rect">
            <a:avLst/>
          </a:prstGeom>
          <a:solidFill>
            <a:srgbClr val="FFFFFF"/>
          </a:solidFill>
          <a:ln w="12700">
            <a:solidFill>
              <a:srgbClr val="111111"/>
            </a:solidFill>
          </a:ln>
        </p:spPr>
        <p:txBody>
          <a:bodyPr lIns="45719" rIns="45719"/>
          <a:lstStyle/>
          <a:p>
            <a:pPr/>
          </a:p>
        </p:txBody>
      </p:sp>
      <p:graphicFrame>
        <p:nvGraphicFramePr>
          <p:cNvPr id="148" name="Table 2"/>
          <p:cNvGraphicFramePr/>
          <p:nvPr/>
        </p:nvGraphicFramePr>
        <p:xfrm>
          <a:off x="8391449" y="352043"/>
          <a:ext cx="3228748" cy="73426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76249"/>
                <a:gridCol w="1076249"/>
                <a:gridCol w="1076249"/>
              </a:tblGrid>
              <a:tr h="183566">
                <a:tc gridSpan="3">
                  <a:txBody>
                    <a:bodyPr/>
                    <a:lstStyle/>
                    <a:p>
                      <a:pPr algn="ctr">
                        <a:defRPr sz="1800"/>
                      </a:pPr>
                      <a:r>
                        <a:rPr b="1" sz="700">
                          <a:latin typeface="Arial"/>
                          <a:ea typeface="Arial"/>
                          <a:cs typeface="Arial"/>
                          <a:sym typeface="Arial"/>
                        </a:rPr>
                        <a:t>LEGEND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hMerge="1">
                  <a:tcPr/>
                </a:tc>
                <a:tc hMerge="1">
                  <a:tcPr/>
                </a:tc>
              </a:tr>
              <a:tr h="183566">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BOUNDARY LINE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83566">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ENCLOSURE FOOTPRINT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83566">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POINT OF INTERCONNECTION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49" name="Shape 8"/>
          <p:cNvSpPr/>
          <p:nvPr/>
        </p:nvSpPr>
        <p:spPr>
          <a:xfrm>
            <a:off x="12191695" y="2286000"/>
            <a:ext cx="3448203" cy="933603"/>
          </a:xfrm>
          <a:prstGeom prst="rect">
            <a:avLst/>
          </a:prstGeom>
          <a:solidFill>
            <a:srgbClr val="FFFFFF"/>
          </a:solidFill>
          <a:ln w="12700">
            <a:solidFill>
              <a:srgbClr val="111111"/>
            </a:solidFill>
          </a:ln>
        </p:spPr>
        <p:txBody>
          <a:bodyPr lIns="45719" rIns="45719"/>
          <a:lstStyle/>
          <a:p>
            <a:pPr/>
          </a:p>
        </p:txBody>
      </p:sp>
      <p:sp>
        <p:nvSpPr>
          <p:cNvPr id="150" name="Text 9"/>
          <p:cNvSpPr txBox="1"/>
          <p:nvPr/>
        </p:nvSpPr>
        <p:spPr>
          <a:xfrm>
            <a:off x="12296850" y="2375205"/>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SITE</a:t>
            </a:r>
          </a:p>
        </p:txBody>
      </p:sp>
      <p:sp>
        <p:nvSpPr>
          <p:cNvPr id="151" name="Text 10"/>
          <p:cNvSpPr txBox="1"/>
          <p:nvPr/>
        </p:nvSpPr>
        <p:spPr>
          <a:xfrm>
            <a:off x="12296850" y="2555123"/>
            <a:ext cx="3238806" cy="3395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{{PROJECT_NAME}}</a:t>
            </a:r>
          </a:p>
          <a:p>
            <a:pPr>
              <a:defRPr sz="800">
                <a:latin typeface="Arial"/>
                <a:ea typeface="Arial"/>
                <a:cs typeface="Arial"/>
                <a:sym typeface="Arial"/>
              </a:defRPr>
            </a:pPr>
            <a:r>
              <a:t>{{SITE_ADDR}}</a:t>
            </a:r>
          </a:p>
          <a:p>
            <a:pPr>
              <a:defRPr sz="800">
                <a:latin typeface="Arial"/>
                <a:ea typeface="Arial"/>
                <a:cs typeface="Arial"/>
                <a:sym typeface="Arial"/>
              </a:defRPr>
            </a:pPr>
            <a:r>
              <a:t>{{CITY_SHORT}}, {{STATE}} {{ZIP}} · APN: {{PIN_NO}}</a:t>
            </a:r>
          </a:p>
        </p:txBody>
      </p:sp>
      <p:sp>
        <p:nvSpPr>
          <p:cNvPr id="152" name="Shape 11"/>
          <p:cNvSpPr/>
          <p:nvPr/>
        </p:nvSpPr>
        <p:spPr>
          <a:xfrm>
            <a:off x="12191695" y="3238805"/>
            <a:ext cx="3467406" cy="1809599"/>
          </a:xfrm>
          <a:prstGeom prst="rect">
            <a:avLst/>
          </a:prstGeom>
          <a:solidFill>
            <a:srgbClr val="FFFFFF">
              <a:alpha val="92000"/>
            </a:srgbClr>
          </a:solidFill>
          <a:ln w="25400">
            <a:solidFill>
              <a:srgbClr val="C81E1E"/>
            </a:solidFill>
          </a:ln>
        </p:spPr>
        <p:txBody>
          <a:bodyPr lIns="45719" rIns="45719"/>
          <a:lstStyle/>
          <a:p>
            <a:pPr/>
          </a:p>
        </p:txBody>
      </p:sp>
      <p:grpSp>
        <p:nvGrpSpPr>
          <p:cNvPr id="155" name="Text 12"/>
          <p:cNvGrpSpPr/>
          <p:nvPr/>
        </p:nvGrpSpPr>
        <p:grpSpPr>
          <a:xfrm>
            <a:off x="12305995" y="3333901"/>
            <a:ext cx="3238806" cy="286208"/>
            <a:chOff x="0" y="0"/>
            <a:chExt cx="3238805" cy="286206"/>
          </a:xfrm>
        </p:grpSpPr>
        <p:sp>
          <p:nvSpPr>
            <p:cNvPr id="153" name="Rectangle"/>
            <p:cNvSpPr/>
            <p:nvPr/>
          </p:nvSpPr>
          <p:spPr>
            <a:xfrm>
              <a:off x="-1" y="0"/>
              <a:ext cx="3238807" cy="286207"/>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1300"/>
              </a:pPr>
            </a:p>
          </p:txBody>
        </p:sp>
        <p:sp>
          <p:nvSpPr>
            <p:cNvPr id="154" name="{{PERMIT_NO}}"/>
            <p:cNvSpPr txBox="1"/>
            <p:nvPr/>
          </p:nvSpPr>
          <p:spPr>
            <a:xfrm>
              <a:off x="42862" y="25154"/>
              <a:ext cx="3153081" cy="2358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pc="75" sz="1300">
                  <a:latin typeface="Arial"/>
                  <a:ea typeface="Arial"/>
                  <a:cs typeface="Arial"/>
                  <a:sym typeface="Arial"/>
                </a:defRPr>
              </a:lvl1pPr>
            </a:lstStyle>
            <a:p>
              <a:pPr/>
              <a:r>
                <a:t>{{PERMIT_NO}}</a:t>
              </a:r>
            </a:p>
          </p:txBody>
        </p:sp>
      </p:grpSp>
      <p:sp>
        <p:nvSpPr>
          <p:cNvPr id="156" name="Text 13"/>
          <p:cNvSpPr txBox="1"/>
          <p:nvPr/>
        </p:nvSpPr>
        <p:spPr>
          <a:xfrm>
            <a:off x="12305995" y="3669995"/>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C81E1E"/>
                </a:solidFill>
                <a:latin typeface="Arial"/>
                <a:ea typeface="Arial"/>
                <a:cs typeface="Arial"/>
                <a:sym typeface="Arial"/>
              </a:defRPr>
            </a:lvl1pPr>
          </a:lstStyle>
          <a:p>
            <a:pPr/>
            <a:r>
              <a:t>REVIEWED FOR COMPLIANCE</a:t>
            </a:r>
          </a:p>
        </p:txBody>
      </p:sp>
      <p:sp>
        <p:nvSpPr>
          <p:cNvPr id="157" name="Text 14"/>
          <p:cNvSpPr txBox="1"/>
          <p:nvPr/>
        </p:nvSpPr>
        <p:spPr>
          <a:xfrm>
            <a:off x="12305995" y="3821328"/>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C81E1E"/>
                </a:solidFill>
                <a:latin typeface="Arial"/>
                <a:ea typeface="Arial"/>
                <a:cs typeface="Arial"/>
                <a:sym typeface="Arial"/>
              </a:defRPr>
            </a:lvl1pPr>
          </a:lstStyle>
          <a:p>
            <a:pPr/>
            <a:r>
              <a:t>{{AHJ_FIRE_DEPT}}</a:t>
            </a:r>
          </a:p>
        </p:txBody>
      </p:sp>
      <p:sp>
        <p:nvSpPr>
          <p:cNvPr id="158" name="Text 15"/>
          <p:cNvSpPr txBox="1"/>
          <p:nvPr/>
        </p:nvSpPr>
        <p:spPr>
          <a:xfrm>
            <a:off x="12305995" y="3981348"/>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latin typeface="Arial"/>
                <a:ea typeface="Arial"/>
                <a:cs typeface="Arial"/>
                <a:sym typeface="Arial"/>
              </a:defRPr>
            </a:lvl1pPr>
          </a:lstStyle>
          <a:p>
            <a:pPr/>
            <a:r>
              <a:t>Subject to Plan Check &amp; Field Inspection</a:t>
            </a:r>
          </a:p>
        </p:txBody>
      </p:sp>
      <p:grpSp>
        <p:nvGrpSpPr>
          <p:cNvPr id="161" name="Text 16"/>
          <p:cNvGrpSpPr/>
          <p:nvPr/>
        </p:nvGrpSpPr>
        <p:grpSpPr>
          <a:xfrm>
            <a:off x="12305995" y="4136745"/>
            <a:ext cx="3238806" cy="162764"/>
            <a:chOff x="0" y="0"/>
            <a:chExt cx="3238805" cy="162763"/>
          </a:xfrm>
        </p:grpSpPr>
        <p:sp>
          <p:nvSpPr>
            <p:cNvPr id="159" name="Rectangle"/>
            <p:cNvSpPr/>
            <p:nvPr/>
          </p:nvSpPr>
          <p:spPr>
            <a:xfrm>
              <a:off x="-1" y="-1"/>
              <a:ext cx="3238807" cy="162765"/>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160" name="REVISIONS NEED REVIEW"/>
            <p:cNvSpPr txBox="1"/>
            <p:nvPr/>
          </p:nvSpPr>
          <p:spPr>
            <a:xfrm>
              <a:off x="17462" y="493"/>
              <a:ext cx="3203881"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REVISIONS NEED REVIEW</a:t>
              </a:r>
            </a:p>
          </p:txBody>
        </p:sp>
      </p:grpSp>
      <p:sp>
        <p:nvSpPr>
          <p:cNvPr id="162" name="Shape 17"/>
          <p:cNvSpPr/>
          <p:nvPr/>
        </p:nvSpPr>
        <p:spPr>
          <a:xfrm>
            <a:off x="342900" y="11190478"/>
            <a:ext cx="15335402" cy="12701"/>
          </a:xfrm>
          <a:prstGeom prst="rect">
            <a:avLst/>
          </a:prstGeom>
          <a:solidFill>
            <a:srgbClr val="111111"/>
          </a:solidFill>
          <a:ln w="12700">
            <a:solidFill>
              <a:srgbClr val="111111">
                <a:alpha val="0"/>
              </a:srgbClr>
            </a:solidFill>
          </a:ln>
        </p:spPr>
        <p:txBody>
          <a:bodyPr lIns="45719" rIns="45719"/>
          <a:lstStyle/>
          <a:p>
            <a:pPr/>
          </a:p>
        </p:txBody>
      </p:sp>
      <p:grpSp>
        <p:nvGrpSpPr>
          <p:cNvPr id="165" name="Text 18"/>
          <p:cNvGrpSpPr/>
          <p:nvPr/>
        </p:nvGrpSpPr>
        <p:grpSpPr>
          <a:xfrm>
            <a:off x="342900" y="11214861"/>
            <a:ext cx="15335402" cy="140157"/>
            <a:chOff x="0" y="0"/>
            <a:chExt cx="15335401" cy="140156"/>
          </a:xfrm>
        </p:grpSpPr>
        <p:sp>
          <p:nvSpPr>
            <p:cNvPr id="163" name="Rectangle"/>
            <p:cNvSpPr/>
            <p:nvPr/>
          </p:nvSpPr>
          <p:spPr>
            <a:xfrm>
              <a:off x="0" y="24943"/>
              <a:ext cx="15335402"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164" name="1 — PLOT PLAN · SCALE: 1&quot; = {{NUM}}'"/>
            <p:cNvSpPr txBox="1"/>
            <p:nvPr/>
          </p:nvSpPr>
          <p:spPr>
            <a:xfrm>
              <a:off x="42862" y="-1"/>
              <a:ext cx="1524967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PLOT PLAN · SCALE: 1" = {{NUM}}'</a:t>
              </a:r>
            </a:p>
          </p:txBody>
        </p:sp>
      </p:grpSp>
      <p:sp>
        <p:nvSpPr>
          <p:cNvPr id="166" name="Shape 19"/>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167" name="Shape 20"/>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192" name="ClearSky Logo"/>
          <p:cNvPicPr/>
          <p:nvPr/>
        </p:nvPicPr>
        <p:blipFill>
          <a:blip r:embed="rId2" cstate="print"/>
          <a:stretch>
            <a:fillRect/>
          </a:stretch>
        </p:blipFill>
        <p:spPr>
          <a:xfrm>
            <a:off x="16822342" y="673813"/>
            <a:ext cx="574909" cy="481174"/>
          </a:xfrm>
          <a:prstGeom prst="rect">
            <a:avLst/>
          </a:prstGeom>
        </p:spPr>
      </p:pic>
      <p:sp>
        <p:nvSpPr>
          <p:cNvPr id="169" name="Text 23"/>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170" name="Shape 24"/>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171" name="Shape 25"/>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172" name="Text 26"/>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173" name="Text 27"/>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174" name="Text 28"/>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175" name="Text 29"/>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176" name="Shape 30"/>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177" name="Shape 31"/>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178" name="Table 3"/>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79" name="Shape 32"/>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180" name="Shape 33"/>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183" name="Text 34"/>
          <p:cNvGrpSpPr/>
          <p:nvPr/>
        </p:nvGrpSpPr>
        <p:grpSpPr>
          <a:xfrm>
            <a:off x="16154705" y="9372599"/>
            <a:ext cx="1905611" cy="858624"/>
            <a:chOff x="0" y="0"/>
            <a:chExt cx="1905610" cy="858622"/>
          </a:xfrm>
        </p:grpSpPr>
        <p:sp>
          <p:nvSpPr>
            <p:cNvPr id="181"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182" name="E1.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E1.0</a:t>
              </a:r>
            </a:p>
          </p:txBody>
        </p:sp>
      </p:grpSp>
      <p:sp>
        <p:nvSpPr>
          <p:cNvPr id="184" name="Shape 35"/>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185" name="Shape 36"/>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188" name="Text 37"/>
          <p:cNvGrpSpPr/>
          <p:nvPr/>
        </p:nvGrpSpPr>
        <p:grpSpPr>
          <a:xfrm>
            <a:off x="16154705" y="10230307"/>
            <a:ext cx="1905611" cy="286208"/>
            <a:chOff x="0" y="0"/>
            <a:chExt cx="1905610" cy="286206"/>
          </a:xfrm>
        </p:grpSpPr>
        <p:sp>
          <p:nvSpPr>
            <p:cNvPr id="186"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187" name="PLOT PLAN"/>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PLOT PLAN</a:t>
              </a:r>
            </a:p>
          </p:txBody>
        </p:sp>
      </p:grpSp>
      <p:sp>
        <p:nvSpPr>
          <p:cNvPr id="189" name="Shape 38"/>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190" name="Table 4"/>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91" name="Image"/>
          <p:cNvSpPr/>
          <p:nvPr/>
        </p:nvSpPr>
        <p:spPr>
          <a:xfrm>
            <a:off x="328027" y="1585670"/>
            <a:ext cx="11776124" cy="9445952"/>
          </a:xfrm>
          <a:prstGeom prst="roundRect">
            <a:avLst>
              <a:gd name="adj" fmla="val 6458"/>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3"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194"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195"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196"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197" name="Shape 4"/>
          <p:cNvSpPr/>
          <p:nvPr/>
        </p:nvSpPr>
        <p:spPr>
          <a:xfrm>
            <a:off x="9715500" y="342899"/>
            <a:ext cx="6115507" cy="1923900"/>
          </a:xfrm>
          <a:prstGeom prst="rect">
            <a:avLst/>
          </a:prstGeom>
          <a:solidFill>
            <a:srgbClr val="FFFFFF"/>
          </a:solidFill>
          <a:ln w="12700">
            <a:solidFill>
              <a:srgbClr val="111111"/>
            </a:solidFill>
          </a:ln>
        </p:spPr>
        <p:txBody>
          <a:bodyPr lIns="45719" rIns="45719"/>
          <a:lstStyle/>
          <a:p>
            <a:pPr/>
          </a:p>
        </p:txBody>
      </p:sp>
      <p:graphicFrame>
        <p:nvGraphicFramePr>
          <p:cNvPr id="198" name="Table 0"/>
          <p:cNvGraphicFramePr/>
          <p:nvPr/>
        </p:nvGraphicFramePr>
        <p:xfrm>
          <a:off x="9724643" y="352043"/>
          <a:ext cx="6086248" cy="140086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521562"/>
                <a:gridCol w="1442923"/>
                <a:gridCol w="1527048"/>
                <a:gridCol w="1594714"/>
              </a:tblGrid>
              <a:tr h="175108">
                <a:tc>
                  <a:txBody>
                    <a:bodyPr/>
                    <a:lstStyle/>
                    <a:p>
                      <a:pPr algn="l">
                        <a:defRPr sz="1800"/>
                      </a:pPr>
                      <a:r>
                        <a:rPr b="1" sz="700">
                          <a:latin typeface="Arial"/>
                          <a:ea typeface="Arial"/>
                          <a:cs typeface="Arial"/>
                          <a:sym typeface="Arial"/>
                        </a:rPr>
                        <a:t>MANUFACTURER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a:txBody>
                    <a:bodyPr/>
                    <a:lstStyle/>
                    <a:p>
                      <a:pPr algn="ctr">
                        <a:defRPr sz="1800"/>
                      </a:pPr>
                      <a:r>
                        <a:rPr b="1" sz="700">
                          <a:latin typeface="Arial"/>
                          <a:ea typeface="Arial"/>
                          <a:cs typeface="Arial"/>
                          <a:sym typeface="Arial"/>
                        </a:rPr>
                        <a:t>BATTERY CABINET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a:txBody>
                    <a:bodyPr/>
                    <a:lstStyle/>
                    <a:p>
                      <a:pPr algn="ctr">
                        <a:defRPr sz="1800"/>
                      </a:pPr>
                      <a:r>
                        <a:rPr b="1" sz="700">
                          <a:latin typeface="Arial"/>
                          <a:ea typeface="Arial"/>
                          <a:cs typeface="Arial"/>
                          <a:sym typeface="Arial"/>
                        </a:rPr>
                        <a:t>BATTERY INVERTER</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a:txBody>
                    <a:bodyPr/>
                    <a:lstStyle/>
                    <a:p>
                      <a:pPr algn="ctr">
                        <a:defRPr sz="1800"/>
                      </a:pPr>
                      <a:r>
                        <a:rPr b="1" sz="700">
                          <a:latin typeface="Arial"/>
                          <a:ea typeface="Arial"/>
                          <a:cs typeface="Arial"/>
                          <a:sym typeface="Arial"/>
                        </a:rPr>
                        <a:t>BATTERY SNAPSHOT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r>
              <a:tr h="175108">
                <a:tc>
                  <a:txBody>
                    <a:bodyPr/>
                    <a:lstStyle/>
                    <a:p>
                      <a:pPr algn="l">
                        <a:defRPr sz="1800"/>
                      </a:pPr>
                      <a:r>
                        <a:rPr b="1" sz="700">
                          <a:latin typeface="Arial"/>
                          <a:ea typeface="Arial"/>
                          <a:cs typeface="Arial"/>
                          <a:sym typeface="Arial"/>
                        </a:rPr>
                        <a:t>MODEL NUMBER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{{BAT_MODEL}}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COUNT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BATTERY BANK CAPACITY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N/A</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RATED VOLTAGE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{{DCV}}</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{{VOLTAGE}}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INVERTER RATING (kW)</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N/A</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{{KW}}</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ENCLOSURE 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{{NEMA_RATING}}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b="1" sz="700">
                          <a:latin typeface="Arial"/>
                          <a:ea typeface="Arial"/>
                          <a:cs typeface="Arial"/>
                          <a:sym typeface="Arial"/>
                        </a:rPr>
                        <a:t>RATED OUTPUT CURRENT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199" name="Shape 5"/>
          <p:cNvSpPr/>
          <p:nvPr/>
        </p:nvSpPr>
        <p:spPr>
          <a:xfrm>
            <a:off x="9715500" y="2381098"/>
            <a:ext cx="6115507" cy="875996"/>
          </a:xfrm>
          <a:prstGeom prst="rect">
            <a:avLst/>
          </a:prstGeom>
          <a:solidFill>
            <a:srgbClr val="FFFFFF"/>
          </a:solidFill>
          <a:ln w="12700">
            <a:solidFill>
              <a:srgbClr val="111111"/>
            </a:solidFill>
          </a:ln>
        </p:spPr>
        <p:txBody>
          <a:bodyPr lIns="45719" rIns="45719"/>
          <a:lstStyle/>
          <a:p>
            <a:pPr/>
          </a:p>
        </p:txBody>
      </p:sp>
      <p:graphicFrame>
        <p:nvGraphicFramePr>
          <p:cNvPr id="200" name="Table 1"/>
          <p:cNvGraphicFramePr/>
          <p:nvPr/>
        </p:nvGraphicFramePr>
        <p:xfrm>
          <a:off x="9724643" y="2391155"/>
          <a:ext cx="6087163" cy="53401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029054"/>
                <a:gridCol w="2029054"/>
                <a:gridCol w="2029054"/>
              </a:tblGrid>
              <a:tr h="178003">
                <a:tc gridSpan="3">
                  <a:txBody>
                    <a:bodyPr/>
                    <a:lstStyle/>
                    <a:p>
                      <a:pPr algn="ctr">
                        <a:defRPr sz="1800"/>
                      </a:pPr>
                      <a:r>
                        <a:rPr b="1" sz="700">
                          <a:latin typeface="Arial"/>
                          <a:ea typeface="Arial"/>
                          <a:cs typeface="Arial"/>
                          <a:sym typeface="Arial"/>
                        </a:rPr>
                        <a:t>LEGEND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E9E9E9"/>
                    </a:solidFill>
                  </a:tcPr>
                </a:tc>
                <a:tc hMerge="1">
                  <a:tcPr/>
                </a:tc>
                <a:tc hMerge="1">
                  <a:tcPr/>
                </a:tc>
              </a:tr>
              <a:tr h="178003">
                <a:tc>
                  <a:txBody>
                    <a:bodyPr/>
                    <a:lstStyle/>
                    <a:p>
                      <a:pPr algn="ctr">
                        <a:defRPr sz="1800"/>
                      </a:pPr>
                      <a:r>
                        <a:rPr b="1" sz="700">
                          <a:latin typeface="Arial"/>
                          <a:ea typeface="Arial"/>
                          <a:cs typeface="Arial"/>
                          <a:sym typeface="Arial"/>
                        </a:rPr>
                        <a:t>SYMBOL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b="1" sz="700">
                          <a:latin typeface="Arial"/>
                          <a:ea typeface="Arial"/>
                          <a:cs typeface="Arial"/>
                          <a:sym typeface="Arial"/>
                        </a:rPr>
                        <a:t>DESCRIPTION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b="1" sz="700">
                          <a:latin typeface="Arial"/>
                          <a:ea typeface="Arial"/>
                          <a:cs typeface="Arial"/>
                          <a:sym typeface="Arial"/>
                        </a:rPr>
                        <a:t>TOTAL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8003">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CONTAINER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201" name="Shape 6"/>
          <p:cNvSpPr/>
          <p:nvPr/>
        </p:nvSpPr>
        <p:spPr>
          <a:xfrm>
            <a:off x="9715500" y="8382304"/>
            <a:ext cx="3467406" cy="1809599"/>
          </a:xfrm>
          <a:prstGeom prst="rect">
            <a:avLst/>
          </a:prstGeom>
          <a:solidFill>
            <a:srgbClr val="FFFFFF">
              <a:alpha val="92000"/>
            </a:srgbClr>
          </a:solidFill>
          <a:ln w="25400">
            <a:solidFill>
              <a:srgbClr val="C81E1E"/>
            </a:solidFill>
          </a:ln>
        </p:spPr>
        <p:txBody>
          <a:bodyPr lIns="45719" rIns="45719"/>
          <a:lstStyle/>
          <a:p>
            <a:pPr/>
          </a:p>
        </p:txBody>
      </p:sp>
      <p:grpSp>
        <p:nvGrpSpPr>
          <p:cNvPr id="204" name="Text 7"/>
          <p:cNvGrpSpPr/>
          <p:nvPr/>
        </p:nvGrpSpPr>
        <p:grpSpPr>
          <a:xfrm>
            <a:off x="9829799" y="8477401"/>
            <a:ext cx="3238807" cy="286208"/>
            <a:chOff x="0" y="0"/>
            <a:chExt cx="3238805" cy="286206"/>
          </a:xfrm>
        </p:grpSpPr>
        <p:sp>
          <p:nvSpPr>
            <p:cNvPr id="202" name="Rectangle"/>
            <p:cNvSpPr/>
            <p:nvPr/>
          </p:nvSpPr>
          <p:spPr>
            <a:xfrm>
              <a:off x="-1" y="0"/>
              <a:ext cx="3238807" cy="286207"/>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1300"/>
              </a:pPr>
            </a:p>
          </p:txBody>
        </p:sp>
        <p:sp>
          <p:nvSpPr>
            <p:cNvPr id="203" name="{{PERMIT_NO}}"/>
            <p:cNvSpPr txBox="1"/>
            <p:nvPr/>
          </p:nvSpPr>
          <p:spPr>
            <a:xfrm>
              <a:off x="42862" y="25154"/>
              <a:ext cx="3153081" cy="23589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pc="75" sz="1300">
                  <a:latin typeface="Arial"/>
                  <a:ea typeface="Arial"/>
                  <a:cs typeface="Arial"/>
                  <a:sym typeface="Arial"/>
                </a:defRPr>
              </a:lvl1pPr>
            </a:lstStyle>
            <a:p>
              <a:pPr/>
              <a:r>
                <a:t>{{PERMIT_NO}}</a:t>
              </a:r>
            </a:p>
          </p:txBody>
        </p:sp>
      </p:grpSp>
      <p:sp>
        <p:nvSpPr>
          <p:cNvPr id="205" name="Text 8"/>
          <p:cNvSpPr txBox="1"/>
          <p:nvPr/>
        </p:nvSpPr>
        <p:spPr>
          <a:xfrm>
            <a:off x="9829800" y="8813496"/>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C81E1E"/>
                </a:solidFill>
                <a:latin typeface="Arial"/>
                <a:ea typeface="Arial"/>
                <a:cs typeface="Arial"/>
                <a:sym typeface="Arial"/>
              </a:defRPr>
            </a:lvl1pPr>
          </a:lstStyle>
          <a:p>
            <a:pPr/>
            <a:r>
              <a:t>REVIEWED FOR COMPLIANCE</a:t>
            </a:r>
          </a:p>
        </p:txBody>
      </p:sp>
      <p:sp>
        <p:nvSpPr>
          <p:cNvPr id="206" name="Text 9"/>
          <p:cNvSpPr txBox="1"/>
          <p:nvPr/>
        </p:nvSpPr>
        <p:spPr>
          <a:xfrm>
            <a:off x="9829800" y="8964827"/>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C81E1E"/>
                </a:solidFill>
                <a:latin typeface="Arial"/>
                <a:ea typeface="Arial"/>
                <a:cs typeface="Arial"/>
                <a:sym typeface="Arial"/>
              </a:defRPr>
            </a:lvl1pPr>
          </a:lstStyle>
          <a:p>
            <a:pPr/>
            <a:r>
              <a:t>{{AHJ_FIRE_DEPT}}</a:t>
            </a:r>
          </a:p>
        </p:txBody>
      </p:sp>
      <p:sp>
        <p:nvSpPr>
          <p:cNvPr id="207" name="Text 10"/>
          <p:cNvSpPr txBox="1"/>
          <p:nvPr/>
        </p:nvSpPr>
        <p:spPr>
          <a:xfrm>
            <a:off x="9829800" y="9124847"/>
            <a:ext cx="3238806"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latin typeface="Arial"/>
                <a:ea typeface="Arial"/>
                <a:cs typeface="Arial"/>
                <a:sym typeface="Arial"/>
              </a:defRPr>
            </a:lvl1pPr>
          </a:lstStyle>
          <a:p>
            <a:pPr/>
            <a:r>
              <a:t>Subject to Plan Check &amp; Field Inspection</a:t>
            </a:r>
          </a:p>
        </p:txBody>
      </p:sp>
      <p:grpSp>
        <p:nvGrpSpPr>
          <p:cNvPr id="210" name="Text 11"/>
          <p:cNvGrpSpPr/>
          <p:nvPr/>
        </p:nvGrpSpPr>
        <p:grpSpPr>
          <a:xfrm>
            <a:off x="9829799" y="9280245"/>
            <a:ext cx="3238807" cy="162764"/>
            <a:chOff x="0" y="0"/>
            <a:chExt cx="3238805" cy="162763"/>
          </a:xfrm>
        </p:grpSpPr>
        <p:sp>
          <p:nvSpPr>
            <p:cNvPr id="208" name="Rectangle"/>
            <p:cNvSpPr/>
            <p:nvPr/>
          </p:nvSpPr>
          <p:spPr>
            <a:xfrm>
              <a:off x="-1" y="-1"/>
              <a:ext cx="3238807" cy="162765"/>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209" name="REVISIONS NEED REVIEW"/>
            <p:cNvSpPr txBox="1"/>
            <p:nvPr/>
          </p:nvSpPr>
          <p:spPr>
            <a:xfrm>
              <a:off x="17462" y="493"/>
              <a:ext cx="3203881"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REVISIONS NEED REVIEW</a:t>
              </a:r>
            </a:p>
          </p:txBody>
        </p:sp>
      </p:grpSp>
      <p:sp>
        <p:nvSpPr>
          <p:cNvPr id="211" name="Shape 12"/>
          <p:cNvSpPr/>
          <p:nvPr/>
        </p:nvSpPr>
        <p:spPr>
          <a:xfrm>
            <a:off x="342900" y="11190478"/>
            <a:ext cx="9144000" cy="12701"/>
          </a:xfrm>
          <a:prstGeom prst="rect">
            <a:avLst/>
          </a:prstGeom>
          <a:solidFill>
            <a:srgbClr val="111111"/>
          </a:solidFill>
          <a:ln w="12700">
            <a:solidFill>
              <a:srgbClr val="111111">
                <a:alpha val="0"/>
              </a:srgbClr>
            </a:solidFill>
          </a:ln>
        </p:spPr>
        <p:txBody>
          <a:bodyPr lIns="45719" rIns="45719"/>
          <a:lstStyle/>
          <a:p>
            <a:pPr/>
          </a:p>
        </p:txBody>
      </p:sp>
      <p:grpSp>
        <p:nvGrpSpPr>
          <p:cNvPr id="214" name="Text 13"/>
          <p:cNvGrpSpPr/>
          <p:nvPr/>
        </p:nvGrpSpPr>
        <p:grpSpPr>
          <a:xfrm>
            <a:off x="342900" y="11214861"/>
            <a:ext cx="9144000" cy="140157"/>
            <a:chOff x="0" y="0"/>
            <a:chExt cx="9144000" cy="140156"/>
          </a:xfrm>
        </p:grpSpPr>
        <p:sp>
          <p:nvSpPr>
            <p:cNvPr id="212" name="Rectangle"/>
            <p:cNvSpPr/>
            <p:nvPr/>
          </p:nvSpPr>
          <p:spPr>
            <a:xfrm>
              <a:off x="0" y="24943"/>
              <a:ext cx="91440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213" name="1 — ENLARGED PLOT PLAN · SCALE: 1&quot; = {{NUM}}'"/>
            <p:cNvSpPr txBox="1"/>
            <p:nvPr/>
          </p:nvSpPr>
          <p:spPr>
            <a:xfrm>
              <a:off x="42862" y="-1"/>
              <a:ext cx="90582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ENLARGED PLOT PLAN · SCALE: 1" = {{NUM}}'</a:t>
              </a:r>
            </a:p>
          </p:txBody>
        </p:sp>
      </p:grpSp>
      <p:sp>
        <p:nvSpPr>
          <p:cNvPr id="215" name="Shape 14"/>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216" name="Shape 15"/>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241" name="ClearSky Logo"/>
          <p:cNvPicPr/>
          <p:nvPr/>
        </p:nvPicPr>
        <p:blipFill>
          <a:blip r:embed="rId2" cstate="print"/>
          <a:stretch>
            <a:fillRect/>
          </a:stretch>
        </p:blipFill>
        <p:spPr>
          <a:xfrm>
            <a:off x="16822342" y="673813"/>
            <a:ext cx="574909" cy="481174"/>
          </a:xfrm>
          <a:prstGeom prst="rect">
            <a:avLst/>
          </a:prstGeom>
        </p:spPr>
      </p:pic>
      <p:sp>
        <p:nvSpPr>
          <p:cNvPr id="218" name="Text 18"/>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219" name="Shape 19"/>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220" name="Shape 20"/>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221" name="Text 21"/>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222" name="Text 22"/>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223" name="Text 23"/>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224" name="Text 24"/>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225" name="Shape 25"/>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226" name="Shape 26"/>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227" name="Table 2"/>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228" name="Shape 27"/>
          <p:cNvSpPr/>
          <p:nvPr/>
        </p:nvSpPr>
        <p:spPr>
          <a:xfrm>
            <a:off x="16154705" y="9372600"/>
            <a:ext cx="1904696" cy="1000353"/>
          </a:xfrm>
          <a:prstGeom prst="rect">
            <a:avLst/>
          </a:prstGeom>
          <a:solidFill>
            <a:srgbClr val="FFFFFF"/>
          </a:solidFill>
          <a:ln w="12700">
            <a:miter lim="400000"/>
          </a:ln>
        </p:spPr>
        <p:txBody>
          <a:bodyPr lIns="45719" rIns="45719"/>
          <a:lstStyle/>
          <a:p>
            <a:pPr/>
          </a:p>
        </p:txBody>
      </p:sp>
      <p:sp>
        <p:nvSpPr>
          <p:cNvPr id="229" name="Shape 28"/>
          <p:cNvSpPr/>
          <p:nvPr/>
        </p:nvSpPr>
        <p:spPr>
          <a:xfrm>
            <a:off x="16154705" y="10362031"/>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232" name="Text 29"/>
          <p:cNvGrpSpPr/>
          <p:nvPr/>
        </p:nvGrpSpPr>
        <p:grpSpPr>
          <a:xfrm>
            <a:off x="16154705" y="9372599"/>
            <a:ext cx="1905611" cy="857709"/>
            <a:chOff x="0" y="0"/>
            <a:chExt cx="1905610" cy="857707"/>
          </a:xfrm>
        </p:grpSpPr>
        <p:sp>
          <p:nvSpPr>
            <p:cNvPr id="230" name="Rectangle"/>
            <p:cNvSpPr/>
            <p:nvPr/>
          </p:nvSpPr>
          <p:spPr>
            <a:xfrm>
              <a:off x="-1" y="-1"/>
              <a:ext cx="1905612" cy="857709"/>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3700"/>
              </a:pPr>
            </a:p>
          </p:txBody>
        </p:sp>
        <p:sp>
          <p:nvSpPr>
            <p:cNvPr id="231" name="E1.1"/>
            <p:cNvSpPr txBox="1"/>
            <p:nvPr/>
          </p:nvSpPr>
          <p:spPr>
            <a:xfrm>
              <a:off x="144462" y="239689"/>
              <a:ext cx="1616686" cy="5180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4" sz="3700">
                  <a:latin typeface="Arial"/>
                  <a:ea typeface="Arial"/>
                  <a:cs typeface="Arial"/>
                  <a:sym typeface="Arial"/>
                </a:defRPr>
              </a:lvl1pPr>
            </a:lstStyle>
            <a:p>
              <a:pPr/>
              <a:r>
                <a:t>E1.1</a:t>
              </a:r>
            </a:p>
          </p:txBody>
        </p:sp>
      </p:grpSp>
      <p:sp>
        <p:nvSpPr>
          <p:cNvPr id="233" name="Shape 30"/>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234" name="Shape 31"/>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237" name="Text 32"/>
          <p:cNvGrpSpPr/>
          <p:nvPr/>
        </p:nvGrpSpPr>
        <p:grpSpPr>
          <a:xfrm>
            <a:off x="16154705" y="10230307"/>
            <a:ext cx="1905611" cy="286208"/>
            <a:chOff x="0" y="0"/>
            <a:chExt cx="1905610" cy="286206"/>
          </a:xfrm>
        </p:grpSpPr>
        <p:sp>
          <p:nvSpPr>
            <p:cNvPr id="235"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236" name="ENLARGED PLOT PLAN"/>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ENLARGED PLOT PLAN</a:t>
              </a:r>
            </a:p>
          </p:txBody>
        </p:sp>
      </p:grpSp>
      <p:sp>
        <p:nvSpPr>
          <p:cNvPr id="238" name="Shape 33"/>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239" name="Table 3"/>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240" name="Image"/>
          <p:cNvSpPr/>
          <p:nvPr/>
        </p:nvSpPr>
        <p:spPr>
          <a:xfrm>
            <a:off x="269890" y="925148"/>
            <a:ext cx="8826713" cy="8826714"/>
          </a:xfrm>
          <a:prstGeom prst="roundRect">
            <a:avLst>
              <a:gd name="adj" fmla="val 6458"/>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2"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243"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244"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245"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246" name="Shape 4"/>
          <p:cNvSpPr/>
          <p:nvPr/>
        </p:nvSpPr>
        <p:spPr>
          <a:xfrm>
            <a:off x="342899" y="342900"/>
            <a:ext cx="3638400" cy="780899"/>
          </a:xfrm>
          <a:prstGeom prst="rect">
            <a:avLst/>
          </a:prstGeom>
          <a:solidFill>
            <a:srgbClr val="FFFFFF"/>
          </a:solidFill>
          <a:ln w="12700">
            <a:solidFill>
              <a:srgbClr val="111111"/>
            </a:solidFill>
          </a:ln>
        </p:spPr>
        <p:txBody>
          <a:bodyPr lIns="45719" rIns="45719"/>
          <a:lstStyle/>
          <a:p>
            <a:pPr/>
          </a:p>
        </p:txBody>
      </p:sp>
      <p:grpSp>
        <p:nvGrpSpPr>
          <p:cNvPr id="249" name="Text 5"/>
          <p:cNvGrpSpPr/>
          <p:nvPr/>
        </p:nvGrpSpPr>
        <p:grpSpPr>
          <a:xfrm>
            <a:off x="357530" y="357529"/>
            <a:ext cx="3610051" cy="171908"/>
            <a:chOff x="0" y="0"/>
            <a:chExt cx="3610050" cy="171906"/>
          </a:xfrm>
        </p:grpSpPr>
        <p:sp>
          <p:nvSpPr>
            <p:cNvPr id="247" name="Rectangle"/>
            <p:cNvSpPr/>
            <p:nvPr/>
          </p:nvSpPr>
          <p:spPr>
            <a:xfrm>
              <a:off x="0" y="0"/>
              <a:ext cx="3610051" cy="171907"/>
            </a:xfrm>
            <a:prstGeom prst="rect">
              <a:avLst/>
            </a:prstGeom>
            <a:solidFill>
              <a:srgbClr val="E9E9E9"/>
            </a:solid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48" name="LEGEND"/>
            <p:cNvSpPr txBox="1"/>
            <p:nvPr/>
          </p:nvSpPr>
          <p:spPr>
            <a:xfrm>
              <a:off x="6350" y="5065"/>
              <a:ext cx="3597351"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LEGEND</a:t>
              </a:r>
            </a:p>
          </p:txBody>
        </p:sp>
      </p:grpSp>
      <p:grpSp>
        <p:nvGrpSpPr>
          <p:cNvPr id="252" name="Text 6"/>
          <p:cNvGrpSpPr/>
          <p:nvPr/>
        </p:nvGrpSpPr>
        <p:grpSpPr>
          <a:xfrm>
            <a:off x="357529" y="528523"/>
            <a:ext cx="514808" cy="171908"/>
            <a:chOff x="0" y="0"/>
            <a:chExt cx="514806" cy="171906"/>
          </a:xfrm>
        </p:grpSpPr>
        <p:sp>
          <p:nvSpPr>
            <p:cNvPr id="250" name="Rectangle"/>
            <p:cNvSpPr/>
            <p:nvPr/>
          </p:nvSpPr>
          <p:spPr>
            <a:xfrm>
              <a:off x="0" y="0"/>
              <a:ext cx="514807" cy="171907"/>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51" name="SYMBOL"/>
            <p:cNvSpPr txBox="1"/>
            <p:nvPr/>
          </p:nvSpPr>
          <p:spPr>
            <a:xfrm>
              <a:off x="6350" y="5065"/>
              <a:ext cx="502107"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SYMBOL</a:t>
              </a:r>
            </a:p>
          </p:txBody>
        </p:sp>
      </p:grpSp>
      <p:grpSp>
        <p:nvGrpSpPr>
          <p:cNvPr id="255" name="Text 7"/>
          <p:cNvGrpSpPr/>
          <p:nvPr/>
        </p:nvGrpSpPr>
        <p:grpSpPr>
          <a:xfrm>
            <a:off x="862278" y="528523"/>
            <a:ext cx="2600555" cy="171908"/>
            <a:chOff x="0" y="0"/>
            <a:chExt cx="2600554" cy="171906"/>
          </a:xfrm>
        </p:grpSpPr>
        <p:sp>
          <p:nvSpPr>
            <p:cNvPr id="253" name="Rectangle"/>
            <p:cNvSpPr/>
            <p:nvPr/>
          </p:nvSpPr>
          <p:spPr>
            <a:xfrm>
              <a:off x="-1" y="0"/>
              <a:ext cx="2600556" cy="171907"/>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defRPr sz="800"/>
              </a:pPr>
            </a:p>
          </p:txBody>
        </p:sp>
        <p:sp>
          <p:nvSpPr>
            <p:cNvPr id="254" name="DESCRIPTION"/>
            <p:cNvSpPr txBox="1"/>
            <p:nvPr/>
          </p:nvSpPr>
          <p:spPr>
            <a:xfrm>
              <a:off x="6349" y="5065"/>
              <a:ext cx="2587856"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defRPr b="1" sz="800">
                  <a:latin typeface="Arial"/>
                  <a:ea typeface="Arial"/>
                  <a:cs typeface="Arial"/>
                  <a:sym typeface="Arial"/>
                </a:defRPr>
              </a:lvl1pPr>
            </a:lstStyle>
            <a:p>
              <a:pPr/>
              <a:r>
                <a:t>DESCRIPTION</a:t>
              </a:r>
            </a:p>
          </p:txBody>
        </p:sp>
      </p:grpSp>
      <p:grpSp>
        <p:nvGrpSpPr>
          <p:cNvPr id="258" name="Text 8"/>
          <p:cNvGrpSpPr/>
          <p:nvPr/>
        </p:nvGrpSpPr>
        <p:grpSpPr>
          <a:xfrm>
            <a:off x="3461918" y="528523"/>
            <a:ext cx="514808" cy="171908"/>
            <a:chOff x="0" y="0"/>
            <a:chExt cx="514806" cy="171906"/>
          </a:xfrm>
        </p:grpSpPr>
        <p:sp>
          <p:nvSpPr>
            <p:cNvPr id="256" name="Rectangle"/>
            <p:cNvSpPr/>
            <p:nvPr/>
          </p:nvSpPr>
          <p:spPr>
            <a:xfrm>
              <a:off x="0" y="0"/>
              <a:ext cx="514807" cy="171907"/>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57" name="TOTAL"/>
            <p:cNvSpPr txBox="1"/>
            <p:nvPr/>
          </p:nvSpPr>
          <p:spPr>
            <a:xfrm>
              <a:off x="6350" y="5065"/>
              <a:ext cx="502107"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TOTAL</a:t>
              </a:r>
            </a:p>
          </p:txBody>
        </p:sp>
      </p:grpSp>
      <p:sp>
        <p:nvSpPr>
          <p:cNvPr id="259" name="Shape 9"/>
          <p:cNvSpPr/>
          <p:nvPr/>
        </p:nvSpPr>
        <p:spPr>
          <a:xfrm>
            <a:off x="357529" y="700430"/>
            <a:ext cx="514808" cy="237744"/>
          </a:xfrm>
          <a:prstGeom prst="rect">
            <a:avLst/>
          </a:prstGeom>
          <a:ln w="12700">
            <a:solidFill>
              <a:srgbClr val="111111"/>
            </a:solidFill>
          </a:ln>
        </p:spPr>
        <p:txBody>
          <a:bodyPr lIns="45719" rIns="45719"/>
          <a:lstStyle/>
          <a:p>
            <a:pPr/>
          </a:p>
        </p:txBody>
      </p:sp>
      <p:grpSp>
        <p:nvGrpSpPr>
          <p:cNvPr id="262" name="Text 10"/>
          <p:cNvGrpSpPr/>
          <p:nvPr/>
        </p:nvGrpSpPr>
        <p:grpSpPr>
          <a:xfrm>
            <a:off x="862278" y="700430"/>
            <a:ext cx="2600555" cy="238659"/>
            <a:chOff x="0" y="0"/>
            <a:chExt cx="2600554" cy="238658"/>
          </a:xfrm>
        </p:grpSpPr>
        <p:sp>
          <p:nvSpPr>
            <p:cNvPr id="260" name="Rectangle"/>
            <p:cNvSpPr/>
            <p:nvPr/>
          </p:nvSpPr>
          <p:spPr>
            <a:xfrm>
              <a:off x="-1" y="-1"/>
              <a:ext cx="2600556" cy="238660"/>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defRPr sz="800"/>
              </a:pPr>
            </a:p>
          </p:txBody>
        </p:sp>
        <p:sp>
          <p:nvSpPr>
            <p:cNvPr id="261" name="TREE TO BE REMOVED"/>
            <p:cNvSpPr txBox="1"/>
            <p:nvPr/>
          </p:nvSpPr>
          <p:spPr>
            <a:xfrm>
              <a:off x="6349" y="38440"/>
              <a:ext cx="2587856" cy="161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defRPr sz="800">
                  <a:latin typeface="Arial"/>
                  <a:ea typeface="Arial"/>
                  <a:cs typeface="Arial"/>
                  <a:sym typeface="Arial"/>
                </a:defRPr>
              </a:lvl1pPr>
            </a:lstStyle>
            <a:p>
              <a:pPr/>
              <a:r>
                <a:t>TREE TO BE REMOVED</a:t>
              </a:r>
            </a:p>
          </p:txBody>
        </p:sp>
      </p:grpSp>
      <p:grpSp>
        <p:nvGrpSpPr>
          <p:cNvPr id="265" name="Text 11"/>
          <p:cNvGrpSpPr/>
          <p:nvPr/>
        </p:nvGrpSpPr>
        <p:grpSpPr>
          <a:xfrm>
            <a:off x="3461918" y="700430"/>
            <a:ext cx="514808" cy="238659"/>
            <a:chOff x="0" y="0"/>
            <a:chExt cx="514806" cy="238658"/>
          </a:xfrm>
        </p:grpSpPr>
        <p:sp>
          <p:nvSpPr>
            <p:cNvPr id="263" name="Rectangle"/>
            <p:cNvSpPr/>
            <p:nvPr/>
          </p:nvSpPr>
          <p:spPr>
            <a:xfrm>
              <a:off x="0" y="-1"/>
              <a:ext cx="514807" cy="238660"/>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64" name="{{BAT_QTY}}"/>
            <p:cNvSpPr txBox="1"/>
            <p:nvPr/>
          </p:nvSpPr>
          <p:spPr>
            <a:xfrm>
              <a:off x="6350" y="38440"/>
              <a:ext cx="502107" cy="161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sz="800">
                  <a:latin typeface="Arial"/>
                  <a:ea typeface="Arial"/>
                  <a:cs typeface="Arial"/>
                  <a:sym typeface="Arial"/>
                </a:defRPr>
              </a:lvl1pPr>
            </a:lstStyle>
            <a:p>
              <a:pPr/>
              <a:r>
                <a:t>{{BAT_QTY}}</a:t>
              </a:r>
            </a:p>
          </p:txBody>
        </p:sp>
      </p:grpSp>
      <p:sp>
        <p:nvSpPr>
          <p:cNvPr id="266" name="Shape 12"/>
          <p:cNvSpPr/>
          <p:nvPr/>
        </p:nvSpPr>
        <p:spPr>
          <a:xfrm>
            <a:off x="357529" y="938174"/>
            <a:ext cx="514808" cy="237744"/>
          </a:xfrm>
          <a:prstGeom prst="rect">
            <a:avLst/>
          </a:prstGeom>
          <a:ln w="12700">
            <a:solidFill>
              <a:srgbClr val="111111"/>
            </a:solidFill>
          </a:ln>
        </p:spPr>
        <p:txBody>
          <a:bodyPr lIns="45719" rIns="45719"/>
          <a:lstStyle/>
          <a:p>
            <a:pPr/>
          </a:p>
        </p:txBody>
      </p:sp>
      <p:grpSp>
        <p:nvGrpSpPr>
          <p:cNvPr id="269" name="Text 13"/>
          <p:cNvGrpSpPr/>
          <p:nvPr/>
        </p:nvGrpSpPr>
        <p:grpSpPr>
          <a:xfrm>
            <a:off x="862278" y="938174"/>
            <a:ext cx="2600555" cy="238659"/>
            <a:chOff x="0" y="0"/>
            <a:chExt cx="2600554" cy="238658"/>
          </a:xfrm>
        </p:grpSpPr>
        <p:sp>
          <p:nvSpPr>
            <p:cNvPr id="267" name="Rectangle"/>
            <p:cNvSpPr/>
            <p:nvPr/>
          </p:nvSpPr>
          <p:spPr>
            <a:xfrm>
              <a:off x="-1" y="-1"/>
              <a:ext cx="2600556" cy="238660"/>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defRPr sz="800"/>
              </a:pPr>
            </a:p>
          </p:txBody>
        </p:sp>
        <p:sp>
          <p:nvSpPr>
            <p:cNvPr id="268" name="TREE TO BE PROTECTED"/>
            <p:cNvSpPr txBox="1"/>
            <p:nvPr/>
          </p:nvSpPr>
          <p:spPr>
            <a:xfrm>
              <a:off x="6349" y="38440"/>
              <a:ext cx="2587856" cy="161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defRPr sz="800">
                  <a:latin typeface="Arial"/>
                  <a:ea typeface="Arial"/>
                  <a:cs typeface="Arial"/>
                  <a:sym typeface="Arial"/>
                </a:defRPr>
              </a:lvl1pPr>
            </a:lstStyle>
            <a:p>
              <a:pPr/>
              <a:r>
                <a:t>TREE TO BE PROTECTED</a:t>
              </a:r>
            </a:p>
          </p:txBody>
        </p:sp>
      </p:grpSp>
      <p:grpSp>
        <p:nvGrpSpPr>
          <p:cNvPr id="272" name="Text 14"/>
          <p:cNvGrpSpPr/>
          <p:nvPr/>
        </p:nvGrpSpPr>
        <p:grpSpPr>
          <a:xfrm>
            <a:off x="3461918" y="938174"/>
            <a:ext cx="514808" cy="238659"/>
            <a:chOff x="0" y="0"/>
            <a:chExt cx="514806" cy="238658"/>
          </a:xfrm>
        </p:grpSpPr>
        <p:sp>
          <p:nvSpPr>
            <p:cNvPr id="270" name="Rectangle"/>
            <p:cNvSpPr/>
            <p:nvPr/>
          </p:nvSpPr>
          <p:spPr>
            <a:xfrm>
              <a:off x="0" y="-1"/>
              <a:ext cx="514807" cy="238660"/>
            </a:xfrm>
            <a:prstGeom prst="rect">
              <a:avLst/>
            </a:prstGeom>
            <a:noFill/>
            <a:ln w="12700" cap="flat">
              <a:solidFill>
                <a:srgbClr val="111111"/>
              </a:solidFill>
              <a:prstDash val="solid"/>
              <a:round/>
            </a:ln>
            <a:effectLst/>
          </p:spPr>
          <p:txBody>
            <a:bodyPr wrap="square" lIns="45719" tIns="45719" rIns="45719" bIns="45719" numCol="1" anchor="ctr">
              <a:noAutofit/>
            </a:bodyPr>
            <a:lstStyle/>
            <a:p>
              <a:pPr algn="ctr">
                <a:defRPr sz="800"/>
              </a:pPr>
            </a:p>
          </p:txBody>
        </p:sp>
        <p:sp>
          <p:nvSpPr>
            <p:cNvPr id="271" name="{{BAT_QTY}}"/>
            <p:cNvSpPr txBox="1"/>
            <p:nvPr/>
          </p:nvSpPr>
          <p:spPr>
            <a:xfrm>
              <a:off x="6350" y="38440"/>
              <a:ext cx="502107" cy="1617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sz="800">
                  <a:latin typeface="Arial"/>
                  <a:ea typeface="Arial"/>
                  <a:cs typeface="Arial"/>
                  <a:sym typeface="Arial"/>
                </a:defRPr>
              </a:lvl1pPr>
            </a:lstStyle>
            <a:p>
              <a:pPr/>
              <a:r>
                <a:t>{{BAT_QTY}}</a:t>
              </a:r>
            </a:p>
          </p:txBody>
        </p:sp>
      </p:grpSp>
      <p:sp>
        <p:nvSpPr>
          <p:cNvPr id="273" name="Shape 15"/>
          <p:cNvSpPr/>
          <p:nvPr/>
        </p:nvSpPr>
        <p:spPr>
          <a:xfrm>
            <a:off x="533094" y="733348"/>
            <a:ext cx="152707" cy="152707"/>
          </a:xfrm>
          <a:prstGeom prst="ellipse">
            <a:avLst/>
          </a:prstGeom>
          <a:solidFill>
            <a:srgbClr val="C0A060"/>
          </a:solidFill>
          <a:ln w="12700">
            <a:solidFill>
              <a:srgbClr val="5E4A20"/>
            </a:solidFill>
          </a:ln>
        </p:spPr>
        <p:txBody>
          <a:bodyPr lIns="45719" rIns="45719"/>
          <a:lstStyle/>
          <a:p>
            <a:pPr/>
          </a:p>
        </p:txBody>
      </p:sp>
      <p:sp>
        <p:nvSpPr>
          <p:cNvPr id="274" name="Shape 16"/>
          <p:cNvSpPr/>
          <p:nvPr/>
        </p:nvSpPr>
        <p:spPr>
          <a:xfrm>
            <a:off x="533094" y="972007"/>
            <a:ext cx="152707" cy="152707"/>
          </a:xfrm>
          <a:prstGeom prst="ellipse">
            <a:avLst/>
          </a:prstGeom>
          <a:solidFill>
            <a:srgbClr val="DCECC8"/>
          </a:solidFill>
          <a:ln w="12700">
            <a:solidFill>
              <a:srgbClr val="5E7A3F"/>
            </a:solidFill>
          </a:ln>
        </p:spPr>
        <p:txBody>
          <a:bodyPr lIns="45719" rIns="45719"/>
          <a:lstStyle/>
          <a:p>
            <a:pPr/>
          </a:p>
        </p:txBody>
      </p:sp>
      <p:sp>
        <p:nvSpPr>
          <p:cNvPr id="275" name="Shape 17"/>
          <p:cNvSpPr/>
          <p:nvPr/>
        </p:nvSpPr>
        <p:spPr>
          <a:xfrm>
            <a:off x="342900" y="8382304"/>
            <a:ext cx="5391302" cy="3353106"/>
          </a:xfrm>
          <a:prstGeom prst="rect">
            <a:avLst/>
          </a:prstGeom>
          <a:solidFill>
            <a:srgbClr val="FFFFFF"/>
          </a:solidFill>
          <a:ln w="12700">
            <a:solidFill>
              <a:srgbClr val="111111"/>
            </a:solidFill>
          </a:ln>
        </p:spPr>
        <p:txBody>
          <a:bodyPr lIns="45719" rIns="45719"/>
          <a:lstStyle/>
          <a:p>
            <a:pPr/>
          </a:p>
        </p:txBody>
      </p:sp>
      <p:sp>
        <p:nvSpPr>
          <p:cNvPr id="276" name="Text 18"/>
          <p:cNvSpPr txBox="1"/>
          <p:nvPr/>
        </p:nvSpPr>
        <p:spPr>
          <a:xfrm>
            <a:off x="466344" y="8489797"/>
            <a:ext cx="51435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DEMOLITION NOTES</a:t>
            </a:r>
          </a:p>
        </p:txBody>
      </p:sp>
      <p:sp>
        <p:nvSpPr>
          <p:cNvPr id="277" name="Text 19"/>
          <p:cNvSpPr txBox="1"/>
          <p:nvPr/>
        </p:nvSpPr>
        <p:spPr>
          <a:xfrm>
            <a:off x="638251" y="867931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CONTRACTOR SHALL VERIFY ALL EXISTING CONDITIONS AND DIMENSIONS PRIOR TO BEGINNING WORK. ANY DISCREPANCIES SHALL BE REPORTED TO THE ENGINEER OF RECORD.</a:t>
            </a:r>
          </a:p>
        </p:txBody>
      </p:sp>
      <p:sp>
        <p:nvSpPr>
          <p:cNvPr id="278" name="Text 20"/>
          <p:cNvSpPr txBox="1"/>
          <p:nvPr/>
        </p:nvSpPr>
        <p:spPr>
          <a:xfrm>
            <a:off x="638251" y="894540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PROTECT ALL TREES TO REMAIN PER LOCAL TREE PROTECTION ORDINANCE. INSTALL TREE PROTECTION FENCING AT THE DRIPLINE PRIOR TO ANY DEMOLITION.</a:t>
            </a:r>
          </a:p>
        </p:txBody>
      </p:sp>
      <p:sp>
        <p:nvSpPr>
          <p:cNvPr id="279" name="Text 21"/>
          <p:cNvSpPr txBox="1"/>
          <p:nvPr/>
        </p:nvSpPr>
        <p:spPr>
          <a:xfrm>
            <a:off x="638251" y="9212413"/>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REMOVE EXISTING TREE(S) AS INDICATED ON PLAN; STUMPS SHALL BE GROUND TO [DEPTH]" BELOW FINISH GRADE.</a:t>
            </a:r>
          </a:p>
        </p:txBody>
      </p:sp>
      <p:sp>
        <p:nvSpPr>
          <p:cNvPr id="280" name="Text 22"/>
          <p:cNvSpPr txBox="1"/>
          <p:nvPr/>
        </p:nvSpPr>
        <p:spPr>
          <a:xfrm>
            <a:off x="638251" y="947941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REMOVE ALL EXISTING PARKING SIGNAGE / PAINTED MARKINGS INTERFERING WITH BESS ENCLOSURE FOOTPRINT, FENCING, AND WORKING CLEARANCES PER NEC ART. 110.26.</a:t>
            </a:r>
          </a:p>
        </p:txBody>
      </p:sp>
      <p:sp>
        <p:nvSpPr>
          <p:cNvPr id="281" name="Text 23"/>
          <p:cNvSpPr txBox="1"/>
          <p:nvPr/>
        </p:nvSpPr>
        <p:spPr>
          <a:xfrm>
            <a:off x="638251" y="974550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SAW-CUT EXISTING ASPHALT/CONCRETE TO NEAT EDGES ALONG TRENCHING ROUTES. RESTORE TO EQUAL OR BETTER CONDITION AFTER INSTALLATION.</a:t>
            </a:r>
          </a:p>
        </p:txBody>
      </p:sp>
      <p:sp>
        <p:nvSpPr>
          <p:cNvPr id="282" name="Text 24"/>
          <p:cNvSpPr txBox="1"/>
          <p:nvPr/>
        </p:nvSpPr>
        <p:spPr>
          <a:xfrm>
            <a:off x="638251" y="10012513"/>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RELOCATE ANY EXISTING UTILITIES IN CONFLICT WITH PROPOSED BESS FOOTPRINT — COORDINATE WITH UTILITY ({{UTILITY}}) AND OWNER.</a:t>
            </a:r>
          </a:p>
        </p:txBody>
      </p:sp>
      <p:sp>
        <p:nvSpPr>
          <p:cNvPr id="283" name="Text 25"/>
          <p:cNvSpPr txBox="1"/>
          <p:nvPr/>
        </p:nvSpPr>
        <p:spPr>
          <a:xfrm>
            <a:off x="638251" y="10279518"/>
            <a:ext cx="4972508"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HAUL ALL DEMOLITION DEBRIS OFF-SITE TO AN APPROVED DISPOSAL FACILITY. RECYCLE WHERE PRACTICAL.</a:t>
            </a:r>
          </a:p>
        </p:txBody>
      </p:sp>
      <p:sp>
        <p:nvSpPr>
          <p:cNvPr id="284" name="Text 26"/>
          <p:cNvSpPr txBox="1"/>
          <p:nvPr/>
        </p:nvSpPr>
        <p:spPr>
          <a:xfrm>
            <a:off x="638251" y="10527994"/>
            <a:ext cx="4972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NOTIFY {{AHJ_CITY}} AND OWNER 48 HOURS PRIOR TO COMMENCING ANY DEMOLITION OPERATIONS.</a:t>
            </a:r>
          </a:p>
        </p:txBody>
      </p:sp>
      <p:sp>
        <p:nvSpPr>
          <p:cNvPr id="285" name="Shape 27"/>
          <p:cNvSpPr/>
          <p:nvPr/>
        </p:nvSpPr>
        <p:spPr>
          <a:xfrm>
            <a:off x="5715000" y="8382304"/>
            <a:ext cx="7543800" cy="2686508"/>
          </a:xfrm>
          <a:prstGeom prst="rect">
            <a:avLst/>
          </a:prstGeom>
          <a:solidFill>
            <a:srgbClr val="FFFFFF"/>
          </a:solidFill>
          <a:ln w="12700">
            <a:solidFill>
              <a:srgbClr val="111111"/>
            </a:solidFill>
          </a:ln>
        </p:spPr>
        <p:txBody>
          <a:bodyPr lIns="45719" rIns="45719"/>
          <a:lstStyle/>
          <a:p>
            <a:pPr/>
          </a:p>
        </p:txBody>
      </p:sp>
      <p:sp>
        <p:nvSpPr>
          <p:cNvPr id="286" name="Shape 28"/>
          <p:cNvSpPr/>
          <p:nvPr/>
        </p:nvSpPr>
        <p:spPr>
          <a:xfrm>
            <a:off x="5724144" y="8391449"/>
            <a:ext cx="7524599" cy="209399"/>
          </a:xfrm>
          <a:prstGeom prst="rect">
            <a:avLst/>
          </a:prstGeom>
          <a:solidFill>
            <a:srgbClr val="E9E9E9"/>
          </a:solidFill>
          <a:ln w="12700">
            <a:miter lim="400000"/>
          </a:ln>
        </p:spPr>
        <p:txBody>
          <a:bodyPr lIns="45719" rIns="45719"/>
          <a:lstStyle/>
          <a:p>
            <a:pPr/>
          </a:p>
        </p:txBody>
      </p:sp>
      <p:sp>
        <p:nvSpPr>
          <p:cNvPr id="287" name="Shape 29"/>
          <p:cNvSpPr/>
          <p:nvPr/>
        </p:nvSpPr>
        <p:spPr>
          <a:xfrm>
            <a:off x="5724144" y="8589923"/>
            <a:ext cx="7524599" cy="12701"/>
          </a:xfrm>
          <a:prstGeom prst="rect">
            <a:avLst/>
          </a:prstGeom>
          <a:solidFill>
            <a:srgbClr val="111111"/>
          </a:solidFill>
          <a:ln w="12700">
            <a:solidFill>
              <a:srgbClr val="111111">
                <a:alpha val="0"/>
              </a:srgbClr>
            </a:solidFill>
          </a:ln>
        </p:spPr>
        <p:txBody>
          <a:bodyPr lIns="45719" rIns="45719"/>
          <a:lstStyle/>
          <a:p>
            <a:pPr/>
          </a:p>
        </p:txBody>
      </p:sp>
      <p:grpSp>
        <p:nvGrpSpPr>
          <p:cNvPr id="290" name="Text 30"/>
          <p:cNvGrpSpPr/>
          <p:nvPr/>
        </p:nvGrpSpPr>
        <p:grpSpPr>
          <a:xfrm>
            <a:off x="5724144" y="8391449"/>
            <a:ext cx="7525512" cy="165710"/>
            <a:chOff x="0" y="0"/>
            <a:chExt cx="7525511" cy="165709"/>
          </a:xfrm>
        </p:grpSpPr>
        <p:sp>
          <p:nvSpPr>
            <p:cNvPr id="288" name="Rectangle"/>
            <p:cNvSpPr/>
            <p:nvPr/>
          </p:nvSpPr>
          <p:spPr>
            <a:xfrm>
              <a:off x="0" y="0"/>
              <a:ext cx="7525512"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289" name="TREE / VEGETATION SCHEDULE"/>
            <p:cNvSpPr txBox="1"/>
            <p:nvPr/>
          </p:nvSpPr>
          <p:spPr>
            <a:xfrm>
              <a:off x="55562" y="38709"/>
              <a:ext cx="74143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TREE / VEGETATION SCHEDULE</a:t>
              </a:r>
            </a:p>
          </p:txBody>
        </p:sp>
      </p:grpSp>
      <p:graphicFrame>
        <p:nvGraphicFramePr>
          <p:cNvPr id="291" name="Table 0"/>
          <p:cNvGraphicFramePr/>
          <p:nvPr/>
        </p:nvGraphicFramePr>
        <p:xfrm>
          <a:off x="5724144" y="8600846"/>
          <a:ext cx="7516369" cy="886056"/>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70001"/>
                <a:gridCol w="1405433"/>
                <a:gridCol w="1585570"/>
                <a:gridCol w="490118"/>
                <a:gridCol w="747979"/>
                <a:gridCol w="828446"/>
                <a:gridCol w="875995"/>
                <a:gridCol w="1112825"/>
              </a:tblGrid>
              <a:tr h="177211">
                <a:tc>
                  <a:txBody>
                    <a:bodyPr/>
                    <a:lstStyle/>
                    <a:p>
                      <a:pPr algn="ctr">
                        <a:defRPr sz="1800"/>
                      </a:pPr>
                      <a:r>
                        <a:rPr b="1" sz="700">
                          <a:latin typeface="Arial"/>
                          <a:ea typeface="Arial"/>
                          <a:cs typeface="Arial"/>
                          <a:sym typeface="Arial"/>
                        </a:rPr>
                        <a:t>TAG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COMMON NAME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BOTANICAL NAME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DBH</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HEIGHT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CANOPY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ACTION</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PERMIT REF</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7211">
                <a:tc>
                  <a:txBody>
                    <a:bodyPr/>
                    <a:lstStyle/>
                    <a:p>
                      <a:pPr algn="ctr">
                        <a:defRPr sz="1800"/>
                      </a:pPr>
                      <a:r>
                        <a:rPr sz="700">
                          <a:latin typeface="Arial"/>
                          <a:ea typeface="Arial"/>
                          <a:cs typeface="Arial"/>
                          <a:sym typeface="Arial"/>
                        </a:rPr>
                        <a:t>T1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{{SE_NAME}}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i="1" sz="700">
                          <a:latin typeface="Arial"/>
                          <a:ea typeface="Arial"/>
                          <a:cs typeface="Arial"/>
                          <a:sym typeface="Arial"/>
                        </a:rPr>
                        <a:t>[Genus species]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{{DIM_IN}}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REMOVE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{{GC_PO_BOX}}</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7211">
                <a:tc>
                  <a:txBody>
                    <a:bodyPr/>
                    <a:lstStyle/>
                    <a:p>
                      <a:pPr algn="ctr">
                        <a:defRPr sz="1800"/>
                      </a:pPr>
                      <a:r>
                        <a:rPr sz="700">
                          <a:latin typeface="Arial"/>
                          <a:ea typeface="Arial"/>
                          <a:cs typeface="Arial"/>
                          <a:sym typeface="Arial"/>
                        </a:rPr>
                        <a:t>T2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{{SE_NAME}}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i="1" sz="700">
                          <a:latin typeface="Arial"/>
                          <a:ea typeface="Arial"/>
                          <a:cs typeface="Arial"/>
                          <a:sym typeface="Arial"/>
                        </a:rPr>
                        <a:t>[Genus species]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{{DIM_IN}}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PROTECT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7211">
                <a:tc>
                  <a:txBody>
                    <a:bodyPr/>
                    <a:lstStyle/>
                    <a:p>
                      <a:pPr algn="ctr">
                        <a:defRPr sz="1800"/>
                      </a:pPr>
                      <a:r>
                        <a:rPr sz="700">
                          <a:latin typeface="Arial"/>
                          <a:ea typeface="Arial"/>
                          <a:cs typeface="Arial"/>
                          <a:sym typeface="Arial"/>
                        </a:rPr>
                        <a:t>T3</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{{SE_NAME}}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i="1" sz="700">
                          <a:latin typeface="Arial"/>
                          <a:ea typeface="Arial"/>
                          <a:cs typeface="Arial"/>
                          <a:sym typeface="Arial"/>
                        </a:rPr>
                        <a:t>[Genus species]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{{DIM_IN}}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PROTECT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7211">
                <a:tc>
                  <a:txBody>
                    <a:bodyPr/>
                    <a:lstStyle/>
                    <a:p>
                      <a:pPr algn="ctr">
                        <a:defRPr sz="1800"/>
                      </a:pPr>
                      <a:r>
                        <a:rPr sz="700">
                          <a:latin typeface="Arial"/>
                          <a:ea typeface="Arial"/>
                          <a:cs typeface="Arial"/>
                          <a:sym typeface="Arial"/>
                        </a:rPr>
                        <a:t>T4</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{{SE_NAME}}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i="1" sz="700">
                          <a:latin typeface="Arial"/>
                          <a:ea typeface="Arial"/>
                          <a:cs typeface="Arial"/>
                          <a:sym typeface="Arial"/>
                        </a:rPr>
                        <a:t>[Genus species]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{{DIM_IN}}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PROTECT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292" name="Shape 31"/>
          <p:cNvSpPr/>
          <p:nvPr/>
        </p:nvSpPr>
        <p:spPr>
          <a:xfrm>
            <a:off x="4095598" y="11190478"/>
            <a:ext cx="9144001" cy="12701"/>
          </a:xfrm>
          <a:prstGeom prst="rect">
            <a:avLst/>
          </a:prstGeom>
          <a:solidFill>
            <a:srgbClr val="111111"/>
          </a:solidFill>
          <a:ln w="12700">
            <a:solidFill>
              <a:srgbClr val="111111">
                <a:alpha val="0"/>
              </a:srgbClr>
            </a:solidFill>
          </a:ln>
        </p:spPr>
        <p:txBody>
          <a:bodyPr lIns="45719" rIns="45719"/>
          <a:lstStyle/>
          <a:p>
            <a:pPr/>
          </a:p>
        </p:txBody>
      </p:sp>
      <p:grpSp>
        <p:nvGrpSpPr>
          <p:cNvPr id="295" name="Text 32"/>
          <p:cNvGrpSpPr/>
          <p:nvPr/>
        </p:nvGrpSpPr>
        <p:grpSpPr>
          <a:xfrm>
            <a:off x="4095598" y="11214861"/>
            <a:ext cx="9144001" cy="140157"/>
            <a:chOff x="0" y="0"/>
            <a:chExt cx="9144000" cy="140156"/>
          </a:xfrm>
        </p:grpSpPr>
        <p:sp>
          <p:nvSpPr>
            <p:cNvPr id="293" name="Rectangle"/>
            <p:cNvSpPr/>
            <p:nvPr/>
          </p:nvSpPr>
          <p:spPr>
            <a:xfrm>
              <a:off x="0" y="24943"/>
              <a:ext cx="91440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294" name="1 — DEMOLITION PLAN · SCALE: 1&quot; = {{NUM}}'"/>
            <p:cNvSpPr txBox="1"/>
            <p:nvPr/>
          </p:nvSpPr>
          <p:spPr>
            <a:xfrm>
              <a:off x="42862" y="-1"/>
              <a:ext cx="90582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DEMOLITION PLAN · SCALE: 1" = {{NUM}}'</a:t>
              </a:r>
            </a:p>
          </p:txBody>
        </p:sp>
      </p:grpSp>
      <p:sp>
        <p:nvSpPr>
          <p:cNvPr id="296" name="Shape 33"/>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297" name="Shape 34"/>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323" name="ClearSky Logo"/>
          <p:cNvPicPr/>
          <p:nvPr/>
        </p:nvPicPr>
        <p:blipFill>
          <a:blip r:embed="rId2" cstate="print"/>
          <a:stretch>
            <a:fillRect/>
          </a:stretch>
        </p:blipFill>
        <p:spPr>
          <a:xfrm>
            <a:off x="16822342" y="673813"/>
            <a:ext cx="574909" cy="481174"/>
          </a:xfrm>
          <a:prstGeom prst="rect">
            <a:avLst/>
          </a:prstGeom>
        </p:spPr>
      </p:pic>
      <p:pic>
        <p:nvPicPr>
          <p:cNvPr id="324" name="ClearSky Logo"/>
          <p:cNvPicPr/>
          <p:nvPr/>
        </p:nvPicPr>
        <p:blipFill>
          <a:blip r:embed="rId2" cstate="print"/>
          <a:stretch>
            <a:fillRect/>
          </a:stretch>
        </p:blipFill>
        <p:spPr>
          <a:xfrm>
            <a:off x="16975670" y="1101684"/>
            <a:ext cx="269163" cy="225278"/>
          </a:xfrm>
          <a:prstGeom prst="rect">
            <a:avLst/>
          </a:prstGeom>
        </p:spPr>
      </p:pic>
      <p:sp>
        <p:nvSpPr>
          <p:cNvPr id="300" name="Text 37"/>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301" name="Shape 38"/>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302" name="Shape 39"/>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303" name="Text 40"/>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304" name="Text 41"/>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305" name="Text 42"/>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306" name="Text 43"/>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307" name="Shape 44"/>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308" name="Shape 45"/>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309" name="Table 1"/>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10" name="Shape 46"/>
          <p:cNvSpPr/>
          <p:nvPr/>
        </p:nvSpPr>
        <p:spPr>
          <a:xfrm>
            <a:off x="16154705" y="9372600"/>
            <a:ext cx="1904696" cy="1000353"/>
          </a:xfrm>
          <a:prstGeom prst="rect">
            <a:avLst/>
          </a:prstGeom>
          <a:solidFill>
            <a:srgbClr val="FFFFFF"/>
          </a:solidFill>
          <a:ln w="12700">
            <a:miter lim="400000"/>
          </a:ln>
        </p:spPr>
        <p:txBody>
          <a:bodyPr lIns="45719" rIns="45719"/>
          <a:lstStyle/>
          <a:p>
            <a:pPr/>
          </a:p>
        </p:txBody>
      </p:sp>
      <p:sp>
        <p:nvSpPr>
          <p:cNvPr id="311" name="Shape 47"/>
          <p:cNvSpPr/>
          <p:nvPr/>
        </p:nvSpPr>
        <p:spPr>
          <a:xfrm>
            <a:off x="16154705" y="10362031"/>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314" name="Text 48"/>
          <p:cNvGrpSpPr/>
          <p:nvPr/>
        </p:nvGrpSpPr>
        <p:grpSpPr>
          <a:xfrm>
            <a:off x="16154705" y="9372599"/>
            <a:ext cx="1905611" cy="857709"/>
            <a:chOff x="0" y="0"/>
            <a:chExt cx="1905610" cy="857707"/>
          </a:xfrm>
        </p:grpSpPr>
        <p:sp>
          <p:nvSpPr>
            <p:cNvPr id="312" name="Rectangle"/>
            <p:cNvSpPr/>
            <p:nvPr/>
          </p:nvSpPr>
          <p:spPr>
            <a:xfrm>
              <a:off x="-1" y="-1"/>
              <a:ext cx="1905612" cy="857709"/>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3700"/>
              </a:pPr>
            </a:p>
          </p:txBody>
        </p:sp>
        <p:sp>
          <p:nvSpPr>
            <p:cNvPr id="313" name="E1.2"/>
            <p:cNvSpPr txBox="1"/>
            <p:nvPr/>
          </p:nvSpPr>
          <p:spPr>
            <a:xfrm>
              <a:off x="144462" y="239689"/>
              <a:ext cx="1616686" cy="5180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4" sz="3700">
                  <a:latin typeface="Arial"/>
                  <a:ea typeface="Arial"/>
                  <a:cs typeface="Arial"/>
                  <a:sym typeface="Arial"/>
                </a:defRPr>
              </a:lvl1pPr>
            </a:lstStyle>
            <a:p>
              <a:pPr/>
              <a:r>
                <a:t>E1.2</a:t>
              </a:r>
            </a:p>
          </p:txBody>
        </p:sp>
      </p:grpSp>
      <p:sp>
        <p:nvSpPr>
          <p:cNvPr id="315" name="Shape 49"/>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316" name="Shape 50"/>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319" name="Text 51"/>
          <p:cNvGrpSpPr/>
          <p:nvPr/>
        </p:nvGrpSpPr>
        <p:grpSpPr>
          <a:xfrm>
            <a:off x="16154705" y="10230307"/>
            <a:ext cx="1905611" cy="286208"/>
            <a:chOff x="0" y="0"/>
            <a:chExt cx="1905610" cy="286206"/>
          </a:xfrm>
        </p:grpSpPr>
        <p:sp>
          <p:nvSpPr>
            <p:cNvPr id="317"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318" name="DEMOLITION PLAN"/>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DEMOLITION PLAN</a:t>
              </a:r>
            </a:p>
          </p:txBody>
        </p:sp>
      </p:grpSp>
      <p:sp>
        <p:nvSpPr>
          <p:cNvPr id="320" name="Shape 52"/>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321" name="Table 2"/>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22" name="Image"/>
          <p:cNvSpPr/>
          <p:nvPr/>
        </p:nvSpPr>
        <p:spPr>
          <a:xfrm>
            <a:off x="4863294" y="709979"/>
            <a:ext cx="8599816" cy="6898148"/>
          </a:xfrm>
          <a:prstGeom prst="roundRect">
            <a:avLst>
              <a:gd name="adj" fmla="val 6458"/>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4"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325"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326"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327"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328" name="Shape 4"/>
          <p:cNvSpPr/>
          <p:nvPr/>
        </p:nvSpPr>
        <p:spPr>
          <a:xfrm>
            <a:off x="342899" y="342900"/>
            <a:ext cx="7487109" cy="1410006"/>
          </a:xfrm>
          <a:prstGeom prst="rect">
            <a:avLst/>
          </a:prstGeom>
          <a:solidFill>
            <a:srgbClr val="FFFFFF"/>
          </a:solidFill>
          <a:ln w="12700">
            <a:solidFill>
              <a:srgbClr val="111111"/>
            </a:solidFill>
          </a:ln>
        </p:spPr>
        <p:txBody>
          <a:bodyPr lIns="45719" rIns="45719"/>
          <a:lstStyle/>
          <a:p>
            <a:pPr/>
          </a:p>
        </p:txBody>
      </p:sp>
      <p:sp>
        <p:nvSpPr>
          <p:cNvPr id="329" name="Text 5"/>
          <p:cNvSpPr txBox="1"/>
          <p:nvPr/>
        </p:nvSpPr>
        <p:spPr>
          <a:xfrm>
            <a:off x="466344" y="427533"/>
            <a:ext cx="72393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SLD GENERAL NOTES</a:t>
            </a:r>
          </a:p>
        </p:txBody>
      </p:sp>
      <p:sp>
        <p:nvSpPr>
          <p:cNvPr id="330" name="Text 6"/>
          <p:cNvSpPr txBox="1"/>
          <p:nvPr/>
        </p:nvSpPr>
        <p:spPr>
          <a:xfrm>
            <a:off x="638251" y="578409"/>
            <a:ext cx="70683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POINT OF INTERCONNECTION (POI) PER UTILITY REQUIREMENTS. SEE INTERCONNECTION AGREEMENT.</a:t>
            </a:r>
          </a:p>
        </p:txBody>
      </p:sp>
      <p:sp>
        <p:nvSpPr>
          <p:cNvPr id="331" name="Text 7"/>
          <p:cNvSpPr txBox="1"/>
          <p:nvPr/>
        </p:nvSpPr>
        <p:spPr>
          <a:xfrm>
            <a:off x="638251" y="650885"/>
            <a:ext cx="7552943" cy="2252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EQUIPMENT TO BE LISTED PER UL STANDARDS APPLICABLE; BESS PER UL 9540, BATTERY MODULES PER UL 1973, INVERTERS PER UL 1741 / IEEE 1547.</a:t>
            </a:r>
          </a:p>
        </p:txBody>
      </p:sp>
      <p:sp>
        <p:nvSpPr>
          <p:cNvPr id="332" name="Text 8"/>
          <p:cNvSpPr txBox="1"/>
          <p:nvPr/>
        </p:nvSpPr>
        <p:spPr>
          <a:xfrm>
            <a:off x="638251" y="822552"/>
            <a:ext cx="70683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FIELD WIRING TO COMPLY WITH NEC 2023 (OR ADOPTED EDITION) — ART. 690, 705, &amp; 706.</a:t>
            </a:r>
          </a:p>
        </p:txBody>
      </p:sp>
      <p:sp>
        <p:nvSpPr>
          <p:cNvPr id="333" name="Text 9"/>
          <p:cNvSpPr txBox="1"/>
          <p:nvPr/>
        </p:nvSpPr>
        <p:spPr>
          <a:xfrm>
            <a:off x="638251" y="945082"/>
            <a:ext cx="70683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CONDUCTORS SIZED PER ATTACHED CABLE / VOLTAGE-DROP SCHEDULE. INSTALLATION METHODS PER NEC TABLE 310.16.</a:t>
            </a:r>
          </a:p>
        </p:txBody>
      </p:sp>
      <p:sp>
        <p:nvSpPr>
          <p:cNvPr id="334" name="Text 10"/>
          <p:cNvSpPr txBox="1"/>
          <p:nvPr/>
        </p:nvSpPr>
        <p:spPr>
          <a:xfrm>
            <a:off x="638251" y="1066697"/>
            <a:ext cx="706831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ANTI-ISLANDING / RAPID SHUTDOWN PER UL 1741 SA / IEEE 1547-2018.</a:t>
            </a:r>
          </a:p>
        </p:txBody>
      </p:sp>
      <p:sp>
        <p:nvSpPr>
          <p:cNvPr id="335" name="Shape 11"/>
          <p:cNvSpPr/>
          <p:nvPr/>
        </p:nvSpPr>
        <p:spPr>
          <a:xfrm>
            <a:off x="7715707" y="342900"/>
            <a:ext cx="3581706" cy="1410006"/>
          </a:xfrm>
          <a:prstGeom prst="rect">
            <a:avLst/>
          </a:prstGeom>
          <a:solidFill>
            <a:srgbClr val="FFFFFF"/>
          </a:solidFill>
          <a:ln w="12700">
            <a:solidFill>
              <a:srgbClr val="111111"/>
            </a:solidFill>
          </a:ln>
        </p:spPr>
        <p:txBody>
          <a:bodyPr lIns="45719" rIns="45719"/>
          <a:lstStyle/>
          <a:p>
            <a:pPr/>
          </a:p>
        </p:txBody>
      </p:sp>
      <p:sp>
        <p:nvSpPr>
          <p:cNvPr id="336" name="Text 12"/>
          <p:cNvSpPr txBox="1"/>
          <p:nvPr/>
        </p:nvSpPr>
        <p:spPr>
          <a:xfrm>
            <a:off x="7839150" y="441706"/>
            <a:ext cx="33339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METER / SERVICE</a:t>
            </a:r>
          </a:p>
        </p:txBody>
      </p:sp>
      <p:sp>
        <p:nvSpPr>
          <p:cNvPr id="337" name="Text 13"/>
          <p:cNvSpPr txBox="1"/>
          <p:nvPr/>
        </p:nvSpPr>
        <p:spPr>
          <a:xfrm>
            <a:off x="7839150" y="691119"/>
            <a:ext cx="3333903" cy="5681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Utility: {{UTILITY}}</a:t>
            </a:r>
          </a:p>
          <a:p>
            <a:pPr>
              <a:defRPr sz="800">
                <a:latin typeface="Arial"/>
                <a:ea typeface="Arial"/>
                <a:cs typeface="Arial"/>
                <a:sym typeface="Arial"/>
              </a:defRPr>
            </a:pPr>
            <a:r>
              <a:t xml:space="preserve"> Meter Number: </a:t>
            </a:r>
            <a:r>
              <a:rPr b="1"/>
              <a:t>{{METER_NO}}</a:t>
            </a:r>
          </a:p>
          <a:p>
            <a:pPr>
              <a:defRPr sz="800">
                <a:latin typeface="Arial"/>
                <a:ea typeface="Arial"/>
                <a:cs typeface="Arial"/>
                <a:sym typeface="Arial"/>
              </a:defRPr>
            </a:pPr>
            <a:r>
              <a:t xml:space="preserve"> Service Voltage: {{VOLTAGE}} / {{PHASE}} / {{FREQ}}</a:t>
            </a:r>
          </a:p>
          <a:p>
            <a:pPr>
              <a:defRPr sz="800">
                <a:latin typeface="Arial"/>
                <a:ea typeface="Arial"/>
                <a:cs typeface="Arial"/>
                <a:sym typeface="Arial"/>
              </a:defRPr>
            </a:pPr>
            <a:r>
              <a:t xml:space="preserve"> Service Rating: {{ACDIS}} AT MAIN</a:t>
            </a:r>
          </a:p>
          <a:p>
            <a:pPr>
              <a:defRPr sz="800">
                <a:latin typeface="Arial"/>
                <a:ea typeface="Arial"/>
                <a:cs typeface="Arial"/>
                <a:sym typeface="Arial"/>
              </a:defRPr>
            </a:pPr>
            <a:r>
              <a:t xml:space="preserve"> Existing AIC: {{KAIC}}</a:t>
            </a:r>
          </a:p>
        </p:txBody>
      </p:sp>
      <p:sp>
        <p:nvSpPr>
          <p:cNvPr id="338" name="Shape 14"/>
          <p:cNvSpPr/>
          <p:nvPr/>
        </p:nvSpPr>
        <p:spPr>
          <a:xfrm>
            <a:off x="11144707" y="342900"/>
            <a:ext cx="4914901" cy="1410006"/>
          </a:xfrm>
          <a:prstGeom prst="rect">
            <a:avLst/>
          </a:prstGeom>
          <a:solidFill>
            <a:srgbClr val="FFFFFF"/>
          </a:solidFill>
          <a:ln w="12700">
            <a:solidFill>
              <a:srgbClr val="111111"/>
            </a:solidFill>
          </a:ln>
        </p:spPr>
        <p:txBody>
          <a:bodyPr lIns="45719" rIns="45719"/>
          <a:lstStyle/>
          <a:p>
            <a:pPr/>
          </a:p>
        </p:txBody>
      </p:sp>
      <p:sp>
        <p:nvSpPr>
          <p:cNvPr id="339" name="Text 15"/>
          <p:cNvSpPr txBox="1"/>
          <p:nvPr/>
        </p:nvSpPr>
        <p:spPr>
          <a:xfrm>
            <a:off x="11268150" y="427533"/>
            <a:ext cx="466801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STORAGE NOTES</a:t>
            </a:r>
          </a:p>
        </p:txBody>
      </p:sp>
      <p:sp>
        <p:nvSpPr>
          <p:cNvPr id="340" name="Text 16"/>
          <p:cNvSpPr txBox="1"/>
          <p:nvPr/>
        </p:nvSpPr>
        <p:spPr>
          <a:xfrm>
            <a:off x="11268150" y="590992"/>
            <a:ext cx="4668013" cy="4538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PROPOSED STORAGE DEVICE(S) WILL NOT EXPORT TO THE UTILITY GRID. SYSTEM IS CONFIGURED AS A NON-EXPORT, BEHIND-THE-METER ENERGY STORAGE SYSTEM USING UL-LISTED INVERTERS WITH NON-EXPORT CONTROLS. SYSTEM OPERATION SHALL COMPLY WITH UTILITY INTERCONNECTION AGREEMENT AND ALL APPLICABLE STANDARDS.</a:t>
            </a:r>
          </a:p>
        </p:txBody>
      </p:sp>
      <p:sp>
        <p:nvSpPr>
          <p:cNvPr id="341" name="Shape 17"/>
          <p:cNvSpPr/>
          <p:nvPr/>
        </p:nvSpPr>
        <p:spPr>
          <a:xfrm>
            <a:off x="342900" y="8572500"/>
            <a:ext cx="15449702" cy="2495399"/>
          </a:xfrm>
          <a:prstGeom prst="rect">
            <a:avLst/>
          </a:prstGeom>
          <a:solidFill>
            <a:srgbClr val="FFFFFF"/>
          </a:solidFill>
          <a:ln w="12700">
            <a:solidFill>
              <a:srgbClr val="111111"/>
            </a:solidFill>
          </a:ln>
        </p:spPr>
        <p:txBody>
          <a:bodyPr lIns="45719" rIns="45719"/>
          <a:lstStyle/>
          <a:p>
            <a:pPr/>
          </a:p>
        </p:txBody>
      </p:sp>
      <p:sp>
        <p:nvSpPr>
          <p:cNvPr id="342" name="Shape 18"/>
          <p:cNvSpPr/>
          <p:nvPr/>
        </p:nvSpPr>
        <p:spPr>
          <a:xfrm>
            <a:off x="352043" y="8581643"/>
            <a:ext cx="15430501" cy="209399"/>
          </a:xfrm>
          <a:prstGeom prst="rect">
            <a:avLst/>
          </a:prstGeom>
          <a:solidFill>
            <a:srgbClr val="E9E9E9"/>
          </a:solidFill>
          <a:ln w="12700">
            <a:miter lim="400000"/>
          </a:ln>
        </p:spPr>
        <p:txBody>
          <a:bodyPr lIns="45719" rIns="45719"/>
          <a:lstStyle/>
          <a:p>
            <a:pPr/>
          </a:p>
        </p:txBody>
      </p:sp>
      <p:sp>
        <p:nvSpPr>
          <p:cNvPr id="343" name="Shape 19"/>
          <p:cNvSpPr/>
          <p:nvPr/>
        </p:nvSpPr>
        <p:spPr>
          <a:xfrm>
            <a:off x="352043" y="8780119"/>
            <a:ext cx="15430501" cy="12701"/>
          </a:xfrm>
          <a:prstGeom prst="rect">
            <a:avLst/>
          </a:prstGeom>
          <a:solidFill>
            <a:srgbClr val="111111"/>
          </a:solidFill>
          <a:ln w="12700">
            <a:solidFill>
              <a:srgbClr val="111111">
                <a:alpha val="0"/>
              </a:srgbClr>
            </a:solidFill>
          </a:ln>
        </p:spPr>
        <p:txBody>
          <a:bodyPr lIns="45719" rIns="45719"/>
          <a:lstStyle/>
          <a:p>
            <a:pPr/>
          </a:p>
        </p:txBody>
      </p:sp>
      <p:grpSp>
        <p:nvGrpSpPr>
          <p:cNvPr id="346" name="Text 20"/>
          <p:cNvGrpSpPr/>
          <p:nvPr/>
        </p:nvGrpSpPr>
        <p:grpSpPr>
          <a:xfrm>
            <a:off x="352043" y="8581643"/>
            <a:ext cx="15430501" cy="165711"/>
            <a:chOff x="0" y="0"/>
            <a:chExt cx="15430500" cy="165709"/>
          </a:xfrm>
        </p:grpSpPr>
        <p:sp>
          <p:nvSpPr>
            <p:cNvPr id="344" name="Rectangle"/>
            <p:cNvSpPr/>
            <p:nvPr/>
          </p:nvSpPr>
          <p:spPr>
            <a:xfrm>
              <a:off x="0" y="0"/>
              <a:ext cx="15430500"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345" name="CABLE SCHEDULE / VOLTAGE-DROP CALCULATIONS"/>
            <p:cNvSpPr txBox="1"/>
            <p:nvPr/>
          </p:nvSpPr>
          <p:spPr>
            <a:xfrm>
              <a:off x="55562" y="38709"/>
              <a:ext cx="153193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CABLE SCHEDULE / VOLTAGE-DROP CALCULATIONS</a:t>
              </a:r>
            </a:p>
          </p:txBody>
        </p:sp>
      </p:grpSp>
      <p:graphicFrame>
        <p:nvGraphicFramePr>
          <p:cNvPr id="347" name="Table 0"/>
          <p:cNvGraphicFramePr/>
          <p:nvPr/>
        </p:nvGraphicFramePr>
        <p:xfrm>
          <a:off x="352043" y="8791956"/>
          <a:ext cx="15421356" cy="140086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1048817"/>
                <a:gridCol w="1516990"/>
                <a:gridCol w="1923898"/>
                <a:gridCol w="1060704"/>
                <a:gridCol w="1180490"/>
                <a:gridCol w="1572768"/>
                <a:gridCol w="1106424"/>
                <a:gridCol w="1697126"/>
                <a:gridCol w="1130198"/>
                <a:gridCol w="1153058"/>
                <a:gridCol w="734263"/>
                <a:gridCol w="1296619"/>
              </a:tblGrid>
              <a:tr h="175108">
                <a:tc>
                  <a:txBody>
                    <a:bodyPr/>
                    <a:lstStyle/>
                    <a:p>
                      <a:pPr algn="ctr">
                        <a:defRPr sz="1800"/>
                      </a:pPr>
                      <a:r>
                        <a:rPr b="1" sz="700">
                          <a:latin typeface="Arial"/>
                          <a:ea typeface="Arial"/>
                          <a:cs typeface="Arial"/>
                          <a:sym typeface="Arial"/>
                        </a:rPr>
                        <a:t>CIRCUIT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FROM</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TO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PHASES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VOLTAGE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CURRENT (A)</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RUN (FT)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CONDUCTORS</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GROUND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CONDUIT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VD %</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METHOD</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5108">
                <a:tc>
                  <a:txBody>
                    <a:bodyPr/>
                    <a:lstStyle/>
                    <a:p>
                      <a:pPr algn="ctr">
                        <a:defRPr sz="1800"/>
                      </a:pPr>
                      <a:r>
                        <a:rPr sz="700">
                          <a:latin typeface="Arial"/>
                          <a:ea typeface="Arial"/>
                          <a:cs typeface="Arial"/>
                          <a:sym typeface="Arial"/>
                        </a:rPr>
                        <a:t>C1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BANK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{{DCV}}</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C3</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BANK 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{{DCV}}</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C4</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 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(N) SWITCHGEAR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XFMR SEC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AUX DISCO</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ctr">
                        <a:defRPr sz="1800"/>
                      </a:pPr>
                      <a:r>
                        <a:rPr sz="700">
                          <a:latin typeface="Arial"/>
                          <a:ea typeface="Arial"/>
                          <a:cs typeface="Arial"/>
                          <a:sym typeface="Arial"/>
                        </a:rPr>
                        <a:t>C7</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AUX DISCO</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AUX LOADS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3-PH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{{INV_AC}}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{{ACDIS}}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 EMT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{{PCT}}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310.16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48" name="Shape 21"/>
          <p:cNvSpPr/>
          <p:nvPr/>
        </p:nvSpPr>
        <p:spPr>
          <a:xfrm>
            <a:off x="342900" y="11190478"/>
            <a:ext cx="15430500" cy="12701"/>
          </a:xfrm>
          <a:prstGeom prst="rect">
            <a:avLst/>
          </a:prstGeom>
          <a:solidFill>
            <a:srgbClr val="111111"/>
          </a:solidFill>
          <a:ln w="12700">
            <a:solidFill>
              <a:srgbClr val="111111">
                <a:alpha val="0"/>
              </a:srgbClr>
            </a:solidFill>
          </a:ln>
        </p:spPr>
        <p:txBody>
          <a:bodyPr lIns="45719" rIns="45719"/>
          <a:lstStyle/>
          <a:p>
            <a:pPr/>
          </a:p>
        </p:txBody>
      </p:sp>
      <p:grpSp>
        <p:nvGrpSpPr>
          <p:cNvPr id="351" name="Text 22"/>
          <p:cNvGrpSpPr/>
          <p:nvPr/>
        </p:nvGrpSpPr>
        <p:grpSpPr>
          <a:xfrm>
            <a:off x="342900" y="11214861"/>
            <a:ext cx="15430500" cy="140157"/>
            <a:chOff x="0" y="0"/>
            <a:chExt cx="15430500" cy="140156"/>
          </a:xfrm>
        </p:grpSpPr>
        <p:sp>
          <p:nvSpPr>
            <p:cNvPr id="349" name="Rectangle"/>
            <p:cNvSpPr/>
            <p:nvPr/>
          </p:nvSpPr>
          <p:spPr>
            <a:xfrm>
              <a:off x="0" y="24943"/>
              <a:ext cx="154305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350" name="1 — SINGLE LINE DIAGRAM · NOT TO SCALE"/>
            <p:cNvSpPr txBox="1"/>
            <p:nvPr/>
          </p:nvSpPr>
          <p:spPr>
            <a:xfrm>
              <a:off x="42862" y="-1"/>
              <a:ext cx="153447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SINGLE LINE DIAGRAM · NOT TO SCALE</a:t>
              </a:r>
            </a:p>
          </p:txBody>
        </p:sp>
      </p:grpSp>
      <p:sp>
        <p:nvSpPr>
          <p:cNvPr id="352" name="Shape 23"/>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353" name="Shape 24"/>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379" name="ClearSky Logo"/>
          <p:cNvPicPr/>
          <p:nvPr/>
        </p:nvPicPr>
        <p:blipFill>
          <a:blip r:embed="rId2" cstate="print"/>
          <a:stretch>
            <a:fillRect/>
          </a:stretch>
        </p:blipFill>
        <p:spPr>
          <a:xfrm>
            <a:off x="16822342" y="673813"/>
            <a:ext cx="574909" cy="481174"/>
          </a:xfrm>
          <a:prstGeom prst="rect">
            <a:avLst/>
          </a:prstGeom>
        </p:spPr>
      </p:pic>
      <p:pic>
        <p:nvPicPr>
          <p:cNvPr id="380" name="ClearSky Logo"/>
          <p:cNvPicPr/>
          <p:nvPr/>
        </p:nvPicPr>
        <p:blipFill>
          <a:blip r:embed="rId2" cstate="print"/>
          <a:stretch>
            <a:fillRect/>
          </a:stretch>
        </p:blipFill>
        <p:spPr>
          <a:xfrm>
            <a:off x="16975670" y="1101684"/>
            <a:ext cx="269163" cy="225278"/>
          </a:xfrm>
          <a:prstGeom prst="rect">
            <a:avLst/>
          </a:prstGeom>
        </p:spPr>
      </p:pic>
      <p:sp>
        <p:nvSpPr>
          <p:cNvPr id="356" name="Text 27"/>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357" name="Shape 28"/>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358" name="Shape 29"/>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359" name="Text 30"/>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360" name="Text 31"/>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361" name="Text 32"/>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362" name="Text 33"/>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363" name="Shape 34"/>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364" name="Shape 35"/>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365" name="Table 1"/>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66" name="Shape 36"/>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367" name="Shape 37"/>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370" name="Text 38"/>
          <p:cNvGrpSpPr/>
          <p:nvPr/>
        </p:nvGrpSpPr>
        <p:grpSpPr>
          <a:xfrm>
            <a:off x="16154705" y="9372599"/>
            <a:ext cx="1905611" cy="858624"/>
            <a:chOff x="0" y="0"/>
            <a:chExt cx="1905610" cy="858622"/>
          </a:xfrm>
        </p:grpSpPr>
        <p:sp>
          <p:nvSpPr>
            <p:cNvPr id="368"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369" name="E2.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E2.0</a:t>
              </a:r>
            </a:p>
          </p:txBody>
        </p:sp>
      </p:grpSp>
      <p:sp>
        <p:nvSpPr>
          <p:cNvPr id="371" name="Shape 39"/>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372" name="Shape 40"/>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375" name="Text 41"/>
          <p:cNvGrpSpPr/>
          <p:nvPr/>
        </p:nvGrpSpPr>
        <p:grpSpPr>
          <a:xfrm>
            <a:off x="16154705" y="10230307"/>
            <a:ext cx="1905611" cy="286208"/>
            <a:chOff x="0" y="0"/>
            <a:chExt cx="1905610" cy="286206"/>
          </a:xfrm>
        </p:grpSpPr>
        <p:sp>
          <p:nvSpPr>
            <p:cNvPr id="373"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374" name="SINGLE LINE DIAGRAM"/>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SINGLE LINE DIAGRAM</a:t>
              </a:r>
            </a:p>
          </p:txBody>
        </p:sp>
      </p:grpSp>
      <p:sp>
        <p:nvSpPr>
          <p:cNvPr id="376" name="Shape 42"/>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377" name="Table 2"/>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378" name="Image"/>
          <p:cNvSpPr/>
          <p:nvPr/>
        </p:nvSpPr>
        <p:spPr>
          <a:xfrm>
            <a:off x="561109" y="2104846"/>
            <a:ext cx="15479449" cy="6115713"/>
          </a:xfrm>
          <a:prstGeom prst="roundRect">
            <a:avLst>
              <a:gd name="adj" fmla="val 9975"/>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0"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381"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382"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383" name="Shape 3"/>
          <p:cNvSpPr/>
          <p:nvPr/>
        </p:nvSpPr>
        <p:spPr>
          <a:xfrm>
            <a:off x="342899" y="342900"/>
            <a:ext cx="7276797" cy="3657600"/>
          </a:xfrm>
          <a:prstGeom prst="rect">
            <a:avLst/>
          </a:prstGeom>
          <a:solidFill>
            <a:srgbClr val="FFFFFF"/>
          </a:solidFill>
          <a:ln w="25400">
            <a:solidFill>
              <a:srgbClr val="111111"/>
            </a:solidFill>
          </a:ln>
        </p:spPr>
        <p:txBody>
          <a:bodyPr lIns="45719" rIns="45719"/>
          <a:lstStyle/>
          <a:p>
            <a:pPr/>
          </a:p>
        </p:txBody>
      </p:sp>
      <p:sp>
        <p:nvSpPr>
          <p:cNvPr id="384" name="Shape 4"/>
          <p:cNvSpPr/>
          <p:nvPr/>
        </p:nvSpPr>
        <p:spPr>
          <a:xfrm>
            <a:off x="7810804" y="342900"/>
            <a:ext cx="7276796" cy="3657600"/>
          </a:xfrm>
          <a:prstGeom prst="rect">
            <a:avLst/>
          </a:prstGeom>
          <a:solidFill>
            <a:srgbClr val="FFFFFF"/>
          </a:solidFill>
          <a:ln w="25400">
            <a:solidFill>
              <a:srgbClr val="111111"/>
            </a:solidFill>
          </a:ln>
        </p:spPr>
        <p:txBody>
          <a:bodyPr lIns="45719" rIns="45719"/>
          <a:lstStyle/>
          <a:p>
            <a:pPr/>
          </a:p>
        </p:txBody>
      </p:sp>
      <p:sp>
        <p:nvSpPr>
          <p:cNvPr id="385" name="Shape 5"/>
          <p:cNvSpPr/>
          <p:nvPr/>
        </p:nvSpPr>
        <p:spPr>
          <a:xfrm>
            <a:off x="342900" y="4153205"/>
            <a:ext cx="3657600" cy="2704795"/>
          </a:xfrm>
          <a:prstGeom prst="rect">
            <a:avLst/>
          </a:prstGeom>
          <a:solidFill>
            <a:srgbClr val="FFFFFF"/>
          </a:solidFill>
          <a:ln w="25400">
            <a:solidFill>
              <a:srgbClr val="111111"/>
            </a:solidFill>
          </a:ln>
        </p:spPr>
        <p:txBody>
          <a:bodyPr lIns="45719" rIns="45719"/>
          <a:lstStyle/>
          <a:p>
            <a:pPr/>
          </a:p>
        </p:txBody>
      </p:sp>
      <p:sp>
        <p:nvSpPr>
          <p:cNvPr id="386" name="Shape 6"/>
          <p:cNvSpPr/>
          <p:nvPr/>
        </p:nvSpPr>
        <p:spPr>
          <a:xfrm>
            <a:off x="4153205" y="4153205"/>
            <a:ext cx="3657601" cy="2704795"/>
          </a:xfrm>
          <a:prstGeom prst="rect">
            <a:avLst/>
          </a:prstGeom>
          <a:solidFill>
            <a:srgbClr val="FFFFFF"/>
          </a:solidFill>
          <a:ln w="25400">
            <a:solidFill>
              <a:srgbClr val="111111"/>
            </a:solidFill>
          </a:ln>
        </p:spPr>
        <p:txBody>
          <a:bodyPr lIns="45719" rIns="45719"/>
          <a:lstStyle/>
          <a:p>
            <a:pPr/>
          </a:p>
        </p:txBody>
      </p:sp>
      <p:sp>
        <p:nvSpPr>
          <p:cNvPr id="387" name="Shape 7"/>
          <p:cNvSpPr/>
          <p:nvPr/>
        </p:nvSpPr>
        <p:spPr>
          <a:xfrm>
            <a:off x="7962595" y="4153205"/>
            <a:ext cx="3657601" cy="2704795"/>
          </a:xfrm>
          <a:prstGeom prst="rect">
            <a:avLst/>
          </a:prstGeom>
          <a:solidFill>
            <a:srgbClr val="FFFFFF"/>
          </a:solidFill>
          <a:ln w="25400">
            <a:solidFill>
              <a:srgbClr val="111111"/>
            </a:solidFill>
          </a:ln>
        </p:spPr>
        <p:txBody>
          <a:bodyPr lIns="45719" rIns="45719"/>
          <a:lstStyle/>
          <a:p>
            <a:pPr/>
          </a:p>
        </p:txBody>
      </p:sp>
      <p:sp>
        <p:nvSpPr>
          <p:cNvPr id="388" name="Shape 8"/>
          <p:cNvSpPr/>
          <p:nvPr/>
        </p:nvSpPr>
        <p:spPr>
          <a:xfrm>
            <a:off x="11772900" y="4153205"/>
            <a:ext cx="3314700" cy="2704795"/>
          </a:xfrm>
          <a:prstGeom prst="rect">
            <a:avLst/>
          </a:prstGeom>
          <a:solidFill>
            <a:srgbClr val="FFFFFF"/>
          </a:solidFill>
          <a:ln w="25400">
            <a:solidFill>
              <a:srgbClr val="111111"/>
            </a:solidFill>
          </a:ln>
        </p:spPr>
        <p:txBody>
          <a:bodyPr lIns="45719" rIns="45719"/>
          <a:lstStyle/>
          <a:p>
            <a:pPr/>
          </a:p>
        </p:txBody>
      </p:sp>
      <p:sp>
        <p:nvSpPr>
          <p:cNvPr id="389" name="Shape 9"/>
          <p:cNvSpPr/>
          <p:nvPr/>
        </p:nvSpPr>
        <p:spPr>
          <a:xfrm>
            <a:off x="342900" y="7010704"/>
            <a:ext cx="5181906" cy="2133296"/>
          </a:xfrm>
          <a:prstGeom prst="rect">
            <a:avLst/>
          </a:prstGeom>
          <a:solidFill>
            <a:srgbClr val="FFFFFF"/>
          </a:solidFill>
          <a:ln w="25400">
            <a:solidFill>
              <a:srgbClr val="111111"/>
            </a:solidFill>
          </a:ln>
        </p:spPr>
        <p:txBody>
          <a:bodyPr lIns="45719" rIns="45719"/>
          <a:lstStyle/>
          <a:p>
            <a:pPr/>
          </a:p>
        </p:txBody>
      </p:sp>
      <p:sp>
        <p:nvSpPr>
          <p:cNvPr id="390" name="Shape 10"/>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sp>
        <p:nvSpPr>
          <p:cNvPr id="391" name="Text 11"/>
          <p:cNvSpPr txBox="1"/>
          <p:nvPr/>
        </p:nvSpPr>
        <p:spPr>
          <a:xfrm>
            <a:off x="342900" y="389584"/>
            <a:ext cx="72393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800">
                <a:latin typeface="Arial"/>
                <a:ea typeface="Arial"/>
                <a:cs typeface="Arial"/>
                <a:sym typeface="Arial"/>
              </a:defRPr>
            </a:pPr>
            <a:r>
              <a:t>LOCATION:</a:t>
            </a:r>
            <a:r>
              <a:rPr b="0"/>
              <a:t xml:space="preserve"> [LOCATION 1] </a:t>
            </a:r>
            <a:r>
              <a:t>QUANTITY:</a:t>
            </a:r>
            <a:r>
              <a:rPr b="0"/>
              <a:t xml:space="preserve"> {{BAT_QTY}}</a:t>
            </a:r>
          </a:p>
        </p:txBody>
      </p:sp>
      <p:sp>
        <p:nvSpPr>
          <p:cNvPr id="392" name="Text 12"/>
          <p:cNvSpPr txBox="1"/>
          <p:nvPr/>
        </p:nvSpPr>
        <p:spPr>
          <a:xfrm>
            <a:off x="342900" y="513029"/>
            <a:ext cx="7239304"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800">
                <a:latin typeface="Arial"/>
                <a:ea typeface="Arial"/>
                <a:cs typeface="Arial"/>
                <a:sym typeface="Arial"/>
              </a:defRPr>
            </a:pPr>
            <a:r>
              <a:t>TEXT:</a:t>
            </a:r>
            <a:r>
              <a:rPr b="0"/>
              <a:t xml:space="preserve"> HEADER: 36 point (4.475"); SUB: 28 points (3.25"); BODY: 26 points (3.135")</a:t>
            </a:r>
          </a:p>
        </p:txBody>
      </p:sp>
      <p:grpSp>
        <p:nvGrpSpPr>
          <p:cNvPr id="395" name="Text 13"/>
          <p:cNvGrpSpPr/>
          <p:nvPr/>
        </p:nvGrpSpPr>
        <p:grpSpPr>
          <a:xfrm>
            <a:off x="724205" y="1009497"/>
            <a:ext cx="6629401" cy="952806"/>
            <a:chOff x="0" y="0"/>
            <a:chExt cx="6629400" cy="952805"/>
          </a:xfrm>
        </p:grpSpPr>
        <p:sp>
          <p:nvSpPr>
            <p:cNvPr id="393" name="Rectangle"/>
            <p:cNvSpPr/>
            <p:nvPr/>
          </p:nvSpPr>
          <p:spPr>
            <a:xfrm>
              <a:off x="0" y="-1"/>
              <a:ext cx="6629400" cy="952807"/>
            </a:xfrm>
            <a:prstGeom prst="rect">
              <a:avLst/>
            </a:prstGeom>
            <a:solidFill>
              <a:srgbClr val="FFFEFA"/>
            </a:solidFill>
            <a:ln w="25400" cap="flat">
              <a:solidFill>
                <a:srgbClr val="C81E1E"/>
              </a:solidFill>
              <a:prstDash val="solid"/>
              <a:round/>
            </a:ln>
            <a:effectLst/>
          </p:spPr>
          <p:txBody>
            <a:bodyPr wrap="square" lIns="45719" tIns="45719" rIns="45719" bIns="45719" numCol="1" anchor="ctr">
              <a:noAutofit/>
            </a:bodyPr>
            <a:lstStyle/>
            <a:p>
              <a:pPr algn="ctr">
                <a:defRPr sz="1600"/>
              </a:pPr>
            </a:p>
          </p:txBody>
        </p:sp>
        <p:sp>
          <p:nvSpPr>
            <p:cNvPr id="394" name="CAUTION:…"/>
            <p:cNvSpPr txBox="1"/>
            <p:nvPr/>
          </p:nvSpPr>
          <p:spPr>
            <a:xfrm>
              <a:off x="12700" y="173472"/>
              <a:ext cx="6604000" cy="6058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3500" tIns="63500" rIns="63500" bIns="63500" numCol="1" anchor="ctr">
              <a:spAutoFit/>
            </a:bodyPr>
            <a:lstStyle/>
            <a:p>
              <a:pPr algn="ctr">
                <a:defRPr b="1" spc="150" sz="1600">
                  <a:solidFill>
                    <a:srgbClr val="C81E1E"/>
                  </a:solidFill>
                  <a:latin typeface="Arial"/>
                  <a:ea typeface="Arial"/>
                  <a:cs typeface="Arial"/>
                  <a:sym typeface="Arial"/>
                </a:defRPr>
              </a:pPr>
              <a:r>
                <a:t xml:space="preserve"> CAUTION:</a:t>
              </a:r>
            </a:p>
            <a:p>
              <a:pPr algn="ctr">
                <a:defRPr b="1" spc="150" sz="900">
                  <a:solidFill>
                    <a:srgbClr val="222222"/>
                  </a:solidFill>
                  <a:latin typeface="Arial"/>
                  <a:ea typeface="Arial"/>
                  <a:cs typeface="Arial"/>
                  <a:sym typeface="Arial"/>
                </a:defRPr>
              </a:pPr>
              <a:r>
                <a:t>THIS SERVICE SUPPLIED BY ALTERNATIVE POWER SOURCES WITH DISCONNECTS LOCATED AS SHOWN</a:t>
              </a:r>
            </a:p>
          </p:txBody>
        </p:sp>
      </p:grpSp>
      <p:sp>
        <p:nvSpPr>
          <p:cNvPr id="396" name="Text 14"/>
          <p:cNvSpPr txBox="1"/>
          <p:nvPr/>
        </p:nvSpPr>
        <p:spPr>
          <a:xfrm>
            <a:off x="7810804" y="389584"/>
            <a:ext cx="72393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800">
                <a:latin typeface="Arial"/>
                <a:ea typeface="Arial"/>
                <a:cs typeface="Arial"/>
                <a:sym typeface="Arial"/>
              </a:defRPr>
            </a:pPr>
            <a:r>
              <a:t>LOCATION:</a:t>
            </a:r>
            <a:r>
              <a:rPr b="0"/>
              <a:t xml:space="preserve"> [LOCATION 2] </a:t>
            </a:r>
            <a:r>
              <a:t>QUANTITY:</a:t>
            </a:r>
            <a:r>
              <a:rPr b="0"/>
              <a:t xml:space="preserve"> {{BAT_QTY}}</a:t>
            </a:r>
          </a:p>
        </p:txBody>
      </p:sp>
      <p:sp>
        <p:nvSpPr>
          <p:cNvPr id="397" name="Text 15"/>
          <p:cNvSpPr txBox="1"/>
          <p:nvPr/>
        </p:nvSpPr>
        <p:spPr>
          <a:xfrm>
            <a:off x="7810804" y="513029"/>
            <a:ext cx="723930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800">
                <a:latin typeface="Arial"/>
                <a:ea typeface="Arial"/>
                <a:cs typeface="Arial"/>
                <a:sym typeface="Arial"/>
              </a:defRPr>
            </a:pPr>
            <a:r>
              <a:t>TEXT:</a:t>
            </a:r>
            <a:r>
              <a:rPr b="0"/>
              <a:t xml:space="preserve"> HEADER: 36 point (4.475"); SUB: 28 points (3.25"); BODY: 26 points (3.135")</a:t>
            </a:r>
          </a:p>
        </p:txBody>
      </p:sp>
      <p:grpSp>
        <p:nvGrpSpPr>
          <p:cNvPr id="400" name="Text 16"/>
          <p:cNvGrpSpPr/>
          <p:nvPr/>
        </p:nvGrpSpPr>
        <p:grpSpPr>
          <a:xfrm>
            <a:off x="8191195" y="1009497"/>
            <a:ext cx="6629401" cy="952806"/>
            <a:chOff x="0" y="0"/>
            <a:chExt cx="6629400" cy="952805"/>
          </a:xfrm>
        </p:grpSpPr>
        <p:sp>
          <p:nvSpPr>
            <p:cNvPr id="398" name="Rectangle"/>
            <p:cNvSpPr/>
            <p:nvPr/>
          </p:nvSpPr>
          <p:spPr>
            <a:xfrm>
              <a:off x="0" y="-1"/>
              <a:ext cx="6629400" cy="952807"/>
            </a:xfrm>
            <a:prstGeom prst="rect">
              <a:avLst/>
            </a:prstGeom>
            <a:solidFill>
              <a:srgbClr val="FFFEFA"/>
            </a:solidFill>
            <a:ln w="25400" cap="flat">
              <a:solidFill>
                <a:srgbClr val="C81E1E"/>
              </a:solidFill>
              <a:prstDash val="solid"/>
              <a:round/>
            </a:ln>
            <a:effectLst/>
          </p:spPr>
          <p:txBody>
            <a:bodyPr wrap="square" lIns="45719" tIns="45719" rIns="45719" bIns="45719" numCol="1" anchor="ctr">
              <a:noAutofit/>
            </a:bodyPr>
            <a:lstStyle/>
            <a:p>
              <a:pPr algn="ctr">
                <a:defRPr sz="1600"/>
              </a:pPr>
            </a:p>
          </p:txBody>
        </p:sp>
        <p:sp>
          <p:nvSpPr>
            <p:cNvPr id="399" name="CAUTION:…"/>
            <p:cNvSpPr txBox="1"/>
            <p:nvPr/>
          </p:nvSpPr>
          <p:spPr>
            <a:xfrm>
              <a:off x="12700" y="173472"/>
              <a:ext cx="6604000" cy="60586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63500" tIns="63500" rIns="63500" bIns="63500" numCol="1" anchor="ctr">
              <a:spAutoFit/>
            </a:bodyPr>
            <a:lstStyle/>
            <a:p>
              <a:pPr algn="ctr">
                <a:defRPr b="1" spc="150" sz="1600">
                  <a:solidFill>
                    <a:srgbClr val="C81E1E"/>
                  </a:solidFill>
                  <a:latin typeface="Arial"/>
                  <a:ea typeface="Arial"/>
                  <a:cs typeface="Arial"/>
                  <a:sym typeface="Arial"/>
                </a:defRPr>
              </a:pPr>
              <a:r>
                <a:t xml:space="preserve"> CAUTION:</a:t>
              </a:r>
            </a:p>
            <a:p>
              <a:pPr algn="ctr">
                <a:defRPr b="1" spc="150" sz="900">
                  <a:solidFill>
                    <a:srgbClr val="222222"/>
                  </a:solidFill>
                  <a:latin typeface="Arial"/>
                  <a:ea typeface="Arial"/>
                  <a:cs typeface="Arial"/>
                  <a:sym typeface="Arial"/>
                </a:defRPr>
              </a:pPr>
              <a:r>
                <a:t>THIS SERVICE SUPPLIED BY ALTERNATIVE POWER SOURCES WITH DISCONNECTS LOCATED AS SHOWN</a:t>
              </a:r>
            </a:p>
          </p:txBody>
        </p:sp>
      </p:grpSp>
      <p:sp>
        <p:nvSpPr>
          <p:cNvPr id="401" name="Text 17"/>
          <p:cNvSpPr txBox="1"/>
          <p:nvPr/>
        </p:nvSpPr>
        <p:spPr>
          <a:xfrm>
            <a:off x="457200" y="41989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[BESS Enclosure / Cabinet Panel]</a:t>
            </a:r>
          </a:p>
        </p:txBody>
      </p:sp>
      <p:sp>
        <p:nvSpPr>
          <p:cNvPr id="402" name="Text 18"/>
          <p:cNvSpPr txBox="1"/>
          <p:nvPr/>
        </p:nvSpPr>
        <p:spPr>
          <a:xfrm>
            <a:off x="457200" y="4304132"/>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QUANTITY:</a:t>
            </a:r>
            <a:r>
              <a:rPr b="0"/>
              <a:t xml:space="preserve"> {{BAT_QTY}}</a:t>
            </a:r>
          </a:p>
        </p:txBody>
      </p:sp>
      <p:sp>
        <p:nvSpPr>
          <p:cNvPr id="403" name="Text 19"/>
          <p:cNvSpPr txBox="1"/>
          <p:nvPr/>
        </p:nvSpPr>
        <p:spPr>
          <a:xfrm>
            <a:off x="457200" y="4437634"/>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36 point (2.875")</a:t>
            </a:r>
          </a:p>
        </p:txBody>
      </p:sp>
      <p:sp>
        <p:nvSpPr>
          <p:cNvPr id="404" name="Text 20"/>
          <p:cNvSpPr txBox="1"/>
          <p:nvPr/>
        </p:nvSpPr>
        <p:spPr>
          <a:xfrm>
            <a:off x="457200" y="45418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SIZE:</a:t>
            </a:r>
            <a:r>
              <a:rPr b="0"/>
              <a:t xml:space="preserve"> 5"</a:t>
            </a:r>
          </a:p>
        </p:txBody>
      </p:sp>
      <p:grpSp>
        <p:nvGrpSpPr>
          <p:cNvPr id="407" name="Text 21"/>
          <p:cNvGrpSpPr/>
          <p:nvPr/>
        </p:nvGrpSpPr>
        <p:grpSpPr>
          <a:xfrm>
            <a:off x="629106" y="4953305"/>
            <a:ext cx="2731814" cy="1726286"/>
            <a:chOff x="0" y="0"/>
            <a:chExt cx="2731812" cy="1726285"/>
          </a:xfrm>
        </p:grpSpPr>
        <p:sp>
          <p:nvSpPr>
            <p:cNvPr id="405" name="Rectangle"/>
            <p:cNvSpPr/>
            <p:nvPr/>
          </p:nvSpPr>
          <p:spPr>
            <a:xfrm>
              <a:off x="-1" y="0"/>
              <a:ext cx="2731814" cy="1726286"/>
            </a:xfrm>
            <a:prstGeom prst="rect">
              <a:avLst/>
            </a:prstGeom>
            <a:solidFill>
              <a:srgbClr val="FFFFFF"/>
            </a:solidFill>
            <a:ln w="38100" cap="flat">
              <a:solidFill>
                <a:srgbClr val="111111"/>
              </a:solidFill>
              <a:prstDash val="solid"/>
              <a:round/>
            </a:ln>
            <a:effectLst/>
          </p:spPr>
          <p:txBody>
            <a:bodyPr wrap="square" lIns="45719" tIns="45719" rIns="45719" bIns="45719" numCol="1" anchor="ctr">
              <a:noAutofit/>
            </a:bodyPr>
            <a:lstStyle/>
            <a:p>
              <a:pPr algn="ctr">
                <a:defRPr sz="2100"/>
              </a:pPr>
            </a:p>
          </p:txBody>
        </p:sp>
        <p:sp>
          <p:nvSpPr>
            <p:cNvPr id="406" name="ENERGY…"/>
            <p:cNvSpPr txBox="1"/>
            <p:nvPr/>
          </p:nvSpPr>
          <p:spPr>
            <a:xfrm>
              <a:off x="16758" y="414493"/>
              <a:ext cx="2698296" cy="106488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a:defRPr b="1" spc="75" sz="2100">
                  <a:solidFill>
                    <a:srgbClr val="111111"/>
                  </a:solidFill>
                  <a:latin typeface="Arial"/>
                  <a:ea typeface="Arial"/>
                  <a:cs typeface="Arial"/>
                  <a:sym typeface="Arial"/>
                </a:defRPr>
              </a:pPr>
              <a:r>
                <a:t xml:space="preserve"> ENERGY</a:t>
              </a:r>
            </a:p>
            <a:p>
              <a:pPr algn="ctr">
                <a:defRPr b="1" spc="75" sz="2100">
                  <a:solidFill>
                    <a:srgbClr val="111111"/>
                  </a:solidFill>
                  <a:latin typeface="Arial"/>
                  <a:ea typeface="Arial"/>
                  <a:cs typeface="Arial"/>
                  <a:sym typeface="Arial"/>
                </a:defRPr>
              </a:pPr>
              <a:r>
                <a:t>STORAGE</a:t>
              </a:r>
            </a:p>
            <a:p>
              <a:pPr algn="ctr">
                <a:defRPr b="1" spc="75" sz="2100">
                  <a:solidFill>
                    <a:srgbClr val="111111"/>
                  </a:solidFill>
                  <a:latin typeface="Arial"/>
                  <a:ea typeface="Arial"/>
                  <a:cs typeface="Arial"/>
                  <a:sym typeface="Arial"/>
                </a:defRPr>
              </a:pPr>
              <a:r>
                <a:t>SYSTEM</a:t>
              </a:r>
            </a:p>
            <a:p>
              <a:pPr algn="ctr">
                <a:defRPr b="1" spc="75" sz="2100">
                  <a:solidFill>
                    <a:srgbClr val="111111"/>
                  </a:solidFill>
                  <a:latin typeface="Arial"/>
                  <a:ea typeface="Arial"/>
                  <a:cs typeface="Arial"/>
                  <a:sym typeface="Arial"/>
                </a:defRPr>
              </a:pPr>
              <a:r>
                <a:t xml:space="preserve">DISCONNECT </a:t>
              </a:r>
            </a:p>
          </p:txBody>
        </p:sp>
      </p:grpSp>
      <p:sp>
        <p:nvSpPr>
          <p:cNvPr id="408" name="Text 22"/>
          <p:cNvSpPr txBox="1"/>
          <p:nvPr/>
        </p:nvSpPr>
        <p:spPr>
          <a:xfrm>
            <a:off x="4267505" y="41989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[BESS Enclosure]</a:t>
            </a:r>
          </a:p>
        </p:txBody>
      </p:sp>
      <p:sp>
        <p:nvSpPr>
          <p:cNvPr id="409" name="Text 23"/>
          <p:cNvSpPr txBox="1"/>
          <p:nvPr/>
        </p:nvSpPr>
        <p:spPr>
          <a:xfrm>
            <a:off x="4267505" y="4304132"/>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QUANTITY:</a:t>
            </a:r>
            <a:r>
              <a:rPr b="0"/>
              <a:t xml:space="preserve"> {{BAT_QTY}}</a:t>
            </a:r>
          </a:p>
        </p:txBody>
      </p:sp>
      <p:sp>
        <p:nvSpPr>
          <p:cNvPr id="410" name="Text 24"/>
          <p:cNvSpPr txBox="1"/>
          <p:nvPr/>
        </p:nvSpPr>
        <p:spPr>
          <a:xfrm>
            <a:off x="4267505" y="4437634"/>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36 point (2.875")</a:t>
            </a:r>
          </a:p>
        </p:txBody>
      </p:sp>
      <p:sp>
        <p:nvSpPr>
          <p:cNvPr id="411" name="Text 25"/>
          <p:cNvSpPr txBox="1"/>
          <p:nvPr/>
        </p:nvSpPr>
        <p:spPr>
          <a:xfrm>
            <a:off x="4267505" y="45418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SIZE:</a:t>
            </a:r>
            <a:r>
              <a:rPr b="0"/>
              <a:t xml:space="preserve"> 5"</a:t>
            </a:r>
          </a:p>
        </p:txBody>
      </p:sp>
      <p:grpSp>
        <p:nvGrpSpPr>
          <p:cNvPr id="414" name="Text 26"/>
          <p:cNvGrpSpPr/>
          <p:nvPr/>
        </p:nvGrpSpPr>
        <p:grpSpPr>
          <a:xfrm>
            <a:off x="4648795" y="4933137"/>
            <a:ext cx="2666420" cy="1766622"/>
            <a:chOff x="0" y="0"/>
            <a:chExt cx="2666419" cy="1766620"/>
          </a:xfrm>
        </p:grpSpPr>
        <p:sp>
          <p:nvSpPr>
            <p:cNvPr id="412" name="Rectangle"/>
            <p:cNvSpPr/>
            <p:nvPr/>
          </p:nvSpPr>
          <p:spPr>
            <a:xfrm>
              <a:off x="-1" y="0"/>
              <a:ext cx="2666421" cy="1766621"/>
            </a:xfrm>
            <a:prstGeom prst="rect">
              <a:avLst/>
            </a:prstGeom>
            <a:solidFill>
              <a:srgbClr val="FFFFFF"/>
            </a:solidFill>
            <a:ln w="38100" cap="flat">
              <a:solidFill>
                <a:srgbClr val="111111"/>
              </a:solidFill>
              <a:prstDash val="solid"/>
              <a:round/>
            </a:ln>
            <a:effectLst/>
          </p:spPr>
          <p:txBody>
            <a:bodyPr wrap="square" lIns="45719" tIns="45719" rIns="45719" bIns="45719" numCol="1" anchor="ctr">
              <a:noAutofit/>
            </a:bodyPr>
            <a:lstStyle/>
            <a:p>
              <a:pPr algn="ctr">
                <a:defRPr sz="2100"/>
              </a:pPr>
            </a:p>
          </p:txBody>
        </p:sp>
        <p:sp>
          <p:nvSpPr>
            <p:cNvPr id="413" name="ENERGY…"/>
            <p:cNvSpPr txBox="1"/>
            <p:nvPr/>
          </p:nvSpPr>
          <p:spPr>
            <a:xfrm>
              <a:off x="16357" y="489021"/>
              <a:ext cx="2633705" cy="103939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a:defRPr b="1" spc="75" sz="2100">
                  <a:solidFill>
                    <a:srgbClr val="111111"/>
                  </a:solidFill>
                  <a:latin typeface="Arial"/>
                  <a:ea typeface="Arial"/>
                  <a:cs typeface="Arial"/>
                  <a:sym typeface="Arial"/>
                </a:defRPr>
              </a:pPr>
              <a:r>
                <a:t xml:space="preserve"> ENERGY</a:t>
              </a:r>
            </a:p>
            <a:p>
              <a:pPr algn="ctr">
                <a:defRPr b="1" spc="75" sz="2100">
                  <a:solidFill>
                    <a:srgbClr val="111111"/>
                  </a:solidFill>
                  <a:latin typeface="Arial"/>
                  <a:ea typeface="Arial"/>
                  <a:cs typeface="Arial"/>
                  <a:sym typeface="Arial"/>
                </a:defRPr>
              </a:pPr>
              <a:r>
                <a:t>STORAGE</a:t>
              </a:r>
            </a:p>
            <a:p>
              <a:pPr algn="ctr">
                <a:defRPr b="1" spc="75" sz="2100">
                  <a:solidFill>
                    <a:srgbClr val="111111"/>
                  </a:solidFill>
                  <a:latin typeface="Arial"/>
                  <a:ea typeface="Arial"/>
                  <a:cs typeface="Arial"/>
                  <a:sym typeface="Arial"/>
                </a:defRPr>
              </a:pPr>
              <a:r>
                <a:t>SYSTEM</a:t>
              </a:r>
            </a:p>
            <a:p>
              <a:pPr algn="ctr">
                <a:defRPr b="1" spc="75" sz="2100">
                  <a:solidFill>
                    <a:srgbClr val="111111"/>
                  </a:solidFill>
                  <a:latin typeface="Arial"/>
                  <a:ea typeface="Arial"/>
                  <a:cs typeface="Arial"/>
                  <a:sym typeface="Arial"/>
                </a:defRPr>
              </a:pPr>
              <a:r>
                <a:t xml:space="preserve">INVERTER </a:t>
              </a:r>
            </a:p>
          </p:txBody>
        </p:sp>
      </p:grpSp>
      <p:sp>
        <p:nvSpPr>
          <p:cNvPr id="415" name="Text 27"/>
          <p:cNvSpPr txBox="1"/>
          <p:nvPr/>
        </p:nvSpPr>
        <p:spPr>
          <a:xfrm>
            <a:off x="8076895" y="41989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[BESS Cabinet, Each Module]</a:t>
            </a:r>
          </a:p>
        </p:txBody>
      </p:sp>
      <p:sp>
        <p:nvSpPr>
          <p:cNvPr id="416" name="Text 28"/>
          <p:cNvSpPr txBox="1"/>
          <p:nvPr/>
        </p:nvSpPr>
        <p:spPr>
          <a:xfrm>
            <a:off x="8076895" y="4304132"/>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QUANTITY:</a:t>
            </a:r>
            <a:r>
              <a:rPr b="0"/>
              <a:t xml:space="preserve"> {{BAT_QTY}}</a:t>
            </a:r>
          </a:p>
        </p:txBody>
      </p:sp>
      <p:sp>
        <p:nvSpPr>
          <p:cNvPr id="417" name="Text 29"/>
          <p:cNvSpPr txBox="1"/>
          <p:nvPr/>
        </p:nvSpPr>
        <p:spPr>
          <a:xfrm>
            <a:off x="8076895" y="4437634"/>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36 point (2.667")</a:t>
            </a:r>
          </a:p>
        </p:txBody>
      </p:sp>
      <p:sp>
        <p:nvSpPr>
          <p:cNvPr id="418" name="Text 30"/>
          <p:cNvSpPr txBox="1"/>
          <p:nvPr/>
        </p:nvSpPr>
        <p:spPr>
          <a:xfrm>
            <a:off x="8076895" y="4541876"/>
            <a:ext cx="3620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SIZE:</a:t>
            </a:r>
            <a:r>
              <a:rPr b="0"/>
              <a:t xml:space="preserve"> 5"</a:t>
            </a:r>
          </a:p>
        </p:txBody>
      </p:sp>
      <p:grpSp>
        <p:nvGrpSpPr>
          <p:cNvPr id="421" name="Text 31"/>
          <p:cNvGrpSpPr/>
          <p:nvPr/>
        </p:nvGrpSpPr>
        <p:grpSpPr>
          <a:xfrm>
            <a:off x="8550302" y="4842180"/>
            <a:ext cx="2482186" cy="1766622"/>
            <a:chOff x="0" y="0"/>
            <a:chExt cx="2482185" cy="1766620"/>
          </a:xfrm>
        </p:grpSpPr>
        <p:sp>
          <p:nvSpPr>
            <p:cNvPr id="419" name="Rectangle"/>
            <p:cNvSpPr/>
            <p:nvPr/>
          </p:nvSpPr>
          <p:spPr>
            <a:xfrm>
              <a:off x="-1" y="-1"/>
              <a:ext cx="2482187" cy="1766622"/>
            </a:xfrm>
            <a:prstGeom prst="rect">
              <a:avLst/>
            </a:prstGeom>
            <a:solidFill>
              <a:srgbClr val="FFFFFF"/>
            </a:solidFill>
            <a:ln w="38100" cap="flat">
              <a:solidFill>
                <a:srgbClr val="111111"/>
              </a:solidFill>
              <a:prstDash val="solid"/>
              <a:round/>
            </a:ln>
            <a:effectLst/>
          </p:spPr>
          <p:txBody>
            <a:bodyPr wrap="square" lIns="45719" tIns="45719" rIns="45719" bIns="45719" numCol="1" anchor="ctr">
              <a:noAutofit/>
            </a:bodyPr>
            <a:lstStyle/>
            <a:p>
              <a:pPr algn="ctr">
                <a:defRPr sz="2100"/>
              </a:pPr>
            </a:p>
          </p:txBody>
        </p:sp>
        <p:sp>
          <p:nvSpPr>
            <p:cNvPr id="420" name="LITHIUM IRON…"/>
            <p:cNvSpPr txBox="1"/>
            <p:nvPr/>
          </p:nvSpPr>
          <p:spPr>
            <a:xfrm>
              <a:off x="15227" y="820812"/>
              <a:ext cx="2451732" cy="48030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noAutofit/>
            </a:bodyPr>
            <a:lstStyle/>
            <a:p>
              <a:pPr algn="ctr">
                <a:defRPr b="1" spc="75" sz="2100">
                  <a:solidFill>
                    <a:srgbClr val="111111"/>
                  </a:solidFill>
                  <a:latin typeface="Arial"/>
                  <a:ea typeface="Arial"/>
                  <a:cs typeface="Arial"/>
                  <a:sym typeface="Arial"/>
                </a:defRPr>
              </a:pPr>
              <a:r>
                <a:t xml:space="preserve"> LITHIUM IRON</a:t>
              </a:r>
            </a:p>
            <a:p>
              <a:pPr algn="ctr">
                <a:defRPr b="1" spc="75" sz="2100">
                  <a:solidFill>
                    <a:srgbClr val="111111"/>
                  </a:solidFill>
                  <a:latin typeface="Arial"/>
                  <a:ea typeface="Arial"/>
                  <a:cs typeface="Arial"/>
                  <a:sym typeface="Arial"/>
                </a:defRPr>
              </a:pPr>
              <a:r>
                <a:t xml:space="preserve">PHOSPHATE </a:t>
              </a:r>
            </a:p>
          </p:txBody>
        </p:sp>
      </p:grpSp>
      <p:sp>
        <p:nvSpPr>
          <p:cNvPr id="422" name="Text 32"/>
          <p:cNvSpPr txBox="1"/>
          <p:nvPr/>
        </p:nvSpPr>
        <p:spPr>
          <a:xfrm>
            <a:off x="11887200" y="4198976"/>
            <a:ext cx="32772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[AC Disconnect Enclosure]</a:t>
            </a:r>
          </a:p>
        </p:txBody>
      </p:sp>
      <p:sp>
        <p:nvSpPr>
          <p:cNvPr id="423" name="Text 33"/>
          <p:cNvSpPr txBox="1"/>
          <p:nvPr/>
        </p:nvSpPr>
        <p:spPr>
          <a:xfrm>
            <a:off x="11887200" y="4304132"/>
            <a:ext cx="32772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QUANTITY:</a:t>
            </a:r>
            <a:r>
              <a:rPr b="0"/>
              <a:t xml:space="preserve"> {{BAT_QTY}}</a:t>
            </a:r>
          </a:p>
        </p:txBody>
      </p:sp>
      <p:sp>
        <p:nvSpPr>
          <p:cNvPr id="424" name="Text 34"/>
          <p:cNvSpPr txBox="1"/>
          <p:nvPr/>
        </p:nvSpPr>
        <p:spPr>
          <a:xfrm>
            <a:off x="11887200" y="4437634"/>
            <a:ext cx="32772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28 point (2.000")</a:t>
            </a:r>
          </a:p>
        </p:txBody>
      </p:sp>
      <p:sp>
        <p:nvSpPr>
          <p:cNvPr id="425" name="Text 35"/>
          <p:cNvSpPr txBox="1"/>
          <p:nvPr/>
        </p:nvSpPr>
        <p:spPr>
          <a:xfrm>
            <a:off x="11887200" y="4541876"/>
            <a:ext cx="32772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SIZE:</a:t>
            </a:r>
            <a:r>
              <a:rPr b="0"/>
              <a:t xml:space="preserve"> 5"</a:t>
            </a:r>
          </a:p>
        </p:txBody>
      </p:sp>
      <p:grpSp>
        <p:nvGrpSpPr>
          <p:cNvPr id="428" name="Text 36"/>
          <p:cNvGrpSpPr/>
          <p:nvPr/>
        </p:nvGrpSpPr>
        <p:grpSpPr>
          <a:xfrm>
            <a:off x="12267576" y="4953305"/>
            <a:ext cx="2454416" cy="1631340"/>
            <a:chOff x="0" y="0"/>
            <a:chExt cx="2454415" cy="1631339"/>
          </a:xfrm>
        </p:grpSpPr>
        <p:sp>
          <p:nvSpPr>
            <p:cNvPr id="426" name="Rectangle"/>
            <p:cNvSpPr/>
            <p:nvPr/>
          </p:nvSpPr>
          <p:spPr>
            <a:xfrm>
              <a:off x="0" y="0"/>
              <a:ext cx="2454416" cy="1631340"/>
            </a:xfrm>
            <a:prstGeom prst="rect">
              <a:avLst/>
            </a:prstGeom>
            <a:solidFill>
              <a:srgbClr val="FFFFFF"/>
            </a:solidFill>
            <a:ln w="38100" cap="flat">
              <a:solidFill>
                <a:srgbClr val="111111"/>
              </a:solidFill>
              <a:prstDash val="solid"/>
              <a:round/>
            </a:ln>
            <a:effectLst/>
          </p:spPr>
          <p:txBody>
            <a:bodyPr wrap="square" lIns="45719" tIns="45719" rIns="45719" bIns="45719" numCol="1" anchor="t">
              <a:noAutofit/>
            </a:bodyPr>
            <a:lstStyle/>
            <a:p>
              <a:pPr algn="ctr">
                <a:defRPr sz="1300"/>
              </a:pPr>
            </a:p>
          </p:txBody>
        </p:sp>
        <p:sp>
          <p:nvSpPr>
            <p:cNvPr id="427" name="AC DISCONNECT…"/>
            <p:cNvSpPr txBox="1"/>
            <p:nvPr/>
          </p:nvSpPr>
          <p:spPr>
            <a:xfrm>
              <a:off x="14693" y="63672"/>
              <a:ext cx="2425030" cy="6824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14300" tIns="114300" rIns="114300" bIns="114300" numCol="1" anchor="t">
              <a:noAutofit/>
            </a:bodyPr>
            <a:lstStyle/>
            <a:p>
              <a:pPr algn="ctr">
                <a:defRPr b="1" spc="38" sz="1300">
                  <a:solidFill>
                    <a:srgbClr val="111111"/>
                  </a:solidFill>
                  <a:latin typeface="Arial"/>
                  <a:ea typeface="Arial"/>
                  <a:cs typeface="Arial"/>
                  <a:sym typeface="Arial"/>
                </a:defRPr>
              </a:pPr>
              <a:r>
                <a:t xml:space="preserve"> AC DISCONNECT</a:t>
              </a:r>
            </a:p>
            <a:p>
              <a:pPr algn="ctr">
                <a:defRPr b="1" spc="38" sz="1300">
                  <a:solidFill>
                    <a:srgbClr val="111111"/>
                  </a:solidFill>
                  <a:latin typeface="Arial"/>
                  <a:ea typeface="Arial"/>
                  <a:cs typeface="Arial"/>
                  <a:sym typeface="Arial"/>
                </a:defRPr>
              </a:pPr>
              <a:r>
                <a:t>BOLT-SWITCH CABINET</a:t>
              </a:r>
            </a:p>
            <a:p>
              <a:pPr algn="ctr">
                <a:defRPr b="1" spc="38" sz="1000">
                  <a:solidFill>
                    <a:srgbClr val="111111"/>
                  </a:solidFill>
                  <a:latin typeface="Arial"/>
                  <a:ea typeface="Arial"/>
                  <a:cs typeface="Arial"/>
                  <a:sym typeface="Arial"/>
                </a:defRPr>
              </a:pPr>
              <a:r>
                <a:t>OPERATING CURRENT: {{ACDIS}}</a:t>
              </a:r>
              <a:endParaRPr spc="49" sz="1300"/>
            </a:p>
            <a:p>
              <a:pPr algn="ctr">
                <a:defRPr b="1" spc="38" sz="1000">
                  <a:solidFill>
                    <a:srgbClr val="111111"/>
                  </a:solidFill>
                  <a:latin typeface="Arial"/>
                  <a:ea typeface="Arial"/>
                  <a:cs typeface="Arial"/>
                  <a:sym typeface="Arial"/>
                </a:defRPr>
              </a:pPr>
              <a:r>
                <a:t>OPERATING VOLTAGE: {{INV_AC}}</a:t>
              </a:r>
            </a:p>
          </p:txBody>
        </p:sp>
      </p:grpSp>
      <p:sp>
        <p:nvSpPr>
          <p:cNvPr id="429" name="Text 37"/>
          <p:cNvSpPr txBox="1"/>
          <p:nvPr/>
        </p:nvSpPr>
        <p:spPr>
          <a:xfrm>
            <a:off x="457200" y="7056476"/>
            <a:ext cx="51435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LOCATION:</a:t>
            </a:r>
            <a:r>
              <a:rPr b="0"/>
              <a:t xml:space="preserve"> [Isolation Transformer Enclosure] </a:t>
            </a:r>
            <a:r>
              <a:t>QUANTITY:</a:t>
            </a:r>
            <a:r>
              <a:rPr b="0"/>
              <a:t xml:space="preserve"> {{BAT_QTY}}</a:t>
            </a:r>
          </a:p>
        </p:txBody>
      </p:sp>
      <p:sp>
        <p:nvSpPr>
          <p:cNvPr id="430" name="Text 38"/>
          <p:cNvSpPr txBox="1"/>
          <p:nvPr/>
        </p:nvSpPr>
        <p:spPr>
          <a:xfrm>
            <a:off x="457200" y="7189978"/>
            <a:ext cx="5143500"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TEXT:</a:t>
            </a:r>
            <a:r>
              <a:rPr b="0"/>
              <a:t xml:space="preserve"> 28 point</a:t>
            </a:r>
          </a:p>
        </p:txBody>
      </p:sp>
      <p:grpSp>
        <p:nvGrpSpPr>
          <p:cNvPr id="433" name="Text 39"/>
          <p:cNvGrpSpPr/>
          <p:nvPr/>
        </p:nvGrpSpPr>
        <p:grpSpPr>
          <a:xfrm>
            <a:off x="647454" y="7371704"/>
            <a:ext cx="4276657" cy="1458845"/>
            <a:chOff x="0" y="0"/>
            <a:chExt cx="4276656" cy="1458844"/>
          </a:xfrm>
        </p:grpSpPr>
        <p:sp>
          <p:nvSpPr>
            <p:cNvPr id="431" name="Rectangle"/>
            <p:cNvSpPr/>
            <p:nvPr/>
          </p:nvSpPr>
          <p:spPr>
            <a:xfrm>
              <a:off x="0" y="0"/>
              <a:ext cx="4276657" cy="1458845"/>
            </a:xfrm>
            <a:prstGeom prst="rect">
              <a:avLst/>
            </a:prstGeom>
            <a:solidFill>
              <a:srgbClr val="FFFFFF"/>
            </a:solidFill>
            <a:ln w="38100" cap="flat">
              <a:solidFill>
                <a:srgbClr val="111111"/>
              </a:solidFill>
              <a:prstDash val="solid"/>
              <a:round/>
            </a:ln>
            <a:effectLst/>
          </p:spPr>
          <p:txBody>
            <a:bodyPr wrap="square" lIns="45719" tIns="45719" rIns="45719" bIns="45719" numCol="1" anchor="ctr">
              <a:noAutofit/>
            </a:bodyPr>
            <a:lstStyle/>
            <a:p>
              <a:pPr algn="ctr">
                <a:defRPr sz="1600"/>
              </a:pPr>
            </a:p>
          </p:txBody>
        </p:sp>
        <p:sp>
          <p:nvSpPr>
            <p:cNvPr id="432" name="ISOLATION XFMR…"/>
            <p:cNvSpPr txBox="1"/>
            <p:nvPr/>
          </p:nvSpPr>
          <p:spPr>
            <a:xfrm>
              <a:off x="38229" y="322141"/>
              <a:ext cx="4200198" cy="814563"/>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400" tIns="152400" rIns="152400" bIns="152400" numCol="1" anchor="ctr">
              <a:noAutofit/>
            </a:bodyPr>
            <a:lstStyle/>
            <a:p>
              <a:pPr algn="ctr">
                <a:defRPr b="1" sz="1600">
                  <a:solidFill>
                    <a:srgbClr val="111111"/>
                  </a:solidFill>
                  <a:latin typeface="Arial"/>
                  <a:ea typeface="Arial"/>
                  <a:cs typeface="Arial"/>
                  <a:sym typeface="Arial"/>
                </a:defRPr>
              </a:pPr>
              <a:r>
                <a:t xml:space="preserve"> ISOLATION XFMR</a:t>
              </a:r>
            </a:p>
            <a:p>
              <a:pPr algn="ctr">
                <a:defRPr b="1" sz="1600">
                  <a:solidFill>
                    <a:srgbClr val="111111"/>
                  </a:solidFill>
                  <a:latin typeface="Arial"/>
                  <a:ea typeface="Arial"/>
                  <a:cs typeface="Arial"/>
                  <a:sym typeface="Arial"/>
                </a:defRPr>
              </a:pPr>
              <a:r>
                <a:t>XFMR SIZE: {{XFMR_SIZE}}</a:t>
              </a:r>
            </a:p>
            <a:p>
              <a:pPr algn="ctr">
                <a:defRPr b="1" sz="1300">
                  <a:solidFill>
                    <a:srgbClr val="111111"/>
                  </a:solidFill>
                  <a:latin typeface="Arial"/>
                  <a:ea typeface="Arial"/>
                  <a:cs typeface="Arial"/>
                  <a:sym typeface="Arial"/>
                </a:defRPr>
              </a:pPr>
              <a:r>
                <a:t>OPERATING VOLTAGE: {{V_PRI}}/{{V_SEC}}</a:t>
              </a:r>
            </a:p>
          </p:txBody>
        </p:sp>
      </p:grpSp>
      <p:sp>
        <p:nvSpPr>
          <p:cNvPr id="434" name="Shape 40"/>
          <p:cNvSpPr/>
          <p:nvPr/>
        </p:nvSpPr>
        <p:spPr>
          <a:xfrm>
            <a:off x="5715000" y="7010704"/>
            <a:ext cx="10116008" cy="4114801"/>
          </a:xfrm>
          <a:prstGeom prst="rect">
            <a:avLst/>
          </a:prstGeom>
          <a:solidFill>
            <a:srgbClr val="FFFFFF"/>
          </a:solidFill>
          <a:ln w="12700">
            <a:solidFill>
              <a:srgbClr val="111111"/>
            </a:solidFill>
          </a:ln>
        </p:spPr>
        <p:txBody>
          <a:bodyPr lIns="45719" rIns="45719"/>
          <a:lstStyle/>
          <a:p>
            <a:pPr/>
          </a:p>
        </p:txBody>
      </p:sp>
      <p:sp>
        <p:nvSpPr>
          <p:cNvPr id="435" name="Shape 41"/>
          <p:cNvSpPr/>
          <p:nvPr/>
        </p:nvSpPr>
        <p:spPr>
          <a:xfrm>
            <a:off x="5724144" y="7019849"/>
            <a:ext cx="10096805" cy="209399"/>
          </a:xfrm>
          <a:prstGeom prst="rect">
            <a:avLst/>
          </a:prstGeom>
          <a:solidFill>
            <a:srgbClr val="E9E9E9"/>
          </a:solidFill>
          <a:ln w="12700">
            <a:miter lim="400000"/>
          </a:ln>
        </p:spPr>
        <p:txBody>
          <a:bodyPr lIns="45719" rIns="45719"/>
          <a:lstStyle/>
          <a:p>
            <a:pPr/>
          </a:p>
        </p:txBody>
      </p:sp>
      <p:sp>
        <p:nvSpPr>
          <p:cNvPr id="436" name="Shape 42"/>
          <p:cNvSpPr/>
          <p:nvPr/>
        </p:nvSpPr>
        <p:spPr>
          <a:xfrm>
            <a:off x="5724144" y="7218323"/>
            <a:ext cx="10096805" cy="12701"/>
          </a:xfrm>
          <a:prstGeom prst="rect">
            <a:avLst/>
          </a:prstGeom>
          <a:solidFill>
            <a:srgbClr val="111111"/>
          </a:solidFill>
          <a:ln w="12700">
            <a:solidFill>
              <a:srgbClr val="111111">
                <a:alpha val="0"/>
              </a:srgbClr>
            </a:solidFill>
          </a:ln>
        </p:spPr>
        <p:txBody>
          <a:bodyPr lIns="45719" rIns="45719"/>
          <a:lstStyle/>
          <a:p>
            <a:pPr/>
          </a:p>
        </p:txBody>
      </p:sp>
      <p:grpSp>
        <p:nvGrpSpPr>
          <p:cNvPr id="439" name="Text 43"/>
          <p:cNvGrpSpPr/>
          <p:nvPr/>
        </p:nvGrpSpPr>
        <p:grpSpPr>
          <a:xfrm>
            <a:off x="5724144" y="7019849"/>
            <a:ext cx="10096805" cy="165710"/>
            <a:chOff x="0" y="0"/>
            <a:chExt cx="10096803" cy="165709"/>
          </a:xfrm>
        </p:grpSpPr>
        <p:sp>
          <p:nvSpPr>
            <p:cNvPr id="437" name="Rectangle"/>
            <p:cNvSpPr/>
            <p:nvPr/>
          </p:nvSpPr>
          <p:spPr>
            <a:xfrm>
              <a:off x="0" y="0"/>
              <a:ext cx="10096804"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438" name="SIGNAGE SCHEDULE"/>
            <p:cNvSpPr txBox="1"/>
            <p:nvPr/>
          </p:nvSpPr>
          <p:spPr>
            <a:xfrm>
              <a:off x="55562" y="38709"/>
              <a:ext cx="9985680"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SIGNAGE SCHEDULE</a:t>
              </a:r>
            </a:p>
          </p:txBody>
        </p:sp>
      </p:grpSp>
      <p:graphicFrame>
        <p:nvGraphicFramePr>
          <p:cNvPr id="440" name="Table 0"/>
          <p:cNvGraphicFramePr/>
          <p:nvPr/>
        </p:nvGraphicFramePr>
        <p:xfrm>
          <a:off x="5724144" y="7229246"/>
          <a:ext cx="10087661" cy="17437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427025"/>
                <a:gridCol w="3099816"/>
                <a:gridCol w="1967789"/>
                <a:gridCol w="694030"/>
                <a:gridCol w="2322576"/>
                <a:gridCol w="480974"/>
                <a:gridCol w="1095451"/>
              </a:tblGrid>
              <a:tr h="174376">
                <a:tc>
                  <a:txBody>
                    <a:bodyPr/>
                    <a:lstStyle/>
                    <a:p>
                      <a:pPr algn="ctr">
                        <a:defRPr sz="1800"/>
                      </a:pPr>
                      <a:r>
                        <a:rPr b="1" sz="700">
                          <a:latin typeface="Arial"/>
                          <a:ea typeface="Arial"/>
                          <a:cs typeface="Arial"/>
                          <a:sym typeface="Arial"/>
                        </a:rPr>
                        <a:t>TAG</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SIGN DESCRIPTION</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LOCATION</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SIZE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MATERIAL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QTY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CODE REF</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4376">
                <a:tc>
                  <a:txBody>
                    <a:bodyPr/>
                    <a:lstStyle/>
                    <a:p>
                      <a:pPr algn="ctr">
                        <a:defRPr sz="1800"/>
                      </a:pPr>
                      <a:r>
                        <a:rPr b="1" sz="700">
                          <a:latin typeface="Arial"/>
                          <a:ea typeface="Arial"/>
                          <a:cs typeface="Arial"/>
                          <a:sym typeface="Arial"/>
                        </a:rPr>
                        <a:t>S-1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CAUTION — Alt. power source w/ map</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Site entrance / utility room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10" × 10"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Reflective Vinyl on Aluminum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706.15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ENERGY STORAGE SYSTEM DISCONNECT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ESS disconnect enclosure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Engraved Phenolic, white on black</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706.15(C)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S-3</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ENERGY STORAGE SYSTEM INVERTER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Inverter enclosure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Engraved Phenolic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706.15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S-4</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LITHIUM IRON PHOSPHATE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Each BESS cabinet / module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Reflective Vinyl on Aluminum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IFC 1207</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DISCONNECT — Spec Label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AC Disconnect enclosure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Engraved Phenolic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110.21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ISOLATION XFMR — Spec Label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XFMR enclosure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Engraved Phenolic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450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S-7</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DANGER — HIGH VOLTAGE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Each electrical access point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7" × 10"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Reflective Vinyl on Aluminum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110.27</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S-8</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ARC FLASH HAZARD — Spec Label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Switchgear / Inverter</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Per NFPA 70E format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NEC 110.16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4376">
                <a:tc>
                  <a:txBody>
                    <a:bodyPr/>
                    <a:lstStyle/>
                    <a:p>
                      <a:pPr algn="ctr">
                        <a:defRPr sz="1800"/>
                      </a:pPr>
                      <a:r>
                        <a:rPr b="1" sz="700">
                          <a:latin typeface="Arial"/>
                          <a:ea typeface="Arial"/>
                          <a:cs typeface="Arial"/>
                          <a:sym typeface="Arial"/>
                        </a:rPr>
                        <a:t>S-9</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EMERGENCY CONTACT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Site entrance / fence gate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{{CONDUIT_SIZE}}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Reflective Vinyl on Aluminum</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{{BAT_QTY}}</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IFC 1207.6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441" name="Shape 44"/>
          <p:cNvSpPr/>
          <p:nvPr/>
        </p:nvSpPr>
        <p:spPr>
          <a:xfrm>
            <a:off x="342900" y="11190478"/>
            <a:ext cx="15430500" cy="12701"/>
          </a:xfrm>
          <a:prstGeom prst="rect">
            <a:avLst/>
          </a:prstGeom>
          <a:solidFill>
            <a:srgbClr val="111111"/>
          </a:solidFill>
          <a:ln w="12700">
            <a:solidFill>
              <a:srgbClr val="111111">
                <a:alpha val="0"/>
              </a:srgbClr>
            </a:solidFill>
          </a:ln>
        </p:spPr>
        <p:txBody>
          <a:bodyPr lIns="45719" rIns="45719"/>
          <a:lstStyle/>
          <a:p>
            <a:pPr/>
          </a:p>
        </p:txBody>
      </p:sp>
      <p:grpSp>
        <p:nvGrpSpPr>
          <p:cNvPr id="444" name="Text 45"/>
          <p:cNvGrpSpPr/>
          <p:nvPr/>
        </p:nvGrpSpPr>
        <p:grpSpPr>
          <a:xfrm>
            <a:off x="342900" y="11214861"/>
            <a:ext cx="15430500" cy="140157"/>
            <a:chOff x="0" y="0"/>
            <a:chExt cx="15430500" cy="140156"/>
          </a:xfrm>
        </p:grpSpPr>
        <p:sp>
          <p:nvSpPr>
            <p:cNvPr id="442" name="Rectangle"/>
            <p:cNvSpPr/>
            <p:nvPr/>
          </p:nvSpPr>
          <p:spPr>
            <a:xfrm>
              <a:off x="0" y="24943"/>
              <a:ext cx="154305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443" name="1 — SIGNAGE DETAILS &amp; SCHEDULE · NOT TO SCALE"/>
            <p:cNvSpPr txBox="1"/>
            <p:nvPr/>
          </p:nvSpPr>
          <p:spPr>
            <a:xfrm>
              <a:off x="42862" y="-1"/>
              <a:ext cx="153447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 — SIGNAGE DETAILS &amp; SCHEDULE · NOT TO SCALE</a:t>
              </a:r>
            </a:p>
          </p:txBody>
        </p:sp>
      </p:grpSp>
      <p:sp>
        <p:nvSpPr>
          <p:cNvPr id="445" name="Shape 46"/>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446" name="Shape 47"/>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473" name="ClearSky Logo"/>
          <p:cNvPicPr/>
          <p:nvPr/>
        </p:nvPicPr>
        <p:blipFill>
          <a:blip r:embed="rId2" cstate="print"/>
          <a:stretch>
            <a:fillRect/>
          </a:stretch>
        </p:blipFill>
        <p:spPr>
          <a:xfrm>
            <a:off x="16822342" y="673813"/>
            <a:ext cx="574909" cy="481174"/>
          </a:xfrm>
          <a:prstGeom prst="rect">
            <a:avLst/>
          </a:prstGeom>
        </p:spPr>
      </p:pic>
      <p:pic>
        <p:nvPicPr>
          <p:cNvPr id="474" name="ClearSky Logo"/>
          <p:cNvPicPr/>
          <p:nvPr/>
        </p:nvPicPr>
        <p:blipFill>
          <a:blip r:embed="rId2" cstate="print"/>
          <a:stretch>
            <a:fillRect/>
          </a:stretch>
        </p:blipFill>
        <p:spPr>
          <a:xfrm>
            <a:off x="16975670" y="1101684"/>
            <a:ext cx="269163" cy="225278"/>
          </a:xfrm>
          <a:prstGeom prst="rect">
            <a:avLst/>
          </a:prstGeom>
        </p:spPr>
      </p:pic>
      <p:sp>
        <p:nvSpPr>
          <p:cNvPr id="449" name="Text 50"/>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450" name="Shape 51"/>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451" name="Shape 52"/>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452" name="Text 53"/>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453" name="Text 54"/>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454" name="Text 55"/>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455" name="Text 56"/>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456" name="Shape 57"/>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457" name="Shape 58"/>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458" name="Table 1"/>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459" name="Shape 59"/>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460" name="Shape 60"/>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463" name="Text 61"/>
          <p:cNvGrpSpPr/>
          <p:nvPr/>
        </p:nvGrpSpPr>
        <p:grpSpPr>
          <a:xfrm>
            <a:off x="16154705" y="9372599"/>
            <a:ext cx="1905611" cy="858624"/>
            <a:chOff x="0" y="0"/>
            <a:chExt cx="1905610" cy="858622"/>
          </a:xfrm>
        </p:grpSpPr>
        <p:sp>
          <p:nvSpPr>
            <p:cNvPr id="461"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462" name="E4.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E4.0</a:t>
              </a:r>
            </a:p>
          </p:txBody>
        </p:sp>
      </p:grpSp>
      <p:sp>
        <p:nvSpPr>
          <p:cNvPr id="464" name="Shape 62"/>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465" name="Shape 63"/>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468" name="Text 64"/>
          <p:cNvGrpSpPr/>
          <p:nvPr/>
        </p:nvGrpSpPr>
        <p:grpSpPr>
          <a:xfrm>
            <a:off x="16154705" y="10230307"/>
            <a:ext cx="1905611" cy="286208"/>
            <a:chOff x="0" y="0"/>
            <a:chExt cx="1905610" cy="286206"/>
          </a:xfrm>
        </p:grpSpPr>
        <p:sp>
          <p:nvSpPr>
            <p:cNvPr id="466"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467" name="SIGNAGE"/>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SIGNAGE</a:t>
              </a:r>
            </a:p>
          </p:txBody>
        </p:sp>
      </p:grpSp>
      <p:sp>
        <p:nvSpPr>
          <p:cNvPr id="469" name="Shape 65"/>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470" name="Table 2"/>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471" name="Image"/>
          <p:cNvSpPr/>
          <p:nvPr/>
        </p:nvSpPr>
        <p:spPr>
          <a:xfrm>
            <a:off x="1082452" y="2049372"/>
            <a:ext cx="5912906" cy="1718109"/>
          </a:xfrm>
          <a:prstGeom prst="roundRect">
            <a:avLst>
              <a:gd name="adj" fmla="val 17829"/>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
        <p:nvSpPr>
          <p:cNvPr id="472" name="Image"/>
          <p:cNvSpPr/>
          <p:nvPr/>
        </p:nvSpPr>
        <p:spPr>
          <a:xfrm>
            <a:off x="8417310" y="2048257"/>
            <a:ext cx="6026293" cy="1719224"/>
          </a:xfrm>
          <a:prstGeom prst="roundRect">
            <a:avLst>
              <a:gd name="adj" fmla="val 18159"/>
            </a:avLst>
          </a:prstGeom>
          <a:solidFill>
            <a:schemeClr val="accent2"/>
          </a:solidFill>
          <a:ln w="38100">
            <a:solidFill>
              <a:srgbClr val="AD5B24"/>
            </a:solidFill>
            <a:miter/>
          </a:ln>
          <a:extLst>
            <a:ext uri="{C572A759-6A51-4108-AA02-DFA0A04FC94B}">
              <ma14:wrappingTextBoxFlag xmlns:ma14="http://schemas.microsoft.com/office/mac/drawingml/2011/main" val="1"/>
            </a:ext>
          </a:extLst>
        </p:spPr>
        <p:txBody>
          <a:bodyPr lIns="45719" rIns="45719" anchor="ctr"/>
          <a:lstStyle>
            <a:lvl1pPr algn="ctr">
              <a:defRPr sz="2600">
                <a:solidFill>
                  <a:srgbClr val="FFFFFF"/>
                </a:solidFill>
              </a:defRPr>
            </a:lvl1pPr>
          </a:lstStyle>
          <a:p>
            <a:pPr/>
            <a:r>
              <a:t xml:space="preserve">Image </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4"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475"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476"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477"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pic>
        <p:nvPicPr>
          <p:cNvPr id="478" name="Image 0" descr="Image 0"/>
          <p:cNvPicPr>
            <a:picLocks noChangeAspect="1"/>
          </p:cNvPicPr>
          <p:nvPr/>
        </p:nvPicPr>
        <p:blipFill>
          <a:blip r:embed="rId2">
            <a:extLst/>
          </a:blip>
          <a:stretch>
            <a:fillRect/>
          </a:stretch>
        </p:blipFill>
        <p:spPr>
          <a:xfrm>
            <a:off x="342900" y="348521"/>
            <a:ext cx="9924899" cy="4103558"/>
          </a:xfrm>
          <a:prstGeom prst="rect">
            <a:avLst/>
          </a:prstGeom>
          <a:ln w="12700">
            <a:miter lim="400000"/>
          </a:ln>
        </p:spPr>
      </p:pic>
      <p:pic>
        <p:nvPicPr>
          <p:cNvPr id="479" name="Image 1" descr="Image 1"/>
          <p:cNvPicPr>
            <a:picLocks noChangeAspect="1"/>
          </p:cNvPicPr>
          <p:nvPr/>
        </p:nvPicPr>
        <p:blipFill>
          <a:blip r:embed="rId3">
            <a:extLst/>
          </a:blip>
          <a:stretch>
            <a:fillRect/>
          </a:stretch>
        </p:blipFill>
        <p:spPr>
          <a:xfrm>
            <a:off x="342900" y="4880877"/>
            <a:ext cx="9924899" cy="5344135"/>
          </a:xfrm>
          <a:prstGeom prst="rect">
            <a:avLst/>
          </a:prstGeom>
          <a:ln w="12700">
            <a:miter lim="400000"/>
          </a:ln>
        </p:spPr>
      </p:pic>
      <p:pic>
        <p:nvPicPr>
          <p:cNvPr id="480" name="Image 2" descr="Image 2"/>
          <p:cNvPicPr>
            <a:picLocks noChangeAspect="1"/>
          </p:cNvPicPr>
          <p:nvPr/>
        </p:nvPicPr>
        <p:blipFill>
          <a:blip r:embed="rId4">
            <a:extLst/>
          </a:blip>
          <a:stretch>
            <a:fillRect/>
          </a:stretch>
        </p:blipFill>
        <p:spPr>
          <a:xfrm>
            <a:off x="10477195" y="343893"/>
            <a:ext cx="5352899" cy="4970521"/>
          </a:xfrm>
          <a:prstGeom prst="rect">
            <a:avLst/>
          </a:prstGeom>
          <a:ln w="12700">
            <a:miter lim="400000"/>
          </a:ln>
        </p:spPr>
      </p:pic>
      <p:sp>
        <p:nvSpPr>
          <p:cNvPr id="481" name="Shape 4"/>
          <p:cNvSpPr/>
          <p:nvPr/>
        </p:nvSpPr>
        <p:spPr>
          <a:xfrm>
            <a:off x="342899" y="4494326"/>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484" name="Text 5"/>
          <p:cNvGrpSpPr/>
          <p:nvPr/>
        </p:nvGrpSpPr>
        <p:grpSpPr>
          <a:xfrm>
            <a:off x="638250" y="4533594"/>
            <a:ext cx="9611260" cy="229515"/>
            <a:chOff x="0" y="0"/>
            <a:chExt cx="9611258" cy="229513"/>
          </a:xfrm>
        </p:grpSpPr>
        <p:sp>
          <p:nvSpPr>
            <p:cNvPr id="482" name="Rectangle"/>
            <p:cNvSpPr/>
            <p:nvPr/>
          </p:nvSpPr>
          <p:spPr>
            <a:xfrm>
              <a:off x="-1" y="0"/>
              <a:ext cx="96112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483" name="BESS PAD — TOP VIEW · SCALE: 1/4&quot; = 1'-0&quot;"/>
            <p:cNvSpPr txBox="1"/>
            <p:nvPr/>
          </p:nvSpPr>
          <p:spPr>
            <a:xfrm>
              <a:off x="30162" y="38556"/>
              <a:ext cx="9550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BESS PAD — TOP VIEW · SCALE: 1/4" = 1'-0"</a:t>
              </a:r>
            </a:p>
          </p:txBody>
        </p:sp>
      </p:grpSp>
      <p:sp>
        <p:nvSpPr>
          <p:cNvPr id="485" name="Shape 6"/>
          <p:cNvSpPr/>
          <p:nvPr/>
        </p:nvSpPr>
        <p:spPr>
          <a:xfrm>
            <a:off x="342900" y="4533594"/>
            <a:ext cx="209398" cy="209399"/>
          </a:xfrm>
          <a:prstGeom prst="ellipse">
            <a:avLst/>
          </a:prstGeom>
          <a:solidFill>
            <a:srgbClr val="FFFFFF"/>
          </a:solidFill>
          <a:ln w="12700">
            <a:solidFill>
              <a:srgbClr val="111111"/>
            </a:solidFill>
          </a:ln>
        </p:spPr>
        <p:txBody>
          <a:bodyPr lIns="45719" rIns="45719"/>
          <a:lstStyle/>
          <a:p>
            <a:pPr/>
          </a:p>
        </p:txBody>
      </p:sp>
      <p:grpSp>
        <p:nvGrpSpPr>
          <p:cNvPr id="488" name="Text 7"/>
          <p:cNvGrpSpPr/>
          <p:nvPr/>
        </p:nvGrpSpPr>
        <p:grpSpPr>
          <a:xfrm>
            <a:off x="342900" y="4533594"/>
            <a:ext cx="210312" cy="210313"/>
            <a:chOff x="0" y="0"/>
            <a:chExt cx="210311" cy="210311"/>
          </a:xfrm>
        </p:grpSpPr>
        <p:sp>
          <p:nvSpPr>
            <p:cNvPr id="486"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487" name="1"/>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a:t>
              </a:r>
            </a:p>
          </p:txBody>
        </p:sp>
      </p:grpSp>
      <p:sp>
        <p:nvSpPr>
          <p:cNvPr id="489" name="Shape 8"/>
          <p:cNvSpPr/>
          <p:nvPr/>
        </p:nvSpPr>
        <p:spPr>
          <a:xfrm>
            <a:off x="342899" y="10266019"/>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492" name="Text 9"/>
          <p:cNvGrpSpPr/>
          <p:nvPr/>
        </p:nvGrpSpPr>
        <p:grpSpPr>
          <a:xfrm>
            <a:off x="638250" y="10305288"/>
            <a:ext cx="9611260" cy="229515"/>
            <a:chOff x="0" y="0"/>
            <a:chExt cx="9611258" cy="229513"/>
          </a:xfrm>
        </p:grpSpPr>
        <p:sp>
          <p:nvSpPr>
            <p:cNvPr id="490" name="Rectangle"/>
            <p:cNvSpPr/>
            <p:nvPr/>
          </p:nvSpPr>
          <p:spPr>
            <a:xfrm>
              <a:off x="-1" y="0"/>
              <a:ext cx="96112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491" name="BESS PAD — SECTION A-A · SCALE: 3/4&quot; = 1'-0&quot;"/>
            <p:cNvSpPr txBox="1"/>
            <p:nvPr/>
          </p:nvSpPr>
          <p:spPr>
            <a:xfrm>
              <a:off x="30162" y="38556"/>
              <a:ext cx="9550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BESS PAD — SECTION A-A · SCALE: 3/4" = 1'-0"</a:t>
              </a:r>
            </a:p>
          </p:txBody>
        </p:sp>
      </p:grpSp>
      <p:sp>
        <p:nvSpPr>
          <p:cNvPr id="493" name="Shape 10"/>
          <p:cNvSpPr/>
          <p:nvPr/>
        </p:nvSpPr>
        <p:spPr>
          <a:xfrm>
            <a:off x="342900" y="10306201"/>
            <a:ext cx="209398" cy="209399"/>
          </a:xfrm>
          <a:prstGeom prst="ellipse">
            <a:avLst/>
          </a:prstGeom>
          <a:ln w="12700">
            <a:solidFill>
              <a:srgbClr val="111111"/>
            </a:solidFill>
          </a:ln>
        </p:spPr>
        <p:txBody>
          <a:bodyPr lIns="45719" rIns="45719"/>
          <a:lstStyle/>
          <a:p>
            <a:pPr/>
          </a:p>
        </p:txBody>
      </p:sp>
      <p:grpSp>
        <p:nvGrpSpPr>
          <p:cNvPr id="496" name="Text 11"/>
          <p:cNvGrpSpPr/>
          <p:nvPr/>
        </p:nvGrpSpPr>
        <p:grpSpPr>
          <a:xfrm>
            <a:off x="342900" y="10306201"/>
            <a:ext cx="210312" cy="210313"/>
            <a:chOff x="0" y="0"/>
            <a:chExt cx="210311" cy="210311"/>
          </a:xfrm>
        </p:grpSpPr>
        <p:sp>
          <p:nvSpPr>
            <p:cNvPr id="494"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495" name="2"/>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2</a:t>
              </a:r>
            </a:p>
          </p:txBody>
        </p:sp>
      </p:grpSp>
      <p:sp>
        <p:nvSpPr>
          <p:cNvPr id="497" name="Shape 12"/>
          <p:cNvSpPr/>
          <p:nvPr/>
        </p:nvSpPr>
        <p:spPr>
          <a:xfrm>
            <a:off x="10477195" y="5351119"/>
            <a:ext cx="5333696" cy="12701"/>
          </a:xfrm>
          <a:prstGeom prst="rect">
            <a:avLst/>
          </a:prstGeom>
          <a:solidFill>
            <a:srgbClr val="111111"/>
          </a:solidFill>
          <a:ln w="12700">
            <a:solidFill>
              <a:srgbClr val="111111">
                <a:alpha val="0"/>
              </a:srgbClr>
            </a:solidFill>
          </a:ln>
        </p:spPr>
        <p:txBody>
          <a:bodyPr lIns="45719" rIns="45719"/>
          <a:lstStyle/>
          <a:p>
            <a:pPr/>
          </a:p>
        </p:txBody>
      </p:sp>
      <p:grpSp>
        <p:nvGrpSpPr>
          <p:cNvPr id="500" name="Text 13"/>
          <p:cNvGrpSpPr/>
          <p:nvPr/>
        </p:nvGrpSpPr>
        <p:grpSpPr>
          <a:xfrm>
            <a:off x="10772546" y="5390388"/>
            <a:ext cx="5039259" cy="229515"/>
            <a:chOff x="0" y="0"/>
            <a:chExt cx="5039257" cy="229513"/>
          </a:xfrm>
        </p:grpSpPr>
        <p:sp>
          <p:nvSpPr>
            <p:cNvPr id="498" name="Rectangle"/>
            <p:cNvSpPr/>
            <p:nvPr/>
          </p:nvSpPr>
          <p:spPr>
            <a:xfrm>
              <a:off x="0" y="0"/>
              <a:ext cx="5039258"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499" name="BOLLARD DETAIL · SCALE: 1&quot; = 1'-0&quot;"/>
            <p:cNvSpPr txBox="1"/>
            <p:nvPr/>
          </p:nvSpPr>
          <p:spPr>
            <a:xfrm>
              <a:off x="30162" y="38556"/>
              <a:ext cx="4978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BOLLARD DETAIL · SCALE: 1" = 1'-0"</a:t>
              </a:r>
            </a:p>
          </p:txBody>
        </p:sp>
      </p:grpSp>
      <p:sp>
        <p:nvSpPr>
          <p:cNvPr id="501" name="Shape 14"/>
          <p:cNvSpPr/>
          <p:nvPr/>
        </p:nvSpPr>
        <p:spPr>
          <a:xfrm>
            <a:off x="10477195" y="5391301"/>
            <a:ext cx="209399" cy="209399"/>
          </a:xfrm>
          <a:prstGeom prst="ellipse">
            <a:avLst/>
          </a:prstGeom>
          <a:ln w="12700">
            <a:solidFill>
              <a:srgbClr val="111111"/>
            </a:solidFill>
          </a:ln>
        </p:spPr>
        <p:txBody>
          <a:bodyPr lIns="45719" rIns="45719"/>
          <a:lstStyle/>
          <a:p>
            <a:pPr/>
          </a:p>
        </p:txBody>
      </p:sp>
      <p:grpSp>
        <p:nvGrpSpPr>
          <p:cNvPr id="504" name="Text 15"/>
          <p:cNvGrpSpPr/>
          <p:nvPr/>
        </p:nvGrpSpPr>
        <p:grpSpPr>
          <a:xfrm>
            <a:off x="10477195" y="5391301"/>
            <a:ext cx="210313" cy="210313"/>
            <a:chOff x="0" y="0"/>
            <a:chExt cx="210311" cy="210311"/>
          </a:xfrm>
        </p:grpSpPr>
        <p:sp>
          <p:nvSpPr>
            <p:cNvPr id="502"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03" name="3"/>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3</a:t>
              </a:r>
            </a:p>
          </p:txBody>
        </p:sp>
      </p:grpSp>
      <p:sp>
        <p:nvSpPr>
          <p:cNvPr id="505" name="Shape 16"/>
          <p:cNvSpPr/>
          <p:nvPr/>
        </p:nvSpPr>
        <p:spPr>
          <a:xfrm>
            <a:off x="10477195" y="5715000"/>
            <a:ext cx="5581499" cy="5544007"/>
          </a:xfrm>
          <a:prstGeom prst="rect">
            <a:avLst/>
          </a:prstGeom>
          <a:solidFill>
            <a:srgbClr val="FFFFFF"/>
          </a:solidFill>
          <a:ln w="12700">
            <a:solidFill>
              <a:srgbClr val="111111"/>
            </a:solidFill>
          </a:ln>
        </p:spPr>
        <p:txBody>
          <a:bodyPr lIns="45719" rIns="45719"/>
          <a:lstStyle/>
          <a:p>
            <a:pPr/>
          </a:p>
        </p:txBody>
      </p:sp>
      <p:sp>
        <p:nvSpPr>
          <p:cNvPr id="506" name="Text 17"/>
          <p:cNvSpPr txBox="1"/>
          <p:nvPr/>
        </p:nvSpPr>
        <p:spPr>
          <a:xfrm>
            <a:off x="10601553" y="5823406"/>
            <a:ext cx="53346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PAD &amp; BOLLARD NOTES</a:t>
            </a:r>
          </a:p>
        </p:txBody>
      </p:sp>
      <p:sp>
        <p:nvSpPr>
          <p:cNvPr id="507" name="Text 18"/>
          <p:cNvSpPr txBox="1"/>
          <p:nvPr/>
        </p:nvSpPr>
        <p:spPr>
          <a:xfrm>
            <a:off x="10772546" y="6012013"/>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FOR PAD &amp; PULLBOX:</a:t>
            </a:r>
            <a:r>
              <a:rPr b="0"/>
              <a:t xml:space="preserve"> Coordinate routing of all conduits prior to pour. Provide sleeves and stub-ups per single-line diagram (see E2.0).</a:t>
            </a:r>
          </a:p>
        </p:txBody>
      </p:sp>
      <p:sp>
        <p:nvSpPr>
          <p:cNvPr id="508" name="Text 19"/>
          <p:cNvSpPr txBox="1"/>
          <p:nvPr/>
        </p:nvSpPr>
        <p:spPr>
          <a:xfrm>
            <a:off x="10772546" y="6261405"/>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CONCRETE:</a:t>
            </a:r>
            <a:r>
              <a:rPr b="0"/>
              <a:t xml:space="preserve"> Min. f'c = [3,000] psi at 28 days. Air-entrained per ACI 318. Slump 4" ±1".</a:t>
            </a:r>
          </a:p>
        </p:txBody>
      </p:sp>
      <p:sp>
        <p:nvSpPr>
          <p:cNvPr id="509" name="Text 20"/>
          <p:cNvSpPr txBox="1"/>
          <p:nvPr/>
        </p:nvSpPr>
        <p:spPr>
          <a:xfrm>
            <a:off x="10772546" y="6412520"/>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REINFORCEMENT:</a:t>
            </a:r>
            <a:r>
              <a:rPr b="0"/>
              <a:t xml:space="preserve"> #4 rebar @ 12" o.c.e.w. top &amp; bottom, 2-mat construction. Min. cover 3" from earth, 2" from formed surfaces.</a:t>
            </a:r>
          </a:p>
        </p:txBody>
      </p:sp>
      <p:sp>
        <p:nvSpPr>
          <p:cNvPr id="510" name="Text 21"/>
          <p:cNvSpPr txBox="1"/>
          <p:nvPr/>
        </p:nvSpPr>
        <p:spPr>
          <a:xfrm>
            <a:off x="10772546" y="6660997"/>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SUB-BASE:</a:t>
            </a:r>
            <a:r>
              <a:rPr b="0"/>
              <a:t xml:space="preserve"> [6"] compacted crushed aggregate base course (CAB), 95% Std. Proctor.</a:t>
            </a:r>
          </a:p>
        </p:txBody>
      </p:sp>
      <p:sp>
        <p:nvSpPr>
          <p:cNvPr id="511" name="Text 22"/>
          <p:cNvSpPr txBox="1"/>
          <p:nvPr/>
        </p:nvSpPr>
        <p:spPr>
          <a:xfrm>
            <a:off x="10772546" y="6812113"/>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SUBGRADE:</a:t>
            </a:r>
            <a:r>
              <a:rPr b="0"/>
              <a:t xml:space="preserve"> Compacted native or imported select fill to 95% Std. Proctor; geotechnical report required for [≥ XX]-ton equipment.</a:t>
            </a:r>
          </a:p>
        </p:txBody>
      </p:sp>
      <p:sp>
        <p:nvSpPr>
          <p:cNvPr id="512" name="Text 23"/>
          <p:cNvSpPr txBox="1"/>
          <p:nvPr/>
        </p:nvSpPr>
        <p:spPr>
          <a:xfrm>
            <a:off x="10772546" y="7079118"/>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ANCHOR BOLTS:</a:t>
            </a:r>
            <a:r>
              <a:rPr b="0"/>
              <a:t xml:space="preserve"> 3/4" Ø Simpson Strong-Bolt 2 or equal, [8"] embedment, [12"] OC max. PER MFR ANCHORAGE DETAIL.</a:t>
            </a:r>
          </a:p>
        </p:txBody>
      </p:sp>
      <p:sp>
        <p:nvSpPr>
          <p:cNvPr id="513" name="Text 24"/>
          <p:cNvSpPr txBox="1"/>
          <p:nvPr/>
        </p:nvSpPr>
        <p:spPr>
          <a:xfrm>
            <a:off x="10772546" y="7345208"/>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BOLLARDS:</a:t>
            </a:r>
            <a:r>
              <a:rPr b="0"/>
              <a:t xml:space="preserve"> 6" Ø Sch. 40 hot-dip galvanized steel pipe, concrete-filled. Set [36"] above grade, [36"] below grade in [18" Ø × 36" D] concrete footing.</a:t>
            </a:r>
          </a:p>
        </p:txBody>
      </p:sp>
      <p:sp>
        <p:nvSpPr>
          <p:cNvPr id="514" name="Text 25"/>
          <p:cNvSpPr txBox="1"/>
          <p:nvPr/>
        </p:nvSpPr>
        <p:spPr>
          <a:xfrm>
            <a:off x="10772546" y="7594599"/>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BOLLARD SPACING:</a:t>
            </a:r>
            <a:r>
              <a:rPr b="0"/>
              <a:t xml:space="preserve"> Max. 4'-0" o.c., placed to protect equipment per local AHJ.</a:t>
            </a:r>
          </a:p>
        </p:txBody>
      </p:sp>
      <p:sp>
        <p:nvSpPr>
          <p:cNvPr id="515" name="Text 26"/>
          <p:cNvSpPr txBox="1"/>
          <p:nvPr/>
        </p:nvSpPr>
        <p:spPr>
          <a:xfrm>
            <a:off x="10772546" y="7728101"/>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FINISH:</a:t>
            </a:r>
            <a:r>
              <a:rPr b="0"/>
              <a:t xml:space="preserve"> Bollards painted safety yellow (OSHA 1910.144). Top capped or domed concrete.</a:t>
            </a:r>
          </a:p>
        </p:txBody>
      </p:sp>
      <p:sp>
        <p:nvSpPr>
          <p:cNvPr id="516" name="Text 27"/>
          <p:cNvSpPr txBox="1"/>
          <p:nvPr/>
        </p:nvSpPr>
        <p:spPr>
          <a:xfrm>
            <a:off x="10772546" y="7861604"/>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DRAINAGE:</a:t>
            </a:r>
            <a:r>
              <a:rPr b="0"/>
              <a:t xml:space="preserve"> Pad sloped [1/4"/ft] minimum away from BESS enclosure.</a:t>
            </a:r>
          </a:p>
        </p:txBody>
      </p:sp>
      <p:sp>
        <p:nvSpPr>
          <p:cNvPr id="517" name="Text 28"/>
          <p:cNvSpPr txBox="1"/>
          <p:nvPr/>
        </p:nvSpPr>
        <p:spPr>
          <a:xfrm>
            <a:off x="10772546" y="7995107"/>
            <a:ext cx="5429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SPECIAL INSPECTION:</a:t>
            </a:r>
            <a:r>
              <a:rPr b="0"/>
              <a:t xml:space="preserve"> Required per [IBC Ch. 17] for concrete placement and anchor installation.</a:t>
            </a:r>
          </a:p>
        </p:txBody>
      </p:sp>
      <p:sp>
        <p:nvSpPr>
          <p:cNvPr id="518" name="Text 29"/>
          <p:cNvSpPr txBox="1"/>
          <p:nvPr/>
        </p:nvSpPr>
        <p:spPr>
          <a:xfrm>
            <a:off x="10772546" y="8127694"/>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VERIFY GRADE:</a:t>
            </a:r>
            <a:r>
              <a:rPr b="0"/>
              <a:t xml:space="preserve"> Where necessary, regrade to existing finish elevations after pour.</a:t>
            </a:r>
          </a:p>
        </p:txBody>
      </p:sp>
      <p:sp>
        <p:nvSpPr>
          <p:cNvPr id="519" name="Shape 30"/>
          <p:cNvSpPr/>
          <p:nvPr/>
        </p:nvSpPr>
        <p:spPr>
          <a:xfrm>
            <a:off x="342899" y="11190478"/>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522" name="Text 31"/>
          <p:cNvGrpSpPr/>
          <p:nvPr/>
        </p:nvGrpSpPr>
        <p:grpSpPr>
          <a:xfrm>
            <a:off x="342899" y="11214861"/>
            <a:ext cx="9906612" cy="140157"/>
            <a:chOff x="0" y="0"/>
            <a:chExt cx="9906610" cy="140156"/>
          </a:xfrm>
        </p:grpSpPr>
        <p:sp>
          <p:nvSpPr>
            <p:cNvPr id="520" name="Rectangle"/>
            <p:cNvSpPr/>
            <p:nvPr/>
          </p:nvSpPr>
          <p:spPr>
            <a:xfrm>
              <a:off x="0" y="24943"/>
              <a:ext cx="9906611"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21" name="BESS PAD DETAILS · SEE STRUCTURAL CALCULATIONS BY EOR"/>
            <p:cNvSpPr txBox="1"/>
            <p:nvPr/>
          </p:nvSpPr>
          <p:spPr>
            <a:xfrm>
              <a:off x="42862" y="-1"/>
              <a:ext cx="98208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BESS PAD DETAILS · SEE STRUCTURAL CALCULATIONS BY EOR</a:t>
              </a:r>
            </a:p>
          </p:txBody>
        </p:sp>
      </p:grpSp>
      <p:sp>
        <p:nvSpPr>
          <p:cNvPr id="523" name="Shape 32"/>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524" name="Shape 33"/>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549" name="ClearSky Logo"/>
          <p:cNvPicPr/>
          <p:nvPr/>
        </p:nvPicPr>
        <p:blipFill>
          <a:blip r:embed="rId5" cstate="print"/>
          <a:stretch>
            <a:fillRect/>
          </a:stretch>
        </p:blipFill>
        <p:spPr>
          <a:xfrm>
            <a:off x="16822342" y="673813"/>
            <a:ext cx="574909" cy="481174"/>
          </a:xfrm>
          <a:prstGeom prst="rect">
            <a:avLst/>
          </a:prstGeom>
        </p:spPr>
      </p:pic>
      <p:pic>
        <p:nvPicPr>
          <p:cNvPr id="550" name="ClearSky Logo"/>
          <p:cNvPicPr/>
          <p:nvPr/>
        </p:nvPicPr>
        <p:blipFill>
          <a:blip r:embed="rId5" cstate="print"/>
          <a:stretch>
            <a:fillRect/>
          </a:stretch>
        </p:blipFill>
        <p:spPr>
          <a:xfrm>
            <a:off x="16975670" y="1101684"/>
            <a:ext cx="269163" cy="225278"/>
          </a:xfrm>
          <a:prstGeom prst="rect">
            <a:avLst/>
          </a:prstGeom>
        </p:spPr>
      </p:pic>
      <p:sp>
        <p:nvSpPr>
          <p:cNvPr id="527" name="Text 36"/>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528" name="Shape 37"/>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529" name="Shape 38"/>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530" name="Text 39"/>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531" name="Text 40"/>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532" name="Text 41"/>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533" name="Text 42"/>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534" name="Shape 43"/>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535" name="Shape 44"/>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536" name="Table 0"/>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537" name="Shape 45"/>
          <p:cNvSpPr/>
          <p:nvPr/>
        </p:nvSpPr>
        <p:spPr>
          <a:xfrm>
            <a:off x="16154705" y="9372600"/>
            <a:ext cx="1904696" cy="1000353"/>
          </a:xfrm>
          <a:prstGeom prst="rect">
            <a:avLst/>
          </a:prstGeom>
          <a:solidFill>
            <a:srgbClr val="FFFFFF"/>
          </a:solidFill>
          <a:ln w="12700">
            <a:miter lim="400000"/>
          </a:ln>
        </p:spPr>
        <p:txBody>
          <a:bodyPr lIns="45719" rIns="45719"/>
          <a:lstStyle/>
          <a:p>
            <a:pPr/>
          </a:p>
        </p:txBody>
      </p:sp>
      <p:sp>
        <p:nvSpPr>
          <p:cNvPr id="538" name="Shape 46"/>
          <p:cNvSpPr/>
          <p:nvPr/>
        </p:nvSpPr>
        <p:spPr>
          <a:xfrm>
            <a:off x="16154705" y="10362031"/>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541" name="Text 47"/>
          <p:cNvGrpSpPr/>
          <p:nvPr/>
        </p:nvGrpSpPr>
        <p:grpSpPr>
          <a:xfrm>
            <a:off x="16154705" y="9372599"/>
            <a:ext cx="1905611" cy="857709"/>
            <a:chOff x="0" y="0"/>
            <a:chExt cx="1905610" cy="857707"/>
          </a:xfrm>
        </p:grpSpPr>
        <p:sp>
          <p:nvSpPr>
            <p:cNvPr id="539" name="Rectangle"/>
            <p:cNvSpPr/>
            <p:nvPr/>
          </p:nvSpPr>
          <p:spPr>
            <a:xfrm>
              <a:off x="-1" y="-1"/>
              <a:ext cx="1905612" cy="857709"/>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3700"/>
              </a:pPr>
            </a:p>
          </p:txBody>
        </p:sp>
        <p:sp>
          <p:nvSpPr>
            <p:cNvPr id="540" name="S1.1"/>
            <p:cNvSpPr txBox="1"/>
            <p:nvPr/>
          </p:nvSpPr>
          <p:spPr>
            <a:xfrm>
              <a:off x="144462" y="239689"/>
              <a:ext cx="1616686" cy="5180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4" sz="3700">
                  <a:latin typeface="Arial"/>
                  <a:ea typeface="Arial"/>
                  <a:cs typeface="Arial"/>
                  <a:sym typeface="Arial"/>
                </a:defRPr>
              </a:lvl1pPr>
            </a:lstStyle>
            <a:p>
              <a:pPr/>
              <a:r>
                <a:t>S1.1</a:t>
              </a:r>
            </a:p>
          </p:txBody>
        </p:sp>
      </p:grpSp>
      <p:sp>
        <p:nvSpPr>
          <p:cNvPr id="542" name="Shape 48"/>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543" name="Shape 49"/>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546" name="Text 50"/>
          <p:cNvGrpSpPr/>
          <p:nvPr/>
        </p:nvGrpSpPr>
        <p:grpSpPr>
          <a:xfrm>
            <a:off x="16154705" y="10230307"/>
            <a:ext cx="1905611" cy="286208"/>
            <a:chOff x="0" y="0"/>
            <a:chExt cx="1905610" cy="286206"/>
          </a:xfrm>
        </p:grpSpPr>
        <p:sp>
          <p:nvSpPr>
            <p:cNvPr id="544"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545" name="BESS PAD DETAILS"/>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BESS PAD DETAILS</a:t>
              </a:r>
            </a:p>
          </p:txBody>
        </p:sp>
      </p:grpSp>
      <p:sp>
        <p:nvSpPr>
          <p:cNvPr id="547" name="Shape 51"/>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548" name="Table 1"/>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0"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551"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552"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553"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pic>
        <p:nvPicPr>
          <p:cNvPr id="554" name="Image 0" descr="Image 0"/>
          <p:cNvPicPr>
            <a:picLocks noChangeAspect="1"/>
          </p:cNvPicPr>
          <p:nvPr/>
        </p:nvPicPr>
        <p:blipFill>
          <a:blip r:embed="rId2">
            <a:extLst/>
          </a:blip>
          <a:stretch>
            <a:fillRect/>
          </a:stretch>
        </p:blipFill>
        <p:spPr>
          <a:xfrm>
            <a:off x="342900" y="348521"/>
            <a:ext cx="9924899" cy="4103558"/>
          </a:xfrm>
          <a:prstGeom prst="rect">
            <a:avLst/>
          </a:prstGeom>
          <a:ln w="12700">
            <a:miter lim="400000"/>
          </a:ln>
        </p:spPr>
      </p:pic>
      <p:pic>
        <p:nvPicPr>
          <p:cNvPr id="555" name="Image 1" descr="Image 1"/>
          <p:cNvPicPr>
            <a:picLocks noChangeAspect="1"/>
          </p:cNvPicPr>
          <p:nvPr/>
        </p:nvPicPr>
        <p:blipFill>
          <a:blip r:embed="rId3">
            <a:extLst/>
          </a:blip>
          <a:stretch>
            <a:fillRect/>
          </a:stretch>
        </p:blipFill>
        <p:spPr>
          <a:xfrm>
            <a:off x="342900" y="4880877"/>
            <a:ext cx="9924899" cy="5344135"/>
          </a:xfrm>
          <a:prstGeom prst="rect">
            <a:avLst/>
          </a:prstGeom>
          <a:ln w="12700">
            <a:miter lim="400000"/>
          </a:ln>
        </p:spPr>
      </p:pic>
      <p:pic>
        <p:nvPicPr>
          <p:cNvPr id="556" name="Image 2" descr="Image 2"/>
          <p:cNvPicPr>
            <a:picLocks noChangeAspect="1"/>
          </p:cNvPicPr>
          <p:nvPr/>
        </p:nvPicPr>
        <p:blipFill>
          <a:blip r:embed="rId4">
            <a:extLst/>
          </a:blip>
          <a:stretch>
            <a:fillRect/>
          </a:stretch>
        </p:blipFill>
        <p:spPr>
          <a:xfrm>
            <a:off x="10477195" y="345951"/>
            <a:ext cx="5352899" cy="3632296"/>
          </a:xfrm>
          <a:prstGeom prst="rect">
            <a:avLst/>
          </a:prstGeom>
          <a:ln w="12700">
            <a:miter lim="400000"/>
          </a:ln>
        </p:spPr>
      </p:pic>
      <p:sp>
        <p:nvSpPr>
          <p:cNvPr id="557" name="Shape 4"/>
          <p:cNvSpPr/>
          <p:nvPr/>
        </p:nvSpPr>
        <p:spPr>
          <a:xfrm>
            <a:off x="342899" y="4494326"/>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560" name="Text 5"/>
          <p:cNvGrpSpPr/>
          <p:nvPr/>
        </p:nvGrpSpPr>
        <p:grpSpPr>
          <a:xfrm>
            <a:off x="638250" y="4533594"/>
            <a:ext cx="9611260" cy="229515"/>
            <a:chOff x="0" y="0"/>
            <a:chExt cx="9611258" cy="229513"/>
          </a:xfrm>
        </p:grpSpPr>
        <p:sp>
          <p:nvSpPr>
            <p:cNvPr id="558" name="Rectangle"/>
            <p:cNvSpPr/>
            <p:nvPr/>
          </p:nvSpPr>
          <p:spPr>
            <a:xfrm>
              <a:off x="-1" y="0"/>
              <a:ext cx="96112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559" name="GEAR PAD — TOP VIEW · SCALE: 1/4&quot; = 1'-0&quot;"/>
            <p:cNvSpPr txBox="1"/>
            <p:nvPr/>
          </p:nvSpPr>
          <p:spPr>
            <a:xfrm>
              <a:off x="30162" y="38556"/>
              <a:ext cx="9550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GEAR PAD — TOP VIEW · SCALE: 1/4" = 1'-0"</a:t>
              </a:r>
            </a:p>
          </p:txBody>
        </p:sp>
      </p:grpSp>
      <p:sp>
        <p:nvSpPr>
          <p:cNvPr id="561" name="Shape 6"/>
          <p:cNvSpPr/>
          <p:nvPr/>
        </p:nvSpPr>
        <p:spPr>
          <a:xfrm>
            <a:off x="342900" y="4533594"/>
            <a:ext cx="209398" cy="209399"/>
          </a:xfrm>
          <a:prstGeom prst="ellipse">
            <a:avLst/>
          </a:prstGeom>
          <a:ln w="12700">
            <a:solidFill>
              <a:srgbClr val="111111"/>
            </a:solidFill>
          </a:ln>
        </p:spPr>
        <p:txBody>
          <a:bodyPr lIns="45719" rIns="45719"/>
          <a:lstStyle/>
          <a:p>
            <a:pPr/>
          </a:p>
        </p:txBody>
      </p:sp>
      <p:grpSp>
        <p:nvGrpSpPr>
          <p:cNvPr id="564" name="Text 7"/>
          <p:cNvGrpSpPr/>
          <p:nvPr/>
        </p:nvGrpSpPr>
        <p:grpSpPr>
          <a:xfrm>
            <a:off x="342900" y="4533594"/>
            <a:ext cx="210312" cy="210313"/>
            <a:chOff x="0" y="0"/>
            <a:chExt cx="210311" cy="210311"/>
          </a:xfrm>
        </p:grpSpPr>
        <p:sp>
          <p:nvSpPr>
            <p:cNvPr id="562"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63" name="1"/>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a:t>
              </a:r>
            </a:p>
          </p:txBody>
        </p:sp>
      </p:grpSp>
      <p:sp>
        <p:nvSpPr>
          <p:cNvPr id="565" name="Shape 8"/>
          <p:cNvSpPr/>
          <p:nvPr/>
        </p:nvSpPr>
        <p:spPr>
          <a:xfrm>
            <a:off x="342899" y="10266019"/>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568" name="Text 9"/>
          <p:cNvGrpSpPr/>
          <p:nvPr/>
        </p:nvGrpSpPr>
        <p:grpSpPr>
          <a:xfrm>
            <a:off x="638250" y="10305288"/>
            <a:ext cx="9611260" cy="229515"/>
            <a:chOff x="0" y="0"/>
            <a:chExt cx="9611258" cy="229513"/>
          </a:xfrm>
        </p:grpSpPr>
        <p:sp>
          <p:nvSpPr>
            <p:cNvPr id="566" name="Rectangle"/>
            <p:cNvSpPr/>
            <p:nvPr/>
          </p:nvSpPr>
          <p:spPr>
            <a:xfrm>
              <a:off x="-1" y="0"/>
              <a:ext cx="96112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567" name="GEAR PAD — SECTION B-B · SCALE: 3/4&quot; = 1'-0&quot;"/>
            <p:cNvSpPr txBox="1"/>
            <p:nvPr/>
          </p:nvSpPr>
          <p:spPr>
            <a:xfrm>
              <a:off x="30162" y="38556"/>
              <a:ext cx="95509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GEAR PAD — SECTION B-B · SCALE: 3/4" = 1'-0"</a:t>
              </a:r>
            </a:p>
          </p:txBody>
        </p:sp>
      </p:grpSp>
      <p:sp>
        <p:nvSpPr>
          <p:cNvPr id="569" name="Shape 10"/>
          <p:cNvSpPr/>
          <p:nvPr/>
        </p:nvSpPr>
        <p:spPr>
          <a:xfrm>
            <a:off x="342900" y="10306201"/>
            <a:ext cx="209398" cy="209399"/>
          </a:xfrm>
          <a:prstGeom prst="ellipse">
            <a:avLst/>
          </a:prstGeom>
          <a:ln w="12700">
            <a:solidFill>
              <a:srgbClr val="111111"/>
            </a:solidFill>
          </a:ln>
        </p:spPr>
        <p:txBody>
          <a:bodyPr lIns="45719" rIns="45719"/>
          <a:lstStyle/>
          <a:p>
            <a:pPr/>
          </a:p>
        </p:txBody>
      </p:sp>
      <p:grpSp>
        <p:nvGrpSpPr>
          <p:cNvPr id="572" name="Text 11"/>
          <p:cNvGrpSpPr/>
          <p:nvPr/>
        </p:nvGrpSpPr>
        <p:grpSpPr>
          <a:xfrm>
            <a:off x="342900" y="10306201"/>
            <a:ext cx="210312" cy="210313"/>
            <a:chOff x="0" y="0"/>
            <a:chExt cx="210311" cy="210311"/>
          </a:xfrm>
        </p:grpSpPr>
        <p:sp>
          <p:nvSpPr>
            <p:cNvPr id="570"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71" name="2"/>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2</a:t>
              </a:r>
            </a:p>
          </p:txBody>
        </p:sp>
      </p:grpSp>
      <p:sp>
        <p:nvSpPr>
          <p:cNvPr id="573" name="Shape 12"/>
          <p:cNvSpPr/>
          <p:nvPr/>
        </p:nvSpPr>
        <p:spPr>
          <a:xfrm>
            <a:off x="10477195" y="4017923"/>
            <a:ext cx="5333696" cy="12701"/>
          </a:xfrm>
          <a:prstGeom prst="rect">
            <a:avLst/>
          </a:prstGeom>
          <a:solidFill>
            <a:srgbClr val="111111"/>
          </a:solidFill>
          <a:ln w="12700">
            <a:solidFill>
              <a:srgbClr val="111111">
                <a:alpha val="0"/>
              </a:srgbClr>
            </a:solidFill>
          </a:ln>
        </p:spPr>
        <p:txBody>
          <a:bodyPr lIns="45719" rIns="45719"/>
          <a:lstStyle/>
          <a:p>
            <a:pPr/>
          </a:p>
        </p:txBody>
      </p:sp>
      <p:grpSp>
        <p:nvGrpSpPr>
          <p:cNvPr id="576" name="Text 13"/>
          <p:cNvGrpSpPr/>
          <p:nvPr/>
        </p:nvGrpSpPr>
        <p:grpSpPr>
          <a:xfrm>
            <a:off x="10770717" y="4057193"/>
            <a:ext cx="5041088" cy="229515"/>
            <a:chOff x="0" y="0"/>
            <a:chExt cx="5041087" cy="229513"/>
          </a:xfrm>
        </p:grpSpPr>
        <p:sp>
          <p:nvSpPr>
            <p:cNvPr id="574" name="Rectangle"/>
            <p:cNvSpPr/>
            <p:nvPr/>
          </p:nvSpPr>
          <p:spPr>
            <a:xfrm>
              <a:off x="-1" y="0"/>
              <a:ext cx="5041089"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575" name="ANCHOR BOLT DETAIL · SCALE: 1-1/2&quot; = 1'-0&quot;"/>
            <p:cNvSpPr txBox="1"/>
            <p:nvPr/>
          </p:nvSpPr>
          <p:spPr>
            <a:xfrm>
              <a:off x="30162" y="38556"/>
              <a:ext cx="4980763"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ANCHOR BOLT DETAIL · SCALE: 1-1/2" = 1'-0"</a:t>
              </a:r>
            </a:p>
          </p:txBody>
        </p:sp>
      </p:grpSp>
      <p:sp>
        <p:nvSpPr>
          <p:cNvPr id="577" name="Shape 14"/>
          <p:cNvSpPr/>
          <p:nvPr/>
        </p:nvSpPr>
        <p:spPr>
          <a:xfrm>
            <a:off x="10477195" y="4058106"/>
            <a:ext cx="209399" cy="209399"/>
          </a:xfrm>
          <a:prstGeom prst="ellipse">
            <a:avLst/>
          </a:prstGeom>
          <a:ln w="12700">
            <a:solidFill>
              <a:srgbClr val="111111"/>
            </a:solidFill>
          </a:ln>
        </p:spPr>
        <p:txBody>
          <a:bodyPr lIns="45719" rIns="45719"/>
          <a:lstStyle/>
          <a:p>
            <a:pPr/>
          </a:p>
        </p:txBody>
      </p:sp>
      <p:grpSp>
        <p:nvGrpSpPr>
          <p:cNvPr id="580" name="Text 15"/>
          <p:cNvGrpSpPr/>
          <p:nvPr/>
        </p:nvGrpSpPr>
        <p:grpSpPr>
          <a:xfrm>
            <a:off x="10477195" y="4058106"/>
            <a:ext cx="210313" cy="210313"/>
            <a:chOff x="0" y="0"/>
            <a:chExt cx="210311" cy="210311"/>
          </a:xfrm>
        </p:grpSpPr>
        <p:sp>
          <p:nvSpPr>
            <p:cNvPr id="578"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579" name="3"/>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3</a:t>
              </a:r>
            </a:p>
          </p:txBody>
        </p:sp>
      </p:grpSp>
      <p:sp>
        <p:nvSpPr>
          <p:cNvPr id="581" name="Shape 16"/>
          <p:cNvSpPr/>
          <p:nvPr/>
        </p:nvSpPr>
        <p:spPr>
          <a:xfrm>
            <a:off x="10477195" y="4381805"/>
            <a:ext cx="5581499" cy="6877202"/>
          </a:xfrm>
          <a:prstGeom prst="rect">
            <a:avLst/>
          </a:prstGeom>
          <a:solidFill>
            <a:srgbClr val="FFFFFF"/>
          </a:solidFill>
          <a:ln w="12700">
            <a:solidFill>
              <a:srgbClr val="111111"/>
            </a:solidFill>
          </a:ln>
        </p:spPr>
        <p:txBody>
          <a:bodyPr lIns="45719" rIns="45719"/>
          <a:lstStyle/>
          <a:p>
            <a:pPr/>
          </a:p>
        </p:txBody>
      </p:sp>
      <p:sp>
        <p:nvSpPr>
          <p:cNvPr id="582" name="Text 17"/>
          <p:cNvSpPr txBox="1"/>
          <p:nvPr/>
        </p:nvSpPr>
        <p:spPr>
          <a:xfrm>
            <a:off x="10601553" y="4489296"/>
            <a:ext cx="53346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GEAR PAD NOTES</a:t>
            </a:r>
          </a:p>
        </p:txBody>
      </p:sp>
      <p:sp>
        <p:nvSpPr>
          <p:cNvPr id="583" name="Text 18"/>
          <p:cNvSpPr txBox="1"/>
          <p:nvPr/>
        </p:nvSpPr>
        <p:spPr>
          <a:xfrm>
            <a:off x="10772546" y="4661205"/>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CONCRETE:</a:t>
            </a:r>
            <a:r>
              <a:rPr b="0"/>
              <a:t xml:space="preserve"> Min. f'c = [3,000] psi at 28 days. ACI 318. Air-entrained, slump 4" ±1".</a:t>
            </a:r>
          </a:p>
        </p:txBody>
      </p:sp>
      <p:sp>
        <p:nvSpPr>
          <p:cNvPr id="584" name="Text 19"/>
          <p:cNvSpPr txBox="1"/>
          <p:nvPr/>
        </p:nvSpPr>
        <p:spPr>
          <a:xfrm>
            <a:off x="10772546" y="4812320"/>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REINFORCEMENT:</a:t>
            </a:r>
            <a:r>
              <a:rPr b="0"/>
              <a:t xml:space="preserve"> #4 rebar @ 12" o.c.e.w. top and bottom, 2-mat. 3" cover from earth, 2" from formed surfaces. Grade 60.</a:t>
            </a:r>
          </a:p>
        </p:txBody>
      </p:sp>
      <p:sp>
        <p:nvSpPr>
          <p:cNvPr id="585" name="Text 20"/>
          <p:cNvSpPr txBox="1"/>
          <p:nvPr/>
        </p:nvSpPr>
        <p:spPr>
          <a:xfrm>
            <a:off x="10772546" y="5060796"/>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SUB-BASE:</a:t>
            </a:r>
            <a:r>
              <a:rPr b="0"/>
              <a:t xml:space="preserve"> [6"] compacted crushed aggregate base course (CAB) at 95% Std. Proctor.</a:t>
            </a:r>
          </a:p>
        </p:txBody>
      </p:sp>
      <p:sp>
        <p:nvSpPr>
          <p:cNvPr id="586" name="Text 21"/>
          <p:cNvSpPr txBox="1"/>
          <p:nvPr/>
        </p:nvSpPr>
        <p:spPr>
          <a:xfrm>
            <a:off x="10772546" y="5211913"/>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SUBGRADE:</a:t>
            </a:r>
            <a:r>
              <a:rPr b="0"/>
              <a:t xml:space="preserve"> Compacted native or imported select fill at 95% Std. Proctor. Geotechnical report required where [BEARING] uncertain.</a:t>
            </a:r>
          </a:p>
        </p:txBody>
      </p:sp>
      <p:sp>
        <p:nvSpPr>
          <p:cNvPr id="587" name="Text 22"/>
          <p:cNvSpPr txBox="1"/>
          <p:nvPr/>
        </p:nvSpPr>
        <p:spPr>
          <a:xfrm>
            <a:off x="10772546" y="5478918"/>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ANCHOR BOLTS:</a:t>
            </a:r>
            <a:r>
              <a:rPr b="0"/>
              <a:t xml:space="preserve"> See Detail 3 — 3/4" Ø Simpson Strong-Bolt 2 or equal. Embedment [8"] minimum. Edge distance and spacing per ACI 318-19 Ch. 17.</a:t>
            </a:r>
          </a:p>
        </p:txBody>
      </p:sp>
      <p:sp>
        <p:nvSpPr>
          <p:cNvPr id="588" name="Text 23"/>
          <p:cNvSpPr txBox="1"/>
          <p:nvPr/>
        </p:nvSpPr>
        <p:spPr>
          <a:xfrm>
            <a:off x="10772546" y="5727394"/>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SLAB EDGES:</a:t>
            </a:r>
            <a:r>
              <a:rPr b="0"/>
              <a:t xml:space="preserve"> Chamfer 3/4" at all exposed top edges.</a:t>
            </a:r>
          </a:p>
        </p:txBody>
      </p:sp>
      <p:sp>
        <p:nvSpPr>
          <p:cNvPr id="589" name="Text 24"/>
          <p:cNvSpPr txBox="1"/>
          <p:nvPr/>
        </p:nvSpPr>
        <p:spPr>
          <a:xfrm>
            <a:off x="10772546" y="5860896"/>
            <a:ext cx="58485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CONDUIT PENETRATIONS:</a:t>
            </a:r>
            <a:r>
              <a:rPr b="0"/>
              <a:t xml:space="preserve"> Install sleeves prior to pour. Seal annular space with non-shrink grout after wire-pull.</a:t>
            </a:r>
          </a:p>
        </p:txBody>
      </p:sp>
      <p:sp>
        <p:nvSpPr>
          <p:cNvPr id="590" name="Text 25"/>
          <p:cNvSpPr txBox="1"/>
          <p:nvPr/>
        </p:nvSpPr>
        <p:spPr>
          <a:xfrm>
            <a:off x="10772546" y="5994399"/>
            <a:ext cx="54297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WORKING CLEARANCE:</a:t>
            </a:r>
            <a:r>
              <a:rPr b="0"/>
              <a:t xml:space="preserve"> Provide minimum [3'-0"] working space in front of all gear per NEC 110.26.</a:t>
            </a:r>
          </a:p>
        </p:txBody>
      </p:sp>
      <p:sp>
        <p:nvSpPr>
          <p:cNvPr id="591" name="Text 26"/>
          <p:cNvSpPr txBox="1"/>
          <p:nvPr/>
        </p:nvSpPr>
        <p:spPr>
          <a:xfrm>
            <a:off x="10772546" y="6127901"/>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DRAINAGE:</a:t>
            </a:r>
            <a:r>
              <a:rPr b="0"/>
              <a:t xml:space="preserve"> Slope pad [1/4"/ft] minimum away from equipment.</a:t>
            </a:r>
          </a:p>
        </p:txBody>
      </p:sp>
      <p:sp>
        <p:nvSpPr>
          <p:cNvPr id="592" name="Text 27"/>
          <p:cNvSpPr txBox="1"/>
          <p:nvPr/>
        </p:nvSpPr>
        <p:spPr>
          <a:xfrm>
            <a:off x="10772546" y="6261405"/>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CONTROL JOINTS:</a:t>
            </a:r>
            <a:r>
              <a:rPr b="0"/>
              <a:t xml:space="preserve"> Saw-cut control joints at [10'-0"] o.c. max., depth = 1/4 slab thickness.</a:t>
            </a:r>
          </a:p>
        </p:txBody>
      </p:sp>
      <p:sp>
        <p:nvSpPr>
          <p:cNvPr id="593" name="Text 28"/>
          <p:cNvSpPr txBox="1"/>
          <p:nvPr/>
        </p:nvSpPr>
        <p:spPr>
          <a:xfrm>
            <a:off x="10772546" y="6394906"/>
            <a:ext cx="56583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FINISH:</a:t>
            </a:r>
            <a:r>
              <a:rPr b="0"/>
              <a:t xml:space="preserve"> Hard-troweled smooth finish under equipment; broom finish elsewhere for non-slip walkway.</a:t>
            </a:r>
          </a:p>
        </p:txBody>
      </p:sp>
      <p:sp>
        <p:nvSpPr>
          <p:cNvPr id="594" name="Text 29"/>
          <p:cNvSpPr txBox="1"/>
          <p:nvPr/>
        </p:nvSpPr>
        <p:spPr>
          <a:xfrm>
            <a:off x="10772546" y="6527494"/>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CURING:</a:t>
            </a:r>
            <a:r>
              <a:rPr b="0"/>
              <a:t xml:space="preserve"> Wet-cure 7 days minimum, or membrane-cure per ACI 308.</a:t>
            </a:r>
          </a:p>
        </p:txBody>
      </p:sp>
      <p:sp>
        <p:nvSpPr>
          <p:cNvPr id="595" name="Text 30"/>
          <p:cNvSpPr txBox="1"/>
          <p:nvPr/>
        </p:nvSpPr>
        <p:spPr>
          <a:xfrm>
            <a:off x="10772546" y="6678610"/>
            <a:ext cx="5162703" cy="2252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EQUIPMENT GROUTING:</a:t>
            </a:r>
            <a:r>
              <a:rPr b="0"/>
              <a:t xml:space="preserve"> Where equipment requires grouted base, use non-shrink, non-metallic grout to fill any voids between base and pad.</a:t>
            </a:r>
          </a:p>
        </p:txBody>
      </p:sp>
      <p:sp>
        <p:nvSpPr>
          <p:cNvPr id="596" name="Text 31"/>
          <p:cNvSpPr txBox="1"/>
          <p:nvPr/>
        </p:nvSpPr>
        <p:spPr>
          <a:xfrm>
            <a:off x="10772546" y="6945615"/>
            <a:ext cx="5162703"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BACKFILL:</a:t>
            </a:r>
            <a:r>
              <a:rPr b="0"/>
              <a:t xml:space="preserve"> All trenches around pad shall be backfilled with compacted [native / sand], in 8" lifts, to grade after rough installation. Verify with geotech where applicable.</a:t>
            </a:r>
          </a:p>
        </p:txBody>
      </p:sp>
      <p:sp>
        <p:nvSpPr>
          <p:cNvPr id="597" name="Text 32"/>
          <p:cNvSpPr txBox="1"/>
          <p:nvPr/>
        </p:nvSpPr>
        <p:spPr>
          <a:xfrm>
            <a:off x="10772546" y="7195007"/>
            <a:ext cx="5162703"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800">
                <a:latin typeface="Arial"/>
                <a:ea typeface="Arial"/>
                <a:cs typeface="Arial"/>
                <a:sym typeface="Arial"/>
              </a:defRPr>
            </a:pPr>
            <a:r>
              <a:t>SPECIAL INSPECTION:</a:t>
            </a:r>
            <a:r>
              <a:rPr b="0"/>
              <a:t xml:space="preserve"> Per IBC Ch. 17 for concrete and post-installed anchors.</a:t>
            </a:r>
          </a:p>
        </p:txBody>
      </p:sp>
      <p:sp>
        <p:nvSpPr>
          <p:cNvPr id="598" name="Shape 33"/>
          <p:cNvSpPr/>
          <p:nvPr/>
        </p:nvSpPr>
        <p:spPr>
          <a:xfrm>
            <a:off x="342899" y="11190478"/>
            <a:ext cx="9905697" cy="12701"/>
          </a:xfrm>
          <a:prstGeom prst="rect">
            <a:avLst/>
          </a:prstGeom>
          <a:solidFill>
            <a:srgbClr val="111111"/>
          </a:solidFill>
          <a:ln w="12700">
            <a:solidFill>
              <a:srgbClr val="111111">
                <a:alpha val="0"/>
              </a:srgbClr>
            </a:solidFill>
          </a:ln>
        </p:spPr>
        <p:txBody>
          <a:bodyPr lIns="45719" rIns="45719"/>
          <a:lstStyle/>
          <a:p>
            <a:pPr/>
          </a:p>
        </p:txBody>
      </p:sp>
      <p:grpSp>
        <p:nvGrpSpPr>
          <p:cNvPr id="601" name="Text 34"/>
          <p:cNvGrpSpPr/>
          <p:nvPr/>
        </p:nvGrpSpPr>
        <p:grpSpPr>
          <a:xfrm>
            <a:off x="342899" y="11214861"/>
            <a:ext cx="9906612" cy="140157"/>
            <a:chOff x="0" y="0"/>
            <a:chExt cx="9906610" cy="140156"/>
          </a:xfrm>
        </p:grpSpPr>
        <p:sp>
          <p:nvSpPr>
            <p:cNvPr id="599" name="Rectangle"/>
            <p:cNvSpPr/>
            <p:nvPr/>
          </p:nvSpPr>
          <p:spPr>
            <a:xfrm>
              <a:off x="0" y="24943"/>
              <a:ext cx="9906611"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00" name="GEAR PAD DETAILS · SEE STRUCTURAL CALCULATIONS BY EOR"/>
            <p:cNvSpPr txBox="1"/>
            <p:nvPr/>
          </p:nvSpPr>
          <p:spPr>
            <a:xfrm>
              <a:off x="42862" y="-1"/>
              <a:ext cx="98208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GEAR PAD DETAILS · SEE STRUCTURAL CALCULATIONS BY EOR</a:t>
              </a:r>
            </a:p>
          </p:txBody>
        </p:sp>
      </p:grpSp>
      <p:sp>
        <p:nvSpPr>
          <p:cNvPr id="602" name="Shape 35"/>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603" name="Shape 36"/>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628" name="ClearSky Logo"/>
          <p:cNvPicPr/>
          <p:nvPr/>
        </p:nvPicPr>
        <p:blipFill>
          <a:blip r:embed="rId5" cstate="print"/>
          <a:stretch>
            <a:fillRect/>
          </a:stretch>
        </p:blipFill>
        <p:spPr>
          <a:xfrm>
            <a:off x="16822342" y="673813"/>
            <a:ext cx="574909" cy="481174"/>
          </a:xfrm>
          <a:prstGeom prst="rect">
            <a:avLst/>
          </a:prstGeom>
        </p:spPr>
      </p:pic>
      <p:pic>
        <p:nvPicPr>
          <p:cNvPr id="629" name="ClearSky Logo"/>
          <p:cNvPicPr/>
          <p:nvPr/>
        </p:nvPicPr>
        <p:blipFill>
          <a:blip r:embed="rId5" cstate="print"/>
          <a:stretch>
            <a:fillRect/>
          </a:stretch>
        </p:blipFill>
        <p:spPr>
          <a:xfrm>
            <a:off x="16975670" y="1101684"/>
            <a:ext cx="269163" cy="225278"/>
          </a:xfrm>
          <a:prstGeom prst="rect">
            <a:avLst/>
          </a:prstGeom>
        </p:spPr>
      </p:pic>
      <p:sp>
        <p:nvSpPr>
          <p:cNvPr id="606" name="Text 39"/>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607" name="Shape 40"/>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608" name="Shape 41"/>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609" name="Text 42"/>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610" name="Text 43"/>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611" name="Text 44"/>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612" name="Text 45"/>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613" name="Shape 46"/>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614" name="Shape 47"/>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615" name="Table 0"/>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16" name="Shape 48"/>
          <p:cNvSpPr/>
          <p:nvPr/>
        </p:nvSpPr>
        <p:spPr>
          <a:xfrm>
            <a:off x="16154705" y="9372600"/>
            <a:ext cx="1904696" cy="1000353"/>
          </a:xfrm>
          <a:prstGeom prst="rect">
            <a:avLst/>
          </a:prstGeom>
          <a:solidFill>
            <a:srgbClr val="FFFFFF"/>
          </a:solidFill>
          <a:ln w="12700">
            <a:miter lim="400000"/>
          </a:ln>
        </p:spPr>
        <p:txBody>
          <a:bodyPr lIns="45719" rIns="45719"/>
          <a:lstStyle/>
          <a:p>
            <a:pPr/>
          </a:p>
        </p:txBody>
      </p:sp>
      <p:sp>
        <p:nvSpPr>
          <p:cNvPr id="617" name="Shape 49"/>
          <p:cNvSpPr/>
          <p:nvPr/>
        </p:nvSpPr>
        <p:spPr>
          <a:xfrm>
            <a:off x="16154705" y="10362031"/>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620" name="Text 50"/>
          <p:cNvGrpSpPr/>
          <p:nvPr/>
        </p:nvGrpSpPr>
        <p:grpSpPr>
          <a:xfrm>
            <a:off x="16154705" y="9372599"/>
            <a:ext cx="1905611" cy="857709"/>
            <a:chOff x="0" y="0"/>
            <a:chExt cx="1905610" cy="857707"/>
          </a:xfrm>
        </p:grpSpPr>
        <p:sp>
          <p:nvSpPr>
            <p:cNvPr id="618" name="Rectangle"/>
            <p:cNvSpPr/>
            <p:nvPr/>
          </p:nvSpPr>
          <p:spPr>
            <a:xfrm>
              <a:off x="-1" y="-1"/>
              <a:ext cx="1905612" cy="857709"/>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3700"/>
              </a:pPr>
            </a:p>
          </p:txBody>
        </p:sp>
        <p:sp>
          <p:nvSpPr>
            <p:cNvPr id="619" name="S1.2"/>
            <p:cNvSpPr txBox="1"/>
            <p:nvPr/>
          </p:nvSpPr>
          <p:spPr>
            <a:xfrm>
              <a:off x="144462" y="239689"/>
              <a:ext cx="1616686" cy="51802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4" sz="3700">
                  <a:latin typeface="Arial"/>
                  <a:ea typeface="Arial"/>
                  <a:cs typeface="Arial"/>
                  <a:sym typeface="Arial"/>
                </a:defRPr>
              </a:lvl1pPr>
            </a:lstStyle>
            <a:p>
              <a:pPr/>
              <a:r>
                <a:t>S1.2</a:t>
              </a:r>
            </a:p>
          </p:txBody>
        </p:sp>
      </p:grpSp>
      <p:sp>
        <p:nvSpPr>
          <p:cNvPr id="621" name="Shape 51"/>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622" name="Shape 52"/>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625" name="Text 53"/>
          <p:cNvGrpSpPr/>
          <p:nvPr/>
        </p:nvGrpSpPr>
        <p:grpSpPr>
          <a:xfrm>
            <a:off x="16154705" y="10230307"/>
            <a:ext cx="1905611" cy="286208"/>
            <a:chOff x="0" y="0"/>
            <a:chExt cx="1905610" cy="286206"/>
          </a:xfrm>
        </p:grpSpPr>
        <p:sp>
          <p:nvSpPr>
            <p:cNvPr id="623"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624" name="GEAR PAD DETAILS"/>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GEAR PAD DETAILS</a:t>
              </a:r>
            </a:p>
          </p:txBody>
        </p:sp>
      </p:grpSp>
      <p:sp>
        <p:nvSpPr>
          <p:cNvPr id="626" name="Shape 54"/>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627" name="Table 1"/>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9"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630"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631"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632"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pic>
        <p:nvPicPr>
          <p:cNvPr id="633" name="Image 0" descr="Image 0"/>
          <p:cNvPicPr>
            <a:picLocks noChangeAspect="1"/>
          </p:cNvPicPr>
          <p:nvPr/>
        </p:nvPicPr>
        <p:blipFill>
          <a:blip r:embed="rId2">
            <a:extLst/>
          </a:blip>
          <a:stretch>
            <a:fillRect/>
          </a:stretch>
        </p:blipFill>
        <p:spPr>
          <a:xfrm>
            <a:off x="342900" y="346475"/>
            <a:ext cx="7830008" cy="4965357"/>
          </a:xfrm>
          <a:prstGeom prst="rect">
            <a:avLst/>
          </a:prstGeom>
          <a:ln w="12700">
            <a:miter lim="400000"/>
          </a:ln>
        </p:spPr>
      </p:pic>
      <p:pic>
        <p:nvPicPr>
          <p:cNvPr id="634" name="Image 1" descr="Image 1"/>
          <p:cNvPicPr>
            <a:picLocks noChangeAspect="1"/>
          </p:cNvPicPr>
          <p:nvPr/>
        </p:nvPicPr>
        <p:blipFill>
          <a:blip r:embed="rId3">
            <a:extLst/>
          </a:blip>
          <a:stretch>
            <a:fillRect/>
          </a:stretch>
        </p:blipFill>
        <p:spPr>
          <a:xfrm>
            <a:off x="342900" y="5717780"/>
            <a:ext cx="7830008" cy="5347338"/>
          </a:xfrm>
          <a:prstGeom prst="rect">
            <a:avLst/>
          </a:prstGeom>
          <a:ln w="12700">
            <a:miter lim="400000"/>
          </a:ln>
        </p:spPr>
      </p:pic>
      <p:sp>
        <p:nvSpPr>
          <p:cNvPr id="635" name="Shape 4"/>
          <p:cNvSpPr/>
          <p:nvPr/>
        </p:nvSpPr>
        <p:spPr>
          <a:xfrm>
            <a:off x="342900" y="5351119"/>
            <a:ext cx="7810804" cy="12701"/>
          </a:xfrm>
          <a:prstGeom prst="rect">
            <a:avLst/>
          </a:prstGeom>
          <a:solidFill>
            <a:srgbClr val="111111"/>
          </a:solidFill>
          <a:ln w="12700">
            <a:solidFill>
              <a:srgbClr val="111111">
                <a:alpha val="0"/>
              </a:srgbClr>
            </a:solidFill>
          </a:ln>
        </p:spPr>
        <p:txBody>
          <a:bodyPr lIns="45719" rIns="45719"/>
          <a:lstStyle/>
          <a:p>
            <a:pPr/>
          </a:p>
        </p:txBody>
      </p:sp>
      <p:grpSp>
        <p:nvGrpSpPr>
          <p:cNvPr id="638" name="Text 5"/>
          <p:cNvGrpSpPr/>
          <p:nvPr/>
        </p:nvGrpSpPr>
        <p:grpSpPr>
          <a:xfrm>
            <a:off x="638251" y="5390388"/>
            <a:ext cx="7515453" cy="229515"/>
            <a:chOff x="0" y="0"/>
            <a:chExt cx="7515452" cy="229513"/>
          </a:xfrm>
        </p:grpSpPr>
        <p:sp>
          <p:nvSpPr>
            <p:cNvPr id="636" name="Rectangle"/>
            <p:cNvSpPr/>
            <p:nvPr/>
          </p:nvSpPr>
          <p:spPr>
            <a:xfrm>
              <a:off x="0" y="0"/>
              <a:ext cx="7515453"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637" name="GROUNDING ELECTRODE DETAIL · NOT TO SCALE"/>
            <p:cNvSpPr txBox="1"/>
            <p:nvPr/>
          </p:nvSpPr>
          <p:spPr>
            <a:xfrm>
              <a:off x="30162" y="38556"/>
              <a:ext cx="745512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GROUNDING ELECTRODE DETAIL · NOT TO SCALE</a:t>
              </a:r>
            </a:p>
          </p:txBody>
        </p:sp>
      </p:grpSp>
      <p:sp>
        <p:nvSpPr>
          <p:cNvPr id="639" name="Shape 6"/>
          <p:cNvSpPr/>
          <p:nvPr/>
        </p:nvSpPr>
        <p:spPr>
          <a:xfrm>
            <a:off x="342900" y="5391301"/>
            <a:ext cx="209398" cy="209399"/>
          </a:xfrm>
          <a:prstGeom prst="ellipse">
            <a:avLst/>
          </a:prstGeom>
          <a:ln w="12700">
            <a:solidFill>
              <a:srgbClr val="111111"/>
            </a:solidFill>
          </a:ln>
        </p:spPr>
        <p:txBody>
          <a:bodyPr lIns="45719" rIns="45719"/>
          <a:lstStyle/>
          <a:p>
            <a:pPr/>
          </a:p>
        </p:txBody>
      </p:sp>
      <p:grpSp>
        <p:nvGrpSpPr>
          <p:cNvPr id="642" name="Text 7"/>
          <p:cNvGrpSpPr/>
          <p:nvPr/>
        </p:nvGrpSpPr>
        <p:grpSpPr>
          <a:xfrm>
            <a:off x="342900" y="5391301"/>
            <a:ext cx="210312" cy="210313"/>
            <a:chOff x="0" y="0"/>
            <a:chExt cx="210311" cy="210311"/>
          </a:xfrm>
        </p:grpSpPr>
        <p:sp>
          <p:nvSpPr>
            <p:cNvPr id="640"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41" name="1"/>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a:t>
              </a:r>
            </a:p>
          </p:txBody>
        </p:sp>
      </p:grpSp>
      <p:sp>
        <p:nvSpPr>
          <p:cNvPr id="643" name="Shape 8"/>
          <p:cNvSpPr/>
          <p:nvPr/>
        </p:nvSpPr>
        <p:spPr>
          <a:xfrm>
            <a:off x="342900" y="11104523"/>
            <a:ext cx="7810804" cy="12701"/>
          </a:xfrm>
          <a:prstGeom prst="rect">
            <a:avLst/>
          </a:prstGeom>
          <a:solidFill>
            <a:srgbClr val="111111"/>
          </a:solidFill>
          <a:ln w="12700">
            <a:solidFill>
              <a:srgbClr val="111111">
                <a:alpha val="0"/>
              </a:srgbClr>
            </a:solidFill>
          </a:ln>
        </p:spPr>
        <p:txBody>
          <a:bodyPr lIns="45719" rIns="45719"/>
          <a:lstStyle/>
          <a:p>
            <a:pPr/>
          </a:p>
        </p:txBody>
      </p:sp>
      <p:grpSp>
        <p:nvGrpSpPr>
          <p:cNvPr id="646" name="Text 9"/>
          <p:cNvGrpSpPr/>
          <p:nvPr/>
        </p:nvGrpSpPr>
        <p:grpSpPr>
          <a:xfrm>
            <a:off x="638251" y="11143792"/>
            <a:ext cx="7515453" cy="229515"/>
            <a:chOff x="0" y="0"/>
            <a:chExt cx="7515452" cy="229513"/>
          </a:xfrm>
        </p:grpSpPr>
        <p:sp>
          <p:nvSpPr>
            <p:cNvPr id="644" name="Rectangle"/>
            <p:cNvSpPr/>
            <p:nvPr/>
          </p:nvSpPr>
          <p:spPr>
            <a:xfrm>
              <a:off x="0" y="0"/>
              <a:ext cx="7515453"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645" name="DIAGRAM OF GROUNDING POINTS · NOT TO SCALE"/>
            <p:cNvSpPr txBox="1"/>
            <p:nvPr/>
          </p:nvSpPr>
          <p:spPr>
            <a:xfrm>
              <a:off x="30162" y="38556"/>
              <a:ext cx="745512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DIAGRAM OF GROUNDING POINTS · NOT TO SCALE</a:t>
              </a:r>
            </a:p>
          </p:txBody>
        </p:sp>
      </p:grpSp>
      <p:sp>
        <p:nvSpPr>
          <p:cNvPr id="647" name="Shape 10"/>
          <p:cNvSpPr/>
          <p:nvPr/>
        </p:nvSpPr>
        <p:spPr>
          <a:xfrm>
            <a:off x="342900" y="11144707"/>
            <a:ext cx="209398" cy="209399"/>
          </a:xfrm>
          <a:prstGeom prst="ellipse">
            <a:avLst/>
          </a:prstGeom>
          <a:ln w="12700">
            <a:solidFill>
              <a:srgbClr val="111111"/>
            </a:solidFill>
          </a:ln>
        </p:spPr>
        <p:txBody>
          <a:bodyPr lIns="45719" rIns="45719"/>
          <a:lstStyle/>
          <a:p>
            <a:pPr/>
          </a:p>
        </p:txBody>
      </p:sp>
      <p:grpSp>
        <p:nvGrpSpPr>
          <p:cNvPr id="650" name="Text 11"/>
          <p:cNvGrpSpPr/>
          <p:nvPr/>
        </p:nvGrpSpPr>
        <p:grpSpPr>
          <a:xfrm>
            <a:off x="342900" y="11144707"/>
            <a:ext cx="210312" cy="210313"/>
            <a:chOff x="0" y="0"/>
            <a:chExt cx="210311" cy="210311"/>
          </a:xfrm>
        </p:grpSpPr>
        <p:sp>
          <p:nvSpPr>
            <p:cNvPr id="648"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49" name="2"/>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2</a:t>
              </a:r>
            </a:p>
          </p:txBody>
        </p:sp>
      </p:grpSp>
      <p:sp>
        <p:nvSpPr>
          <p:cNvPr id="651" name="Shape 12"/>
          <p:cNvSpPr/>
          <p:nvPr/>
        </p:nvSpPr>
        <p:spPr>
          <a:xfrm>
            <a:off x="8382304" y="342900"/>
            <a:ext cx="7715708" cy="4591202"/>
          </a:xfrm>
          <a:prstGeom prst="rect">
            <a:avLst/>
          </a:prstGeom>
          <a:solidFill>
            <a:srgbClr val="FFFFFF"/>
          </a:solidFill>
          <a:ln w="12700">
            <a:solidFill>
              <a:srgbClr val="111111"/>
            </a:solidFill>
          </a:ln>
        </p:spPr>
        <p:txBody>
          <a:bodyPr lIns="45719" rIns="45719"/>
          <a:lstStyle/>
          <a:p>
            <a:pPr/>
          </a:p>
        </p:txBody>
      </p:sp>
      <p:sp>
        <p:nvSpPr>
          <p:cNvPr id="652" name="Text 13"/>
          <p:cNvSpPr txBox="1"/>
          <p:nvPr/>
        </p:nvSpPr>
        <p:spPr>
          <a:xfrm>
            <a:off x="8524950" y="460908"/>
            <a:ext cx="74295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GROUNDING NOTES</a:t>
            </a:r>
          </a:p>
        </p:txBody>
      </p:sp>
      <p:sp>
        <p:nvSpPr>
          <p:cNvPr id="653" name="Text 14"/>
          <p:cNvSpPr txBox="1"/>
          <p:nvPr/>
        </p:nvSpPr>
        <p:spPr>
          <a:xfrm>
            <a:off x="8695943" y="660247"/>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SIZE OF CONDUCTORS SHALL COMPLY WITH NEC 250.66 AND 250.122.</a:t>
            </a:r>
          </a:p>
        </p:txBody>
      </p:sp>
      <p:sp>
        <p:nvSpPr>
          <p:cNvPr id="654" name="Text 15"/>
          <p:cNvSpPr txBox="1"/>
          <p:nvPr/>
        </p:nvSpPr>
        <p:spPr>
          <a:xfrm>
            <a:off x="8695943" y="812038"/>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BOND TO SEPARATE CONDUCTORS FROM INVERTER TO METAL BUILDING FRAME IF POSSIBLE (NEC 250.92).</a:t>
            </a:r>
          </a:p>
        </p:txBody>
      </p:sp>
      <p:sp>
        <p:nvSpPr>
          <p:cNvPr id="655" name="Text 16"/>
          <p:cNvSpPr txBox="1"/>
          <p:nvPr/>
        </p:nvSpPr>
        <p:spPr>
          <a:xfrm>
            <a:off x="8695943" y="963828"/>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GROUND TO METAL WATER PIPE EMBEDDED AT LEAST 10'-0" INTO THE SOIL, IF AVAILABLE (NEC 250.52).</a:t>
            </a:r>
          </a:p>
        </p:txBody>
      </p:sp>
      <p:sp>
        <p:nvSpPr>
          <p:cNvPr id="656" name="Text 17"/>
          <p:cNvSpPr txBox="1"/>
          <p:nvPr/>
        </p:nvSpPr>
        <p:spPr>
          <a:xfrm>
            <a:off x="8695943" y="1161577"/>
            <a:ext cx="7258508" cy="3395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CHECK RESISTANCE TO GROUND. IF RESISTANCE EXCEEDS 25 OHMS, INSTALL ADDITIONAL GROUND RODS WITH CONDUCTORS AS SHOWN, SEPARATED AT LEAST 6'-0" UNTIL RESISTANCE IS REDUCED TO 25 OHMS OR LESS (NEC 250.52). PROVIDE 3RD-PARTY GROUND RESISTANCE TEST REPORT.</a:t>
            </a:r>
          </a:p>
        </p:txBody>
      </p:sp>
      <p:sp>
        <p:nvSpPr>
          <p:cNvPr id="657" name="Text 18"/>
          <p:cNvSpPr txBox="1"/>
          <p:nvPr/>
        </p:nvSpPr>
        <p:spPr>
          <a:xfrm>
            <a:off x="8695943" y="1571904"/>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PROVIDE GAS AND WATER BOND IF APPLICABLE.</a:t>
            </a:r>
          </a:p>
        </p:txBody>
      </p:sp>
      <p:sp>
        <p:nvSpPr>
          <p:cNvPr id="658" name="Text 19"/>
          <p:cNvSpPr txBox="1"/>
          <p:nvPr/>
        </p:nvSpPr>
        <p:spPr>
          <a:xfrm>
            <a:off x="8695943" y="1723694"/>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GROUNDING CONNECTIONS BELOW GRADE TO BE EXOTHERMIC WELDED (CADWELD OR EQUAL).</a:t>
            </a:r>
          </a:p>
        </p:txBody>
      </p:sp>
      <p:sp>
        <p:nvSpPr>
          <p:cNvPr id="659" name="Text 20"/>
          <p:cNvSpPr txBox="1"/>
          <p:nvPr/>
        </p:nvSpPr>
        <p:spPr>
          <a:xfrm>
            <a:off x="8695943" y="1875485"/>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ABOVE-GRADE LUG CONNECTIONS TO BE LISTED MECHANICAL CONNECTORS, NEMA-RATED FOR APPLICATION.</a:t>
            </a:r>
          </a:p>
        </p:txBody>
      </p:sp>
      <p:sp>
        <p:nvSpPr>
          <p:cNvPr id="660" name="Text 21"/>
          <p:cNvSpPr txBox="1"/>
          <p:nvPr/>
        </p:nvSpPr>
        <p:spPr>
          <a:xfrm>
            <a:off x="8695943" y="2027275"/>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EQUIPMENT GROUNDING CONDUCTOR (EGC) SHALL BE INSTALLED IN ALL RACEWAYS PER NEC 250.118 AND SIZED PER TABLE 250.122.</a:t>
            </a:r>
          </a:p>
        </p:txBody>
      </p:sp>
      <p:sp>
        <p:nvSpPr>
          <p:cNvPr id="661" name="Text 22"/>
          <p:cNvSpPr txBox="1"/>
          <p:nvPr/>
        </p:nvSpPr>
        <p:spPr>
          <a:xfrm>
            <a:off x="8695943" y="2179980"/>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GROUNDING ELECTRODE SYSTEM SHALL BE BONDED PER NEC 250.50 AND 250.53.</a:t>
            </a:r>
          </a:p>
        </p:txBody>
      </p:sp>
      <p:sp>
        <p:nvSpPr>
          <p:cNvPr id="662" name="Text 23"/>
          <p:cNvSpPr txBox="1"/>
          <p:nvPr/>
        </p:nvSpPr>
        <p:spPr>
          <a:xfrm>
            <a:off x="8695943" y="2331770"/>
            <a:ext cx="7258508"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EQUIPMENT METAL ENCLOSURES, CONDUITS, AND CABLE TRAYS SHALL BE BONDED.</a:t>
            </a:r>
          </a:p>
        </p:txBody>
      </p:sp>
      <p:sp>
        <p:nvSpPr>
          <p:cNvPr id="663" name="Shape 24"/>
          <p:cNvSpPr/>
          <p:nvPr/>
        </p:nvSpPr>
        <p:spPr>
          <a:xfrm>
            <a:off x="8382304" y="4953305"/>
            <a:ext cx="7448703" cy="3829507"/>
          </a:xfrm>
          <a:prstGeom prst="rect">
            <a:avLst/>
          </a:prstGeom>
          <a:solidFill>
            <a:srgbClr val="FFFFFF"/>
          </a:solidFill>
          <a:ln w="12700">
            <a:solidFill>
              <a:srgbClr val="111111"/>
            </a:solidFill>
          </a:ln>
        </p:spPr>
        <p:txBody>
          <a:bodyPr lIns="45719" rIns="45719"/>
          <a:lstStyle/>
          <a:p>
            <a:pPr/>
          </a:p>
        </p:txBody>
      </p:sp>
      <p:sp>
        <p:nvSpPr>
          <p:cNvPr id="664" name="Shape 25"/>
          <p:cNvSpPr/>
          <p:nvPr/>
        </p:nvSpPr>
        <p:spPr>
          <a:xfrm>
            <a:off x="8391449" y="4962449"/>
            <a:ext cx="7429501" cy="209399"/>
          </a:xfrm>
          <a:prstGeom prst="rect">
            <a:avLst/>
          </a:prstGeom>
          <a:solidFill>
            <a:srgbClr val="E9E9E9"/>
          </a:solidFill>
          <a:ln w="12700">
            <a:miter lim="400000"/>
          </a:ln>
        </p:spPr>
        <p:txBody>
          <a:bodyPr lIns="45719" rIns="45719"/>
          <a:lstStyle/>
          <a:p>
            <a:pPr/>
          </a:p>
        </p:txBody>
      </p:sp>
      <p:sp>
        <p:nvSpPr>
          <p:cNvPr id="665" name="Shape 26"/>
          <p:cNvSpPr/>
          <p:nvPr/>
        </p:nvSpPr>
        <p:spPr>
          <a:xfrm>
            <a:off x="8391449" y="5160923"/>
            <a:ext cx="7429501" cy="12701"/>
          </a:xfrm>
          <a:prstGeom prst="rect">
            <a:avLst/>
          </a:prstGeom>
          <a:solidFill>
            <a:srgbClr val="111111"/>
          </a:solidFill>
          <a:ln w="12700">
            <a:solidFill>
              <a:srgbClr val="111111">
                <a:alpha val="0"/>
              </a:srgbClr>
            </a:solidFill>
          </a:ln>
        </p:spPr>
        <p:txBody>
          <a:bodyPr lIns="45719" rIns="45719"/>
          <a:lstStyle/>
          <a:p>
            <a:pPr/>
          </a:p>
        </p:txBody>
      </p:sp>
      <p:grpSp>
        <p:nvGrpSpPr>
          <p:cNvPr id="668" name="Text 27"/>
          <p:cNvGrpSpPr/>
          <p:nvPr/>
        </p:nvGrpSpPr>
        <p:grpSpPr>
          <a:xfrm>
            <a:off x="8391449" y="4962449"/>
            <a:ext cx="7429501" cy="165710"/>
            <a:chOff x="0" y="0"/>
            <a:chExt cx="7429500" cy="165709"/>
          </a:xfrm>
        </p:grpSpPr>
        <p:sp>
          <p:nvSpPr>
            <p:cNvPr id="666" name="Rectangle"/>
            <p:cNvSpPr/>
            <p:nvPr/>
          </p:nvSpPr>
          <p:spPr>
            <a:xfrm>
              <a:off x="0" y="0"/>
              <a:ext cx="7429500"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67" name="GROUNDING CONDUCTOR SCHEDULE"/>
            <p:cNvSpPr txBox="1"/>
            <p:nvPr/>
          </p:nvSpPr>
          <p:spPr>
            <a:xfrm>
              <a:off x="55562" y="38709"/>
              <a:ext cx="73183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GROUNDING CONDUCTOR SCHEDULE</a:t>
              </a:r>
            </a:p>
          </p:txBody>
        </p:sp>
      </p:grpSp>
      <p:graphicFrame>
        <p:nvGraphicFramePr>
          <p:cNvPr id="669" name="Table 0"/>
          <p:cNvGraphicFramePr/>
          <p:nvPr/>
        </p:nvGraphicFramePr>
        <p:xfrm>
          <a:off x="8391449" y="5171845"/>
          <a:ext cx="7420356" cy="1400865"/>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2616098"/>
                <a:gridCol w="1545336"/>
                <a:gridCol w="1279246"/>
                <a:gridCol w="1001267"/>
                <a:gridCol w="978408"/>
              </a:tblGrid>
              <a:tr h="175108">
                <a:tc>
                  <a:txBody>
                    <a:bodyPr/>
                    <a:lstStyle/>
                    <a:p>
                      <a:pPr algn="ctr">
                        <a:defRPr sz="1800"/>
                      </a:pPr>
                      <a:r>
                        <a:rPr b="1" sz="700">
                          <a:latin typeface="Arial"/>
                          <a:ea typeface="Arial"/>
                          <a:cs typeface="Arial"/>
                          <a:sym typeface="Arial"/>
                        </a:rPr>
                        <a:t>CIRCUIT / EQUIPMENT</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PHASE COND. SIZE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EGC / GEC SIZE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MATERIAL</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NEC TABLE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5108">
                <a:tc>
                  <a:txBody>
                    <a:bodyPr/>
                    <a:lstStyle/>
                    <a:p>
                      <a:pPr algn="l">
                        <a:defRPr sz="1800"/>
                      </a:pPr>
                      <a:r>
                        <a:rPr sz="700">
                          <a:latin typeface="Arial"/>
                          <a:ea typeface="Arial"/>
                          <a:cs typeface="Arial"/>
                          <a:sym typeface="Arial"/>
                        </a:rPr>
                        <a:t>XFMR SECONDARY → GES</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250.66</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SVC PNL → GEC TO GROUND ROD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#6 AWG Cu min.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250.66(A)</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INVERTER → AC DISCO</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250.122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BESS CABINET BOND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{{WIRE_AWG}}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250.118</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FENCE BONDING JUMPER (TYP)</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#6 AWG Cu min.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 (Bare)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IEEE 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GROUND ROD (TYP)</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5/8" Ø × 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Cu-clad Steel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250.52(A)(5)</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5108">
                <a:tc>
                  <a:txBody>
                    <a:bodyPr/>
                    <a:lstStyle/>
                    <a:p>
                      <a:pPr algn="l">
                        <a:defRPr sz="1800"/>
                      </a:pPr>
                      <a:r>
                        <a:rPr sz="700">
                          <a:latin typeface="Arial"/>
                          <a:ea typeface="Arial"/>
                          <a:cs typeface="Arial"/>
                          <a:sym typeface="Arial"/>
                        </a:rPr>
                        <a:t>GROUND RING (IF REQ'D)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 AWG Cu min.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Cu (Bare)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250.52(A)(4)</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70" name="Shape 28"/>
          <p:cNvSpPr/>
          <p:nvPr/>
        </p:nvSpPr>
        <p:spPr>
          <a:xfrm>
            <a:off x="8382304" y="8953804"/>
            <a:ext cx="7715708" cy="2352752"/>
          </a:xfrm>
          <a:prstGeom prst="rect">
            <a:avLst/>
          </a:prstGeom>
          <a:solidFill>
            <a:srgbClr val="FFFFFF"/>
          </a:solidFill>
          <a:ln w="12700">
            <a:solidFill>
              <a:srgbClr val="111111"/>
            </a:solidFill>
          </a:ln>
        </p:spPr>
        <p:txBody>
          <a:bodyPr lIns="45719" rIns="45719"/>
          <a:lstStyle/>
          <a:p>
            <a:pPr/>
          </a:p>
        </p:txBody>
      </p:sp>
      <p:sp>
        <p:nvSpPr>
          <p:cNvPr id="671" name="Text 29"/>
          <p:cNvSpPr txBox="1"/>
          <p:nvPr/>
        </p:nvSpPr>
        <p:spPr>
          <a:xfrm>
            <a:off x="8524950" y="9066326"/>
            <a:ext cx="74295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GROUND RESISTANCE TEST RECORD (FIELD)</a:t>
            </a:r>
          </a:p>
        </p:txBody>
      </p:sp>
      <p:graphicFrame>
        <p:nvGraphicFramePr>
          <p:cNvPr id="672" name="Table 1"/>
          <p:cNvGraphicFramePr/>
          <p:nvPr/>
        </p:nvGraphicFramePr>
        <p:xfrm>
          <a:off x="8524950" y="9236354"/>
          <a:ext cx="7421272" cy="81016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848563"/>
                <a:gridCol w="1109167"/>
                <a:gridCol w="1815998"/>
                <a:gridCol w="1192378"/>
                <a:gridCol w="1187806"/>
                <a:gridCol w="626364"/>
                <a:gridCol w="640994"/>
              </a:tblGrid>
              <a:tr h="202540">
                <a:tc>
                  <a:txBody>
                    <a:bodyPr/>
                    <a:lstStyle/>
                    <a:p>
                      <a:pPr algn="ctr">
                        <a:defRPr sz="1800"/>
                      </a:pPr>
                      <a:r>
                        <a:rPr b="1" sz="700">
                          <a:latin typeface="Arial"/>
                          <a:ea typeface="Arial"/>
                          <a:cs typeface="Arial"/>
                          <a:sym typeface="Arial"/>
                        </a:rPr>
                        <a:t>TEST ID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LOCATION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METHOD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RESULT (Ω)</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PASS / FAIL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DATE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TECH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202540">
                <a:tc>
                  <a:txBody>
                    <a:bodyPr/>
                    <a:lstStyle/>
                    <a:p>
                      <a:pPr algn="ctr">
                        <a:defRPr sz="1800"/>
                      </a:pPr>
                      <a:r>
                        <a:rPr sz="700">
                          <a:latin typeface="Arial"/>
                          <a:ea typeface="Arial"/>
                          <a:cs typeface="Arial"/>
                          <a:sym typeface="Arial"/>
                        </a:rPr>
                        <a:t>GR-1</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XFMR Pad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3-Pt Fall of Potential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202540">
                <a:tc>
                  <a:txBody>
                    <a:bodyPr/>
                    <a:lstStyle/>
                    <a:p>
                      <a:pPr algn="ctr">
                        <a:defRPr sz="1800"/>
                      </a:pPr>
                      <a:r>
                        <a:rPr sz="700">
                          <a:latin typeface="Arial"/>
                          <a:ea typeface="Arial"/>
                          <a:cs typeface="Arial"/>
                          <a:sym typeface="Arial"/>
                        </a:rPr>
                        <a:t>GR-2</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BESS Pad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3-Pt Fall of Potential</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202540">
                <a:tc>
                  <a:txBody>
                    <a:bodyPr/>
                    <a:lstStyle/>
                    <a:p>
                      <a:pPr algn="ctr">
                        <a:defRPr sz="1800"/>
                      </a:pPr>
                      <a:r>
                        <a:rPr sz="700">
                          <a:latin typeface="Arial"/>
                          <a:ea typeface="Arial"/>
                          <a:cs typeface="Arial"/>
                          <a:sym typeface="Arial"/>
                        </a:rPr>
                        <a:t>GR-3</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Fence Gate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Clamp-on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 ]</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73" name="Text 30"/>
          <p:cNvSpPr txBox="1"/>
          <p:nvPr/>
        </p:nvSpPr>
        <p:spPr>
          <a:xfrm>
            <a:off x="8524950" y="10097313"/>
            <a:ext cx="74295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800">
                <a:latin typeface="Arial"/>
                <a:ea typeface="Arial"/>
                <a:cs typeface="Arial"/>
                <a:sym typeface="Arial"/>
              </a:defRPr>
            </a:lvl1pPr>
          </a:lstStyle>
          <a:p>
            <a:pPr/>
            <a:r>
              <a:t>Note: All readings must be ≤25 Ω per NEC 250.53(A)(2), or a supplemental electrode must be installed.</a:t>
            </a:r>
          </a:p>
        </p:txBody>
      </p:sp>
      <p:sp>
        <p:nvSpPr>
          <p:cNvPr id="674" name="Shape 31"/>
          <p:cNvSpPr/>
          <p:nvPr/>
        </p:nvSpPr>
        <p:spPr>
          <a:xfrm>
            <a:off x="8382304" y="11190478"/>
            <a:ext cx="7429501" cy="12701"/>
          </a:xfrm>
          <a:prstGeom prst="rect">
            <a:avLst/>
          </a:prstGeom>
          <a:solidFill>
            <a:srgbClr val="111111"/>
          </a:solidFill>
          <a:ln w="12700">
            <a:solidFill>
              <a:srgbClr val="111111">
                <a:alpha val="0"/>
              </a:srgbClr>
            </a:solidFill>
          </a:ln>
        </p:spPr>
        <p:txBody>
          <a:bodyPr lIns="45719" rIns="45719"/>
          <a:lstStyle/>
          <a:p>
            <a:pPr/>
          </a:p>
        </p:txBody>
      </p:sp>
      <p:grpSp>
        <p:nvGrpSpPr>
          <p:cNvPr id="677" name="Text 32"/>
          <p:cNvGrpSpPr/>
          <p:nvPr/>
        </p:nvGrpSpPr>
        <p:grpSpPr>
          <a:xfrm>
            <a:off x="8382304" y="11214861"/>
            <a:ext cx="7429501" cy="140157"/>
            <a:chOff x="0" y="0"/>
            <a:chExt cx="7429500" cy="140156"/>
          </a:xfrm>
        </p:grpSpPr>
        <p:sp>
          <p:nvSpPr>
            <p:cNvPr id="675" name="Rectangle"/>
            <p:cNvSpPr/>
            <p:nvPr/>
          </p:nvSpPr>
          <p:spPr>
            <a:xfrm>
              <a:off x="0" y="24943"/>
              <a:ext cx="7429500" cy="1152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676" name="GROUNDING DETAILS, SCHEDULE &amp; TEST RECORD"/>
            <p:cNvSpPr txBox="1"/>
            <p:nvPr/>
          </p:nvSpPr>
          <p:spPr>
            <a:xfrm>
              <a:off x="42862" y="-1"/>
              <a:ext cx="734377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GROUNDING DETAILS, SCHEDULE &amp; TEST RECORD</a:t>
              </a:r>
            </a:p>
          </p:txBody>
        </p:sp>
      </p:grpSp>
      <p:sp>
        <p:nvSpPr>
          <p:cNvPr id="678" name="Shape 33"/>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679" name="Shape 34"/>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704" name="ClearSky Logo"/>
          <p:cNvPicPr/>
          <p:nvPr/>
        </p:nvPicPr>
        <p:blipFill>
          <a:blip r:embed="rId4" cstate="print"/>
          <a:stretch>
            <a:fillRect/>
          </a:stretch>
        </p:blipFill>
        <p:spPr>
          <a:xfrm>
            <a:off x="16822342" y="673813"/>
            <a:ext cx="574909" cy="481174"/>
          </a:xfrm>
          <a:prstGeom prst="rect">
            <a:avLst/>
          </a:prstGeom>
        </p:spPr>
      </p:pic>
      <p:pic>
        <p:nvPicPr>
          <p:cNvPr id="705" name="ClearSky Logo"/>
          <p:cNvPicPr/>
          <p:nvPr/>
        </p:nvPicPr>
        <p:blipFill>
          <a:blip r:embed="rId4" cstate="print"/>
          <a:stretch>
            <a:fillRect/>
          </a:stretch>
        </p:blipFill>
        <p:spPr>
          <a:xfrm>
            <a:off x="16975670" y="1101684"/>
            <a:ext cx="269163" cy="225278"/>
          </a:xfrm>
          <a:prstGeom prst="rect">
            <a:avLst/>
          </a:prstGeom>
        </p:spPr>
      </p:pic>
      <p:sp>
        <p:nvSpPr>
          <p:cNvPr id="682" name="Text 37"/>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683" name="Shape 38"/>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684" name="Shape 39"/>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685" name="Text 40"/>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686" name="Text 41"/>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687" name="Text 42"/>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688" name="Text 43"/>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689" name="Shape 44"/>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690" name="Shape 45"/>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691" name="Table 2"/>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692" name="Shape 46"/>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693" name="Shape 47"/>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696" name="Text 48"/>
          <p:cNvGrpSpPr/>
          <p:nvPr/>
        </p:nvGrpSpPr>
        <p:grpSpPr>
          <a:xfrm>
            <a:off x="16154705" y="9372599"/>
            <a:ext cx="1905611" cy="858624"/>
            <a:chOff x="0" y="0"/>
            <a:chExt cx="1905610" cy="858622"/>
          </a:xfrm>
        </p:grpSpPr>
        <p:sp>
          <p:nvSpPr>
            <p:cNvPr id="694"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695" name="S2.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S2.0</a:t>
              </a:r>
            </a:p>
          </p:txBody>
        </p:sp>
      </p:grpSp>
      <p:sp>
        <p:nvSpPr>
          <p:cNvPr id="697" name="Shape 49"/>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698" name="Shape 50"/>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701" name="Text 51"/>
          <p:cNvGrpSpPr/>
          <p:nvPr/>
        </p:nvGrpSpPr>
        <p:grpSpPr>
          <a:xfrm>
            <a:off x="16154705" y="10230307"/>
            <a:ext cx="1905611" cy="286208"/>
            <a:chOff x="0" y="0"/>
            <a:chExt cx="1905610" cy="286206"/>
          </a:xfrm>
        </p:grpSpPr>
        <p:sp>
          <p:nvSpPr>
            <p:cNvPr id="699"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700" name="GROUNDING DETAILS"/>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GROUNDING DETAILS</a:t>
              </a:r>
            </a:p>
          </p:txBody>
        </p:sp>
      </p:grpSp>
      <p:sp>
        <p:nvSpPr>
          <p:cNvPr id="702" name="Shape 52"/>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703" name="Table 3"/>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5" name="Shape 0"/>
          <p:cNvSpPr/>
          <p:nvPr/>
        </p:nvSpPr>
        <p:spPr>
          <a:xfrm>
            <a:off x="0" y="-1"/>
            <a:ext cx="18288000" cy="12191697"/>
          </a:xfrm>
          <a:prstGeom prst="rect">
            <a:avLst/>
          </a:prstGeom>
          <a:solidFill>
            <a:srgbClr val="FFFFFF"/>
          </a:solidFill>
          <a:ln w="12700">
            <a:solidFill>
              <a:srgbClr val="FFFFFF">
                <a:alpha val="0"/>
              </a:srgbClr>
            </a:solidFill>
          </a:ln>
        </p:spPr>
        <p:txBody>
          <a:bodyPr lIns="45719" rIns="45719"/>
          <a:lstStyle/>
          <a:p>
            <a:pPr/>
          </a:p>
        </p:txBody>
      </p:sp>
      <p:sp>
        <p:nvSpPr>
          <p:cNvPr id="706" name="Shape 1"/>
          <p:cNvSpPr/>
          <p:nvPr/>
        </p:nvSpPr>
        <p:spPr>
          <a:xfrm>
            <a:off x="133502" y="133501"/>
            <a:ext cx="18059401" cy="11963097"/>
          </a:xfrm>
          <a:prstGeom prst="rect">
            <a:avLst/>
          </a:prstGeom>
          <a:ln w="25400">
            <a:solidFill>
              <a:srgbClr val="111111"/>
            </a:solidFill>
          </a:ln>
        </p:spPr>
        <p:txBody>
          <a:bodyPr lIns="45719" rIns="45719"/>
          <a:lstStyle/>
          <a:p>
            <a:pPr/>
          </a:p>
        </p:txBody>
      </p:sp>
      <p:sp>
        <p:nvSpPr>
          <p:cNvPr id="707" name="Shape 2"/>
          <p:cNvSpPr/>
          <p:nvPr/>
        </p:nvSpPr>
        <p:spPr>
          <a:xfrm>
            <a:off x="190194" y="190194"/>
            <a:ext cx="17925900" cy="11830509"/>
          </a:xfrm>
          <a:prstGeom prst="rect">
            <a:avLst/>
          </a:prstGeom>
          <a:ln w="12700">
            <a:solidFill>
              <a:srgbClr val="111111"/>
            </a:solidFill>
          </a:ln>
        </p:spPr>
        <p:txBody>
          <a:bodyPr lIns="45719" rIns="45719"/>
          <a:lstStyle/>
          <a:p>
            <a:pPr/>
          </a:p>
        </p:txBody>
      </p:sp>
      <p:sp>
        <p:nvSpPr>
          <p:cNvPr id="708" name="Shape 3"/>
          <p:cNvSpPr/>
          <p:nvPr/>
        </p:nvSpPr>
        <p:spPr>
          <a:xfrm>
            <a:off x="16135501" y="228599"/>
            <a:ext cx="1923899" cy="11753700"/>
          </a:xfrm>
          <a:prstGeom prst="rect">
            <a:avLst/>
          </a:prstGeom>
          <a:solidFill>
            <a:srgbClr val="FFFFFF"/>
          </a:solidFill>
          <a:ln w="12700">
            <a:solidFill>
              <a:srgbClr val="111111"/>
            </a:solidFill>
          </a:ln>
        </p:spPr>
        <p:txBody>
          <a:bodyPr lIns="45719" rIns="45719"/>
          <a:lstStyle/>
          <a:p>
            <a:pPr/>
          </a:p>
        </p:txBody>
      </p:sp>
      <p:pic>
        <p:nvPicPr>
          <p:cNvPr id="709" name="Image 0" descr="Image 0"/>
          <p:cNvPicPr>
            <a:picLocks noChangeAspect="1"/>
          </p:cNvPicPr>
          <p:nvPr/>
        </p:nvPicPr>
        <p:blipFill>
          <a:blip r:embed="rId2">
            <a:extLst/>
          </a:blip>
          <a:stretch>
            <a:fillRect/>
          </a:stretch>
        </p:blipFill>
        <p:spPr>
          <a:xfrm>
            <a:off x="342900" y="345466"/>
            <a:ext cx="7448702" cy="5347766"/>
          </a:xfrm>
          <a:prstGeom prst="rect">
            <a:avLst/>
          </a:prstGeom>
          <a:ln w="12700">
            <a:miter lim="400000"/>
          </a:ln>
        </p:spPr>
      </p:pic>
      <p:pic>
        <p:nvPicPr>
          <p:cNvPr id="710" name="Image 1" descr="Image 1"/>
          <p:cNvPicPr>
            <a:picLocks noChangeAspect="1"/>
          </p:cNvPicPr>
          <p:nvPr/>
        </p:nvPicPr>
        <p:blipFill>
          <a:blip r:embed="rId3">
            <a:extLst/>
          </a:blip>
          <a:stretch>
            <a:fillRect/>
          </a:stretch>
        </p:blipFill>
        <p:spPr>
          <a:xfrm>
            <a:off x="8001000" y="345680"/>
            <a:ext cx="7830008" cy="5347338"/>
          </a:xfrm>
          <a:prstGeom prst="rect">
            <a:avLst/>
          </a:prstGeom>
          <a:ln w="12700">
            <a:miter lim="400000"/>
          </a:ln>
        </p:spPr>
      </p:pic>
      <p:pic>
        <p:nvPicPr>
          <p:cNvPr id="711" name="Image 2" descr="Image 2"/>
          <p:cNvPicPr>
            <a:picLocks noChangeAspect="1"/>
          </p:cNvPicPr>
          <p:nvPr/>
        </p:nvPicPr>
        <p:blipFill>
          <a:blip r:embed="rId4">
            <a:extLst/>
          </a:blip>
          <a:stretch>
            <a:fillRect/>
          </a:stretch>
        </p:blipFill>
        <p:spPr>
          <a:xfrm>
            <a:off x="342900" y="6196898"/>
            <a:ext cx="10496399" cy="4580210"/>
          </a:xfrm>
          <a:prstGeom prst="rect">
            <a:avLst/>
          </a:prstGeom>
          <a:ln w="12700">
            <a:miter lim="400000"/>
          </a:ln>
        </p:spPr>
      </p:pic>
      <p:sp>
        <p:nvSpPr>
          <p:cNvPr id="712" name="Shape 4"/>
          <p:cNvSpPr/>
          <p:nvPr/>
        </p:nvSpPr>
        <p:spPr>
          <a:xfrm>
            <a:off x="342900" y="5732423"/>
            <a:ext cx="7429500" cy="12701"/>
          </a:xfrm>
          <a:prstGeom prst="rect">
            <a:avLst/>
          </a:prstGeom>
          <a:solidFill>
            <a:srgbClr val="111111"/>
          </a:solidFill>
          <a:ln w="12700">
            <a:solidFill>
              <a:srgbClr val="111111">
                <a:alpha val="0"/>
              </a:srgbClr>
            </a:solidFill>
          </a:ln>
        </p:spPr>
        <p:txBody>
          <a:bodyPr lIns="45719" rIns="45719"/>
          <a:lstStyle/>
          <a:p>
            <a:pPr/>
          </a:p>
        </p:txBody>
      </p:sp>
      <p:grpSp>
        <p:nvGrpSpPr>
          <p:cNvPr id="715" name="Text 5"/>
          <p:cNvGrpSpPr/>
          <p:nvPr/>
        </p:nvGrpSpPr>
        <p:grpSpPr>
          <a:xfrm>
            <a:off x="638250" y="5771693"/>
            <a:ext cx="7134151" cy="229515"/>
            <a:chOff x="0" y="0"/>
            <a:chExt cx="7134149" cy="229513"/>
          </a:xfrm>
        </p:grpSpPr>
        <p:sp>
          <p:nvSpPr>
            <p:cNvPr id="713" name="Rectangle"/>
            <p:cNvSpPr/>
            <p:nvPr/>
          </p:nvSpPr>
          <p:spPr>
            <a:xfrm>
              <a:off x="-1" y="0"/>
              <a:ext cx="7134151"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714" name="FENCING — ISOMETRIC VIEW · NOT TO SCALE"/>
            <p:cNvSpPr txBox="1"/>
            <p:nvPr/>
          </p:nvSpPr>
          <p:spPr>
            <a:xfrm>
              <a:off x="30162" y="38556"/>
              <a:ext cx="7073825"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FENCING — ISOMETRIC VIEW · NOT TO SCALE</a:t>
              </a:r>
            </a:p>
          </p:txBody>
        </p:sp>
      </p:grpSp>
      <p:sp>
        <p:nvSpPr>
          <p:cNvPr id="716" name="Shape 6"/>
          <p:cNvSpPr/>
          <p:nvPr/>
        </p:nvSpPr>
        <p:spPr>
          <a:xfrm>
            <a:off x="342900" y="5772606"/>
            <a:ext cx="209398" cy="209399"/>
          </a:xfrm>
          <a:prstGeom prst="ellipse">
            <a:avLst/>
          </a:prstGeom>
          <a:ln w="12700">
            <a:solidFill>
              <a:srgbClr val="111111"/>
            </a:solidFill>
          </a:ln>
        </p:spPr>
        <p:txBody>
          <a:bodyPr lIns="45719" rIns="45719"/>
          <a:lstStyle/>
          <a:p>
            <a:pPr/>
          </a:p>
        </p:txBody>
      </p:sp>
      <p:grpSp>
        <p:nvGrpSpPr>
          <p:cNvPr id="719" name="Text 7"/>
          <p:cNvGrpSpPr/>
          <p:nvPr/>
        </p:nvGrpSpPr>
        <p:grpSpPr>
          <a:xfrm>
            <a:off x="342900" y="5772606"/>
            <a:ext cx="210312" cy="210313"/>
            <a:chOff x="0" y="0"/>
            <a:chExt cx="210311" cy="210311"/>
          </a:xfrm>
        </p:grpSpPr>
        <p:sp>
          <p:nvSpPr>
            <p:cNvPr id="717"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18" name="1"/>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1</a:t>
              </a:r>
            </a:p>
          </p:txBody>
        </p:sp>
      </p:grpSp>
      <p:sp>
        <p:nvSpPr>
          <p:cNvPr id="720" name="Shape 8"/>
          <p:cNvSpPr/>
          <p:nvPr/>
        </p:nvSpPr>
        <p:spPr>
          <a:xfrm>
            <a:off x="8001000" y="5732423"/>
            <a:ext cx="7810804" cy="12701"/>
          </a:xfrm>
          <a:prstGeom prst="rect">
            <a:avLst/>
          </a:prstGeom>
          <a:solidFill>
            <a:srgbClr val="111111"/>
          </a:solidFill>
          <a:ln w="12700">
            <a:solidFill>
              <a:srgbClr val="111111">
                <a:alpha val="0"/>
              </a:srgbClr>
            </a:solidFill>
          </a:ln>
        </p:spPr>
        <p:txBody>
          <a:bodyPr lIns="45719" rIns="45719"/>
          <a:lstStyle/>
          <a:p>
            <a:pPr/>
          </a:p>
        </p:txBody>
      </p:sp>
      <p:grpSp>
        <p:nvGrpSpPr>
          <p:cNvPr id="723" name="Text 9"/>
          <p:cNvGrpSpPr/>
          <p:nvPr/>
        </p:nvGrpSpPr>
        <p:grpSpPr>
          <a:xfrm>
            <a:off x="8296351" y="5771693"/>
            <a:ext cx="7515453" cy="229515"/>
            <a:chOff x="0" y="0"/>
            <a:chExt cx="7515452" cy="229513"/>
          </a:xfrm>
        </p:grpSpPr>
        <p:sp>
          <p:nvSpPr>
            <p:cNvPr id="721" name="Rectangle"/>
            <p:cNvSpPr/>
            <p:nvPr/>
          </p:nvSpPr>
          <p:spPr>
            <a:xfrm>
              <a:off x="0" y="0"/>
              <a:ext cx="7515453"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722" name="FENCING DETAIL — PARKING LOT SIDE VIEW · SCALE: 3/8&quot; = 1'-0&quot;"/>
            <p:cNvSpPr txBox="1"/>
            <p:nvPr/>
          </p:nvSpPr>
          <p:spPr>
            <a:xfrm>
              <a:off x="30162" y="38556"/>
              <a:ext cx="7455129"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FENCING DETAIL — PARKING LOT SIDE VIEW · SCALE: 3/8" = 1'-0"</a:t>
              </a:r>
            </a:p>
          </p:txBody>
        </p:sp>
      </p:grpSp>
      <p:sp>
        <p:nvSpPr>
          <p:cNvPr id="724" name="Shape 10"/>
          <p:cNvSpPr/>
          <p:nvPr/>
        </p:nvSpPr>
        <p:spPr>
          <a:xfrm>
            <a:off x="8001000" y="5772606"/>
            <a:ext cx="209398" cy="209399"/>
          </a:xfrm>
          <a:prstGeom prst="ellipse">
            <a:avLst/>
          </a:prstGeom>
          <a:ln w="12700">
            <a:solidFill>
              <a:srgbClr val="111111"/>
            </a:solidFill>
          </a:ln>
        </p:spPr>
        <p:txBody>
          <a:bodyPr lIns="45719" rIns="45719"/>
          <a:lstStyle/>
          <a:p>
            <a:pPr/>
          </a:p>
        </p:txBody>
      </p:sp>
      <p:grpSp>
        <p:nvGrpSpPr>
          <p:cNvPr id="727" name="Text 11"/>
          <p:cNvGrpSpPr/>
          <p:nvPr/>
        </p:nvGrpSpPr>
        <p:grpSpPr>
          <a:xfrm>
            <a:off x="8001000" y="5772606"/>
            <a:ext cx="210312" cy="210313"/>
            <a:chOff x="0" y="0"/>
            <a:chExt cx="210311" cy="210311"/>
          </a:xfrm>
        </p:grpSpPr>
        <p:sp>
          <p:nvSpPr>
            <p:cNvPr id="725"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26" name="2"/>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2</a:t>
              </a:r>
            </a:p>
          </p:txBody>
        </p:sp>
      </p:grpSp>
      <p:sp>
        <p:nvSpPr>
          <p:cNvPr id="728" name="Shape 12"/>
          <p:cNvSpPr/>
          <p:nvPr/>
        </p:nvSpPr>
        <p:spPr>
          <a:xfrm>
            <a:off x="342899" y="10818317"/>
            <a:ext cx="10477197" cy="12701"/>
          </a:xfrm>
          <a:prstGeom prst="rect">
            <a:avLst/>
          </a:prstGeom>
          <a:solidFill>
            <a:srgbClr val="111111"/>
          </a:solidFill>
          <a:ln w="12700">
            <a:solidFill>
              <a:srgbClr val="111111">
                <a:alpha val="0"/>
              </a:srgbClr>
            </a:solidFill>
          </a:ln>
        </p:spPr>
        <p:txBody>
          <a:bodyPr lIns="45719" rIns="45719"/>
          <a:lstStyle/>
          <a:p>
            <a:pPr/>
          </a:p>
        </p:txBody>
      </p:sp>
      <p:grpSp>
        <p:nvGrpSpPr>
          <p:cNvPr id="731" name="Text 13"/>
          <p:cNvGrpSpPr/>
          <p:nvPr/>
        </p:nvGrpSpPr>
        <p:grpSpPr>
          <a:xfrm>
            <a:off x="638250" y="10857586"/>
            <a:ext cx="10182760" cy="229515"/>
            <a:chOff x="0" y="0"/>
            <a:chExt cx="10182758" cy="229513"/>
          </a:xfrm>
        </p:grpSpPr>
        <p:sp>
          <p:nvSpPr>
            <p:cNvPr id="729" name="Rectangle"/>
            <p:cNvSpPr/>
            <p:nvPr/>
          </p:nvSpPr>
          <p:spPr>
            <a:xfrm>
              <a:off x="-1" y="0"/>
              <a:ext cx="10182760" cy="22951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defRPr sz="800"/>
              </a:pPr>
            </a:p>
          </p:txBody>
        </p:sp>
        <p:sp>
          <p:nvSpPr>
            <p:cNvPr id="730" name="FENCING DETAILS — CROSS STREET ELEVATION · SCALE: 3/8&quot; = 1'-0&quot;"/>
            <p:cNvSpPr txBox="1"/>
            <p:nvPr/>
          </p:nvSpPr>
          <p:spPr>
            <a:xfrm>
              <a:off x="30162" y="38556"/>
              <a:ext cx="10122434"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800">
                  <a:latin typeface="Arial"/>
                  <a:ea typeface="Arial"/>
                  <a:cs typeface="Arial"/>
                  <a:sym typeface="Arial"/>
                </a:defRPr>
              </a:lvl1pPr>
            </a:lstStyle>
            <a:p>
              <a:pPr/>
              <a:r>
                <a:t>FENCING DETAILS — CROSS STREET ELEVATION · SCALE: 3/8" = 1'-0"</a:t>
              </a:r>
            </a:p>
          </p:txBody>
        </p:sp>
      </p:grpSp>
      <p:sp>
        <p:nvSpPr>
          <p:cNvPr id="732" name="Shape 14"/>
          <p:cNvSpPr/>
          <p:nvPr/>
        </p:nvSpPr>
        <p:spPr>
          <a:xfrm>
            <a:off x="342900" y="10858500"/>
            <a:ext cx="209398" cy="209398"/>
          </a:xfrm>
          <a:prstGeom prst="ellipse">
            <a:avLst/>
          </a:prstGeom>
          <a:ln w="12700">
            <a:solidFill>
              <a:srgbClr val="111111"/>
            </a:solidFill>
          </a:ln>
        </p:spPr>
        <p:txBody>
          <a:bodyPr lIns="45719" rIns="45719"/>
          <a:lstStyle/>
          <a:p>
            <a:pPr/>
          </a:p>
        </p:txBody>
      </p:sp>
      <p:grpSp>
        <p:nvGrpSpPr>
          <p:cNvPr id="735" name="Text 15"/>
          <p:cNvGrpSpPr/>
          <p:nvPr/>
        </p:nvGrpSpPr>
        <p:grpSpPr>
          <a:xfrm>
            <a:off x="342900" y="10858500"/>
            <a:ext cx="210312" cy="210312"/>
            <a:chOff x="0" y="0"/>
            <a:chExt cx="210311" cy="210311"/>
          </a:xfrm>
        </p:grpSpPr>
        <p:sp>
          <p:nvSpPr>
            <p:cNvPr id="733" name="Square"/>
            <p:cNvSpPr/>
            <p:nvPr/>
          </p:nvSpPr>
          <p:spPr>
            <a:xfrm>
              <a:off x="0" y="0"/>
              <a:ext cx="210312" cy="210312"/>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34" name="3"/>
            <p:cNvSpPr txBox="1"/>
            <p:nvPr/>
          </p:nvSpPr>
          <p:spPr>
            <a:xfrm>
              <a:off x="4762" y="41655"/>
              <a:ext cx="200788"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800">
                  <a:latin typeface="Arial"/>
                  <a:ea typeface="Arial"/>
                  <a:cs typeface="Arial"/>
                  <a:sym typeface="Arial"/>
                </a:defRPr>
              </a:lvl1pPr>
            </a:lstStyle>
            <a:p>
              <a:pPr/>
              <a:r>
                <a:t>3</a:t>
              </a:r>
            </a:p>
          </p:txBody>
        </p:sp>
      </p:grpSp>
      <p:sp>
        <p:nvSpPr>
          <p:cNvPr id="736" name="Shape 16"/>
          <p:cNvSpPr/>
          <p:nvPr/>
        </p:nvSpPr>
        <p:spPr>
          <a:xfrm>
            <a:off x="11048695" y="6191401"/>
            <a:ext cx="4781399" cy="2305204"/>
          </a:xfrm>
          <a:prstGeom prst="rect">
            <a:avLst/>
          </a:prstGeom>
          <a:solidFill>
            <a:srgbClr val="FFFFFF"/>
          </a:solidFill>
          <a:ln w="12700">
            <a:solidFill>
              <a:srgbClr val="111111"/>
            </a:solidFill>
          </a:ln>
        </p:spPr>
        <p:txBody>
          <a:bodyPr lIns="45719" rIns="45719"/>
          <a:lstStyle/>
          <a:p>
            <a:pPr/>
          </a:p>
        </p:txBody>
      </p:sp>
      <p:sp>
        <p:nvSpPr>
          <p:cNvPr id="737" name="Shape 17"/>
          <p:cNvSpPr/>
          <p:nvPr/>
        </p:nvSpPr>
        <p:spPr>
          <a:xfrm>
            <a:off x="11058753" y="6200545"/>
            <a:ext cx="4762196" cy="209399"/>
          </a:xfrm>
          <a:prstGeom prst="rect">
            <a:avLst/>
          </a:prstGeom>
          <a:solidFill>
            <a:srgbClr val="E9E9E9"/>
          </a:solidFill>
          <a:ln w="12700">
            <a:miter lim="400000"/>
          </a:ln>
        </p:spPr>
        <p:txBody>
          <a:bodyPr lIns="45719" rIns="45719"/>
          <a:lstStyle/>
          <a:p>
            <a:pPr/>
          </a:p>
        </p:txBody>
      </p:sp>
      <p:sp>
        <p:nvSpPr>
          <p:cNvPr id="738" name="Shape 18"/>
          <p:cNvSpPr/>
          <p:nvPr/>
        </p:nvSpPr>
        <p:spPr>
          <a:xfrm>
            <a:off x="11058753" y="6399021"/>
            <a:ext cx="4762196" cy="12701"/>
          </a:xfrm>
          <a:prstGeom prst="rect">
            <a:avLst/>
          </a:prstGeom>
          <a:solidFill>
            <a:srgbClr val="111111"/>
          </a:solidFill>
          <a:ln w="12700">
            <a:solidFill>
              <a:srgbClr val="111111">
                <a:alpha val="0"/>
              </a:srgbClr>
            </a:solidFill>
          </a:ln>
        </p:spPr>
        <p:txBody>
          <a:bodyPr lIns="45719" rIns="45719"/>
          <a:lstStyle/>
          <a:p>
            <a:pPr/>
          </a:p>
        </p:txBody>
      </p:sp>
      <p:grpSp>
        <p:nvGrpSpPr>
          <p:cNvPr id="741" name="Text 19"/>
          <p:cNvGrpSpPr/>
          <p:nvPr/>
        </p:nvGrpSpPr>
        <p:grpSpPr>
          <a:xfrm>
            <a:off x="11058753" y="6200545"/>
            <a:ext cx="4763111" cy="165711"/>
            <a:chOff x="0" y="0"/>
            <a:chExt cx="4763110" cy="165709"/>
          </a:xfrm>
        </p:grpSpPr>
        <p:sp>
          <p:nvSpPr>
            <p:cNvPr id="739" name="Rectangle"/>
            <p:cNvSpPr/>
            <p:nvPr/>
          </p:nvSpPr>
          <p:spPr>
            <a:xfrm>
              <a:off x="0" y="0"/>
              <a:ext cx="4763111" cy="153620"/>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40" name="FENCING SCHEDULE"/>
            <p:cNvSpPr txBox="1"/>
            <p:nvPr/>
          </p:nvSpPr>
          <p:spPr>
            <a:xfrm>
              <a:off x="55562" y="38709"/>
              <a:ext cx="46519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800">
                  <a:latin typeface="Arial"/>
                  <a:ea typeface="Arial"/>
                  <a:cs typeface="Arial"/>
                  <a:sym typeface="Arial"/>
                </a:defRPr>
              </a:lvl1pPr>
            </a:lstStyle>
            <a:p>
              <a:pPr/>
              <a:r>
                <a:t>FENCING SCHEDULE</a:t>
              </a:r>
            </a:p>
          </p:txBody>
        </p:sp>
      </p:grpSp>
      <p:graphicFrame>
        <p:nvGraphicFramePr>
          <p:cNvPr id="742" name="Table 0"/>
          <p:cNvGraphicFramePr/>
          <p:nvPr/>
        </p:nvGraphicFramePr>
        <p:xfrm>
          <a:off x="11058753" y="6409944"/>
          <a:ext cx="4753052" cy="866851"/>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530352"/>
                <a:gridCol w="1229868"/>
                <a:gridCol w="889711"/>
                <a:gridCol w="828446"/>
                <a:gridCol w="1274674"/>
              </a:tblGrid>
              <a:tr h="173370">
                <a:tc>
                  <a:txBody>
                    <a:bodyPr/>
                    <a:lstStyle/>
                    <a:p>
                      <a:pPr algn="ctr">
                        <a:defRPr sz="1800"/>
                      </a:pPr>
                      <a:r>
                        <a:rPr b="1" sz="700">
                          <a:latin typeface="Arial"/>
                          <a:ea typeface="Arial"/>
                          <a:cs typeface="Arial"/>
                          <a:sym typeface="Arial"/>
                        </a:rPr>
                        <a:t>RUN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SIDE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LENGTH</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HEIGHT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700">
                          <a:latin typeface="Arial"/>
                          <a:ea typeface="Arial"/>
                          <a:cs typeface="Arial"/>
                          <a:sym typeface="Arial"/>
                        </a:rPr>
                        <a:t>PANEL 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73370">
                <a:tc>
                  <a:txBody>
                    <a:bodyPr/>
                    <a:lstStyle/>
                    <a:p>
                      <a:pPr algn="ctr">
                        <a:defRPr sz="1800"/>
                      </a:pPr>
                      <a:r>
                        <a:rPr sz="700">
                          <a:latin typeface="Arial"/>
                          <a:ea typeface="Arial"/>
                          <a:cs typeface="Arial"/>
                          <a:sym typeface="Arial"/>
                        </a:rPr>
                        <a:t>A</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Parking Lot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3370">
                <a:tc>
                  <a:txBody>
                    <a:bodyPr/>
                    <a:lstStyle/>
                    <a:p>
                      <a:pPr algn="ctr">
                        <a:defRPr sz="1800"/>
                      </a:pPr>
                      <a:r>
                        <a:rPr sz="700">
                          <a:latin typeface="Arial"/>
                          <a:ea typeface="Arial"/>
                          <a:cs typeface="Arial"/>
                          <a:sym typeface="Arial"/>
                        </a:rPr>
                        <a:t>B</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Cross Street</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3370">
                <a:tc>
                  <a:txBody>
                    <a:bodyPr/>
                    <a:lstStyle/>
                    <a:p>
                      <a:pPr algn="ctr">
                        <a:defRPr sz="1800"/>
                      </a:pPr>
                      <a:r>
                        <a:rPr sz="700">
                          <a:latin typeface="Arial"/>
                          <a:ea typeface="Arial"/>
                          <a:cs typeface="Arial"/>
                          <a:sym typeface="Arial"/>
                        </a:rPr>
                        <a:t>C</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Property Line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{{FENCE_TYPE}}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r h="173370">
                <a:tc>
                  <a:txBody>
                    <a:bodyPr/>
                    <a:lstStyle/>
                    <a:p>
                      <a:pPr algn="ctr">
                        <a:defRPr sz="1800"/>
                      </a:pPr>
                      <a:r>
                        <a:rPr sz="700">
                          <a:latin typeface="Arial"/>
                          <a:ea typeface="Arial"/>
                          <a:cs typeface="Arial"/>
                          <a:sym typeface="Arial"/>
                        </a:rPr>
                        <a:t>D</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700">
                          <a:latin typeface="Arial"/>
                          <a:ea typeface="Arial"/>
                          <a:cs typeface="Arial"/>
                          <a:sym typeface="Arial"/>
                        </a:rPr>
                        <a:t>Gate</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{{FENCE_LEN}}</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8'-0"</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700">
                          <a:latin typeface="Arial"/>
                          <a:ea typeface="Arial"/>
                          <a:cs typeface="Arial"/>
                          <a:sym typeface="Arial"/>
                        </a:rPr>
                        <a:t>Double Swing</a:t>
                      </a:r>
                    </a:p>
                  </a:txBody>
                  <a:tcPr marL="28345" marR="28345" marT="28345" marB="2834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743" name="Shape 20"/>
          <p:cNvSpPr/>
          <p:nvPr/>
        </p:nvSpPr>
        <p:spPr>
          <a:xfrm>
            <a:off x="11048695" y="342899"/>
            <a:ext cx="5048403" cy="5924400"/>
          </a:xfrm>
          <a:prstGeom prst="rect">
            <a:avLst/>
          </a:prstGeom>
          <a:solidFill>
            <a:srgbClr val="FFFFFF"/>
          </a:solidFill>
          <a:ln w="12700">
            <a:solidFill>
              <a:srgbClr val="111111"/>
            </a:solidFill>
          </a:ln>
        </p:spPr>
        <p:txBody>
          <a:bodyPr lIns="45719" rIns="45719"/>
          <a:lstStyle/>
          <a:p>
            <a:pPr/>
          </a:p>
        </p:txBody>
      </p:sp>
      <p:sp>
        <p:nvSpPr>
          <p:cNvPr id="744" name="Text 21"/>
          <p:cNvSpPr txBox="1"/>
          <p:nvPr/>
        </p:nvSpPr>
        <p:spPr>
          <a:xfrm>
            <a:off x="11192256" y="460908"/>
            <a:ext cx="4763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800">
                <a:latin typeface="Arial"/>
                <a:ea typeface="Arial"/>
                <a:cs typeface="Arial"/>
                <a:sym typeface="Arial"/>
              </a:defRPr>
            </a:lvl1pPr>
          </a:lstStyle>
          <a:p>
            <a:pPr/>
            <a:r>
              <a:t>FENCING NOTES</a:t>
            </a:r>
          </a:p>
        </p:txBody>
      </p:sp>
      <p:sp>
        <p:nvSpPr>
          <p:cNvPr id="745" name="Text 22"/>
          <p:cNvSpPr txBox="1"/>
          <p:nvPr/>
        </p:nvSpPr>
        <p:spPr>
          <a:xfrm>
            <a:off x="11363249" y="665973"/>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 xml:space="preserve">Fence height: </a:t>
            </a:r>
            <a:r>
              <a:rPr b="1"/>
              <a:t>8'-0" minimum</a:t>
            </a:r>
            <a:r>
              <a:t xml:space="preserve"> measured from finish grade. Coordinate with local zoning and AHJ if greater height is required.</a:t>
            </a:r>
          </a:p>
        </p:txBody>
      </p:sp>
      <p:sp>
        <p:nvSpPr>
          <p:cNvPr id="746" name="Text 23"/>
          <p:cNvSpPr txBox="1"/>
          <p:nvPr/>
        </p:nvSpPr>
        <p:spPr>
          <a:xfrm>
            <a:off x="11363249" y="955838"/>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Fence panels and posts to be of materials &amp; finish per AHJ / Owner spec; HDG steel, aluminum, or composite acceptable.</a:t>
            </a:r>
          </a:p>
        </p:txBody>
      </p:sp>
      <p:sp>
        <p:nvSpPr>
          <p:cNvPr id="747" name="Text 24"/>
          <p:cNvSpPr txBox="1"/>
          <p:nvPr/>
        </p:nvSpPr>
        <p:spPr>
          <a:xfrm>
            <a:off x="11363249" y="1245703"/>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Posts: [2" × 2"] HDG steel tube, painted to match panels. Set in [12" Ø] concrete footing, [36"] minimum depth below grade.</a:t>
            </a:r>
          </a:p>
        </p:txBody>
      </p:sp>
      <p:sp>
        <p:nvSpPr>
          <p:cNvPr id="748" name="Text 25"/>
          <p:cNvSpPr txBox="1"/>
          <p:nvPr/>
        </p:nvSpPr>
        <p:spPr>
          <a:xfrm>
            <a:off x="11363249" y="1513382"/>
            <a:ext cx="52770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Post spacing: [8'-0" o.c. typical], max [10'-0" o.c.]; reduce as required at gates and panel transitions.</a:t>
            </a:r>
          </a:p>
        </p:txBody>
      </p:sp>
      <p:sp>
        <p:nvSpPr>
          <p:cNvPr id="749" name="Text 26"/>
          <p:cNvSpPr txBox="1"/>
          <p:nvPr/>
        </p:nvSpPr>
        <p:spPr>
          <a:xfrm>
            <a:off x="11363249" y="1657858"/>
            <a:ext cx="45912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Concrete footing: f'c = [3,000] psi, crown above grade to shed water.</a:t>
            </a:r>
          </a:p>
        </p:txBody>
      </p:sp>
      <p:sp>
        <p:nvSpPr>
          <p:cNvPr id="750" name="Text 27"/>
          <p:cNvSpPr txBox="1"/>
          <p:nvPr/>
        </p:nvSpPr>
        <p:spPr>
          <a:xfrm>
            <a:off x="11363249" y="1825432"/>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Provide ground bonding jumper #6 AWG Cu between adjacent fence posts and to grounding electrode system per IEEE 80 and NEC 250.</a:t>
            </a:r>
          </a:p>
        </p:txBody>
      </p:sp>
      <p:sp>
        <p:nvSpPr>
          <p:cNvPr id="751" name="Text 28"/>
          <p:cNvSpPr txBox="1"/>
          <p:nvPr/>
        </p:nvSpPr>
        <p:spPr>
          <a:xfrm>
            <a:off x="11363249" y="2115297"/>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Gates: Provide one [double-swing 12'-0" wide] vehicle gate and one [pedestrian 4'-0"] gate. Gates to be self-closing &amp; lockable per AHJ / IFC 1207.</a:t>
            </a:r>
          </a:p>
        </p:txBody>
      </p:sp>
      <p:sp>
        <p:nvSpPr>
          <p:cNvPr id="752" name="Text 29"/>
          <p:cNvSpPr txBox="1"/>
          <p:nvPr/>
        </p:nvSpPr>
        <p:spPr>
          <a:xfrm>
            <a:off x="11363249" y="2382977"/>
            <a:ext cx="5275175"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Gate hardware to be heavy-duty, rated for exterior use, with weather-resistant finish.</a:t>
            </a:r>
          </a:p>
        </p:txBody>
      </p:sp>
      <p:sp>
        <p:nvSpPr>
          <p:cNvPr id="753" name="Text 30"/>
          <p:cNvSpPr txBox="1"/>
          <p:nvPr/>
        </p:nvSpPr>
        <p:spPr>
          <a:xfrm>
            <a:off x="11363249" y="2528366"/>
            <a:ext cx="45912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Signage on fence per E4.0 (Caution / Energy Storage / Emergency Contact).</a:t>
            </a:r>
          </a:p>
        </p:txBody>
      </p:sp>
      <p:sp>
        <p:nvSpPr>
          <p:cNvPr id="754" name="Text 31"/>
          <p:cNvSpPr txBox="1"/>
          <p:nvPr/>
        </p:nvSpPr>
        <p:spPr>
          <a:xfrm>
            <a:off x="11363249" y="2695027"/>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Maintain minimum [3'-0"] clearance from BESS enclosure to inside face of fence for working clearance per NEC 110.26.</a:t>
            </a:r>
          </a:p>
        </p:txBody>
      </p:sp>
      <p:sp>
        <p:nvSpPr>
          <p:cNvPr id="755" name="Text 32"/>
          <p:cNvSpPr txBox="1"/>
          <p:nvPr/>
        </p:nvSpPr>
        <p:spPr>
          <a:xfrm>
            <a:off x="11363249" y="2984891"/>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Provide vegetation-free perimeter of [3'-0"] on both sides of fence; coordinate with landscape per local fire department requirements.</a:t>
            </a:r>
          </a:p>
        </p:txBody>
      </p:sp>
      <p:sp>
        <p:nvSpPr>
          <p:cNvPr id="756" name="Text 33"/>
          <p:cNvSpPr txBox="1"/>
          <p:nvPr/>
        </p:nvSpPr>
        <p:spPr>
          <a:xfrm>
            <a:off x="11363249" y="3252571"/>
            <a:ext cx="52770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All exposed fasteners: stainless or HDG. Tamper-resistant where accessible from public side.</a:t>
            </a:r>
          </a:p>
        </p:txBody>
      </p:sp>
      <p:sp>
        <p:nvSpPr>
          <p:cNvPr id="757" name="Text 34"/>
          <p:cNvSpPr txBox="1"/>
          <p:nvPr/>
        </p:nvSpPr>
        <p:spPr>
          <a:xfrm>
            <a:off x="11363249" y="3397961"/>
            <a:ext cx="4591202"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Fence to be installed plumb &amp; level; max deviation 1/4" in 8'-0" run.</a:t>
            </a:r>
          </a:p>
        </p:txBody>
      </p:sp>
      <p:sp>
        <p:nvSpPr>
          <p:cNvPr id="758" name="Text 35"/>
          <p:cNvSpPr txBox="1"/>
          <p:nvPr/>
        </p:nvSpPr>
        <p:spPr>
          <a:xfrm>
            <a:off x="11363249" y="3564621"/>
            <a:ext cx="4591202" cy="22527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800">
                <a:latin typeface="Arial"/>
                <a:ea typeface="Arial"/>
                <a:cs typeface="Arial"/>
                <a:sym typeface="Arial"/>
              </a:defRPr>
            </a:lvl1pPr>
          </a:lstStyle>
          <a:p>
            <a:pPr/>
            <a:r>
              <a:t>Coordinate fence location with property line survey and easements. Maintain {{SETBACK}} per local code.</a:t>
            </a:r>
          </a:p>
        </p:txBody>
      </p:sp>
      <p:sp>
        <p:nvSpPr>
          <p:cNvPr id="759" name="Shape 36"/>
          <p:cNvSpPr/>
          <p:nvPr/>
        </p:nvSpPr>
        <p:spPr>
          <a:xfrm>
            <a:off x="11048695" y="8572500"/>
            <a:ext cx="5029201" cy="2667306"/>
          </a:xfrm>
          <a:prstGeom prst="rect">
            <a:avLst/>
          </a:prstGeom>
          <a:solidFill>
            <a:srgbClr val="FFFFFF">
              <a:alpha val="92000"/>
            </a:srgbClr>
          </a:solidFill>
          <a:ln w="25400">
            <a:solidFill>
              <a:srgbClr val="C81E1E"/>
            </a:solidFill>
          </a:ln>
        </p:spPr>
        <p:txBody>
          <a:bodyPr lIns="45719" rIns="45719"/>
          <a:lstStyle/>
          <a:p>
            <a:pPr/>
          </a:p>
        </p:txBody>
      </p:sp>
      <p:grpSp>
        <p:nvGrpSpPr>
          <p:cNvPr id="762" name="Text 37"/>
          <p:cNvGrpSpPr/>
          <p:nvPr/>
        </p:nvGrpSpPr>
        <p:grpSpPr>
          <a:xfrm>
            <a:off x="11182198" y="8667598"/>
            <a:ext cx="4763111" cy="305411"/>
            <a:chOff x="0" y="0"/>
            <a:chExt cx="4763110" cy="305410"/>
          </a:xfrm>
        </p:grpSpPr>
        <p:sp>
          <p:nvSpPr>
            <p:cNvPr id="760" name="Rectangle"/>
            <p:cNvSpPr/>
            <p:nvPr/>
          </p:nvSpPr>
          <p:spPr>
            <a:xfrm>
              <a:off x="-1" y="-1"/>
              <a:ext cx="4763112" cy="305412"/>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1300"/>
              </a:pPr>
            </a:p>
          </p:txBody>
        </p:sp>
        <p:sp>
          <p:nvSpPr>
            <p:cNvPr id="761" name="{{PERMIT_NO}}"/>
            <p:cNvSpPr txBox="1"/>
            <p:nvPr/>
          </p:nvSpPr>
          <p:spPr>
            <a:xfrm>
              <a:off x="30162" y="22055"/>
              <a:ext cx="4702786" cy="26130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38100" tIns="38100" rIns="38100" bIns="38100" numCol="1" anchor="ctr">
              <a:spAutoFit/>
            </a:bodyPr>
            <a:lstStyle>
              <a:lvl1pPr algn="ctr">
                <a:defRPr b="1" spc="75" sz="1300">
                  <a:latin typeface="Arial"/>
                  <a:ea typeface="Arial"/>
                  <a:cs typeface="Arial"/>
                  <a:sym typeface="Arial"/>
                </a:defRPr>
              </a:lvl1pPr>
            </a:lstStyle>
            <a:p>
              <a:pPr/>
              <a:r>
                <a:t>{{PERMIT_NO}}</a:t>
              </a:r>
            </a:p>
          </p:txBody>
        </p:sp>
      </p:grpSp>
      <p:sp>
        <p:nvSpPr>
          <p:cNvPr id="763" name="Text 38"/>
          <p:cNvSpPr txBox="1"/>
          <p:nvPr/>
        </p:nvSpPr>
        <p:spPr>
          <a:xfrm>
            <a:off x="11182198" y="9022892"/>
            <a:ext cx="4763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900">
                <a:solidFill>
                  <a:srgbClr val="C81E1E"/>
                </a:solidFill>
                <a:latin typeface="Arial"/>
                <a:ea typeface="Arial"/>
                <a:cs typeface="Arial"/>
                <a:sym typeface="Arial"/>
              </a:defRPr>
            </a:lvl1pPr>
          </a:lstStyle>
          <a:p>
            <a:pPr/>
            <a:r>
              <a:t>REVIEWED FOR COMPLIANCE</a:t>
            </a:r>
          </a:p>
        </p:txBody>
      </p:sp>
      <p:sp>
        <p:nvSpPr>
          <p:cNvPr id="764" name="Text 39"/>
          <p:cNvSpPr txBox="1"/>
          <p:nvPr/>
        </p:nvSpPr>
        <p:spPr>
          <a:xfrm>
            <a:off x="11182198" y="9174226"/>
            <a:ext cx="4763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800">
                <a:solidFill>
                  <a:srgbClr val="C81E1E"/>
                </a:solidFill>
                <a:latin typeface="Arial"/>
                <a:ea typeface="Arial"/>
                <a:cs typeface="Arial"/>
                <a:sym typeface="Arial"/>
              </a:defRPr>
            </a:lvl1pPr>
          </a:lstStyle>
          <a:p>
            <a:pPr/>
            <a:r>
              <a:t>{{AHJ_FIRE_DEPT}}</a:t>
            </a:r>
          </a:p>
        </p:txBody>
      </p:sp>
      <p:sp>
        <p:nvSpPr>
          <p:cNvPr id="765" name="Text 40"/>
          <p:cNvSpPr txBox="1"/>
          <p:nvPr/>
        </p:nvSpPr>
        <p:spPr>
          <a:xfrm>
            <a:off x="11182198" y="9334245"/>
            <a:ext cx="476311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z="800">
                <a:latin typeface="Arial"/>
                <a:ea typeface="Arial"/>
                <a:cs typeface="Arial"/>
                <a:sym typeface="Arial"/>
              </a:defRPr>
            </a:lvl1pPr>
          </a:lstStyle>
          <a:p>
            <a:pPr/>
            <a:r>
              <a:t>For Continued Compliance Subject to Code</a:t>
            </a:r>
          </a:p>
        </p:txBody>
      </p:sp>
      <p:grpSp>
        <p:nvGrpSpPr>
          <p:cNvPr id="768" name="Text 41"/>
          <p:cNvGrpSpPr/>
          <p:nvPr/>
        </p:nvGrpSpPr>
        <p:grpSpPr>
          <a:xfrm>
            <a:off x="11182198" y="9489643"/>
            <a:ext cx="4763111" cy="162764"/>
            <a:chOff x="0" y="0"/>
            <a:chExt cx="4763110" cy="162763"/>
          </a:xfrm>
        </p:grpSpPr>
        <p:sp>
          <p:nvSpPr>
            <p:cNvPr id="766" name="Rectangle"/>
            <p:cNvSpPr/>
            <p:nvPr/>
          </p:nvSpPr>
          <p:spPr>
            <a:xfrm>
              <a:off x="-1" y="-1"/>
              <a:ext cx="4763112" cy="162765"/>
            </a:xfrm>
            <a:prstGeom prst="rect">
              <a:avLst/>
            </a:prstGeom>
            <a:solidFill>
              <a:srgbClr val="FFF3A8"/>
            </a:solidFill>
            <a:ln w="9525" cap="flat">
              <a:solidFill>
                <a:srgbClr val="FFFFFF">
                  <a:alpha val="0"/>
                </a:srgbClr>
              </a:solidFill>
              <a:prstDash val="solid"/>
              <a:round/>
            </a:ln>
            <a:effectLst/>
          </p:spPr>
          <p:txBody>
            <a:bodyPr wrap="square" lIns="45719" tIns="45719" rIns="45719" bIns="45719" numCol="1" anchor="ctr">
              <a:noAutofit/>
            </a:bodyPr>
            <a:lstStyle/>
            <a:p>
              <a:pPr algn="ctr">
                <a:defRPr sz="800"/>
              </a:pPr>
            </a:p>
          </p:txBody>
        </p:sp>
        <p:sp>
          <p:nvSpPr>
            <p:cNvPr id="767" name="REVISIONS NEED REVIEW"/>
            <p:cNvSpPr txBox="1"/>
            <p:nvPr/>
          </p:nvSpPr>
          <p:spPr>
            <a:xfrm>
              <a:off x="17462" y="493"/>
              <a:ext cx="4728186" cy="16177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25400" tIns="25400" rIns="25400" bIns="25400" numCol="1" anchor="ctr">
              <a:spAutoFit/>
            </a:bodyPr>
            <a:lstStyle>
              <a:lvl1pPr algn="ctr">
                <a:defRPr b="1" sz="800">
                  <a:latin typeface="Arial"/>
                  <a:ea typeface="Arial"/>
                  <a:cs typeface="Arial"/>
                  <a:sym typeface="Arial"/>
                </a:defRPr>
              </a:lvl1pPr>
            </a:lstStyle>
            <a:p>
              <a:pPr/>
              <a:r>
                <a:t>REVISIONS NEED REVIEW</a:t>
              </a:r>
            </a:p>
          </p:txBody>
        </p:sp>
      </p:grpSp>
      <p:sp>
        <p:nvSpPr>
          <p:cNvPr id="769" name="Text 42"/>
          <p:cNvSpPr txBox="1"/>
          <p:nvPr/>
        </p:nvSpPr>
        <p:spPr>
          <a:xfrm>
            <a:off x="11182198" y="9699797"/>
            <a:ext cx="4763111" cy="36150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800">
                <a:latin typeface="Arial"/>
                <a:ea typeface="Arial"/>
                <a:cs typeface="Arial"/>
                <a:sym typeface="Arial"/>
              </a:defRPr>
            </a:pPr>
            <a:r>
              <a:t xml:space="preserve"> ☐ BUILDING CODE ☐ ELECTRICAL CODE</a:t>
            </a:r>
          </a:p>
          <a:p>
            <a:pPr>
              <a:defRPr sz="800">
                <a:latin typeface="Arial"/>
                <a:ea typeface="Arial"/>
                <a:cs typeface="Arial"/>
                <a:sym typeface="Arial"/>
              </a:defRPr>
            </a:pPr>
            <a:r>
              <a:t xml:space="preserve"> ☐ MECHANICAL CODE ☐ PLUMBING CODE</a:t>
            </a:r>
          </a:p>
          <a:p>
            <a:pPr>
              <a:defRPr sz="800">
                <a:latin typeface="Arial"/>
                <a:ea typeface="Arial"/>
                <a:cs typeface="Arial"/>
                <a:sym typeface="Arial"/>
              </a:defRPr>
            </a:pPr>
            <a:r>
              <a:t xml:space="preserve"> ☐ GRADING/DRAINAGE ☐ STRUCTURAL DESIGN </a:t>
            </a:r>
          </a:p>
        </p:txBody>
      </p:sp>
      <p:sp>
        <p:nvSpPr>
          <p:cNvPr id="770" name="Shape 43"/>
          <p:cNvSpPr/>
          <p:nvPr/>
        </p:nvSpPr>
        <p:spPr>
          <a:xfrm>
            <a:off x="16154705" y="228599"/>
            <a:ext cx="1904696" cy="1914756"/>
          </a:xfrm>
          <a:prstGeom prst="rect">
            <a:avLst/>
          </a:prstGeom>
          <a:solidFill>
            <a:srgbClr val="FFFFFF"/>
          </a:solidFill>
          <a:ln w="12700">
            <a:miter lim="400000"/>
          </a:ln>
        </p:spPr>
        <p:txBody>
          <a:bodyPr lIns="45719" rIns="45719"/>
          <a:lstStyle/>
          <a:p>
            <a:pPr/>
          </a:p>
        </p:txBody>
      </p:sp>
      <p:sp>
        <p:nvSpPr>
          <p:cNvPr id="771" name="Shape 44"/>
          <p:cNvSpPr/>
          <p:nvPr/>
        </p:nvSpPr>
        <p:spPr>
          <a:xfrm>
            <a:off x="16154705" y="2132432"/>
            <a:ext cx="1904696" cy="12701"/>
          </a:xfrm>
          <a:prstGeom prst="rect">
            <a:avLst/>
          </a:prstGeom>
          <a:solidFill>
            <a:srgbClr val="111111"/>
          </a:solidFill>
          <a:ln w="12700">
            <a:solidFill>
              <a:srgbClr val="111111">
                <a:alpha val="0"/>
              </a:srgbClr>
            </a:solidFill>
          </a:ln>
        </p:spPr>
        <p:txBody>
          <a:bodyPr lIns="45719" rIns="45719"/>
          <a:lstStyle/>
          <a:p>
            <a:pPr/>
          </a:p>
        </p:txBody>
      </p:sp>
      <p:pic>
        <p:nvPicPr>
          <p:cNvPr id="796" name="ClearSky Logo"/>
          <p:cNvPicPr/>
          <p:nvPr/>
        </p:nvPicPr>
        <p:blipFill>
          <a:blip r:embed="rId5" cstate="print"/>
          <a:stretch>
            <a:fillRect/>
          </a:stretch>
        </p:blipFill>
        <p:spPr>
          <a:xfrm>
            <a:off x="16822342" y="673813"/>
            <a:ext cx="574909" cy="481174"/>
          </a:xfrm>
          <a:prstGeom prst="rect">
            <a:avLst/>
          </a:prstGeom>
        </p:spPr>
      </p:pic>
      <p:pic>
        <p:nvPicPr>
          <p:cNvPr id="797" name="ClearSky Logo"/>
          <p:cNvPicPr/>
          <p:nvPr/>
        </p:nvPicPr>
        <p:blipFill>
          <a:blip r:embed="rId5" cstate="print"/>
          <a:stretch>
            <a:fillRect/>
          </a:stretch>
        </p:blipFill>
        <p:spPr>
          <a:xfrm>
            <a:off x="16975670" y="1101684"/>
            <a:ext cx="269163" cy="225278"/>
          </a:xfrm>
          <a:prstGeom prst="rect">
            <a:avLst/>
          </a:prstGeom>
        </p:spPr>
      </p:pic>
      <p:sp>
        <p:nvSpPr>
          <p:cNvPr id="774" name="Text 47"/>
          <p:cNvSpPr txBox="1"/>
          <p:nvPr/>
        </p:nvSpPr>
        <p:spPr>
          <a:xfrm>
            <a:off x="16638421" y="1277706"/>
            <a:ext cx="943662" cy="4538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sz="800">
                <a:solidFill>
                  <a:srgbClr val="222222"/>
                </a:solidFill>
                <a:latin typeface="Arial"/>
                <a:ea typeface="Arial"/>
                <a:cs typeface="Arial"/>
                <a:sym typeface="Arial"/>
              </a:defRPr>
            </a:pPr>
            <a:r>
              <a:t>PO BOX {{GC_PO_BOX}}</a:t>
            </a:r>
          </a:p>
          <a:p>
            <a:pPr algn="ctr">
              <a:defRPr sz="800">
                <a:solidFill>
                  <a:srgbClr val="222222"/>
                </a:solidFill>
                <a:latin typeface="Arial"/>
                <a:ea typeface="Arial"/>
                <a:cs typeface="Arial"/>
                <a:sym typeface="Arial"/>
              </a:defRPr>
            </a:pPr>
            <a:r>
              <a:t>{{CITY_SHORT}}, {{STATE}} {{ZIP}}</a:t>
            </a:r>
          </a:p>
          <a:p>
            <a:pPr algn="ctr">
              <a:defRPr sz="800">
                <a:solidFill>
                  <a:srgbClr val="222222"/>
                </a:solidFill>
                <a:latin typeface="Arial"/>
                <a:ea typeface="Arial"/>
                <a:cs typeface="Arial"/>
                <a:sym typeface="Arial"/>
              </a:defRPr>
            </a:pPr>
            <a:r>
              <a:t>PH: {{GC_PHONE}}</a:t>
            </a:r>
          </a:p>
        </p:txBody>
      </p:sp>
      <p:sp>
        <p:nvSpPr>
          <p:cNvPr id="775" name="Shape 48"/>
          <p:cNvSpPr/>
          <p:nvPr/>
        </p:nvSpPr>
        <p:spPr>
          <a:xfrm>
            <a:off x="16154705" y="2133294"/>
            <a:ext cx="1904696" cy="5343756"/>
          </a:xfrm>
          <a:prstGeom prst="rect">
            <a:avLst/>
          </a:prstGeom>
          <a:solidFill>
            <a:srgbClr val="FFFFFF"/>
          </a:solidFill>
          <a:ln w="12700">
            <a:miter lim="400000"/>
          </a:ln>
        </p:spPr>
        <p:txBody>
          <a:bodyPr lIns="45719" rIns="45719"/>
          <a:lstStyle/>
          <a:p>
            <a:pPr/>
          </a:p>
        </p:txBody>
      </p:sp>
      <p:sp>
        <p:nvSpPr>
          <p:cNvPr id="776" name="Shape 49"/>
          <p:cNvSpPr/>
          <p:nvPr/>
        </p:nvSpPr>
        <p:spPr>
          <a:xfrm>
            <a:off x="16154705" y="7466126"/>
            <a:ext cx="1904696" cy="12701"/>
          </a:xfrm>
          <a:prstGeom prst="rect">
            <a:avLst/>
          </a:prstGeom>
          <a:solidFill>
            <a:srgbClr val="111111"/>
          </a:solidFill>
          <a:ln w="12700">
            <a:solidFill>
              <a:srgbClr val="111111">
                <a:alpha val="0"/>
              </a:srgbClr>
            </a:solidFill>
          </a:ln>
        </p:spPr>
        <p:txBody>
          <a:bodyPr lIns="45719" rIns="45719"/>
          <a:lstStyle/>
          <a:p>
            <a:pPr/>
          </a:p>
        </p:txBody>
      </p:sp>
      <p:sp>
        <p:nvSpPr>
          <p:cNvPr id="777" name="Text 50"/>
          <p:cNvSpPr txBox="1"/>
          <p:nvPr/>
        </p:nvSpPr>
        <p:spPr>
          <a:xfrm>
            <a:off x="16745407" y="3472543"/>
            <a:ext cx="200255" cy="266159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pc="38" sz="1300">
                <a:latin typeface="Arial"/>
                <a:ea typeface="Arial"/>
                <a:cs typeface="Arial"/>
                <a:sym typeface="Arial"/>
              </a:defRPr>
            </a:lvl1pPr>
          </a:lstStyle>
          <a:p>
            <a:pPr/>
            <a:r>
              <a:t>PN - {{PROJECT_NAME}}</a:t>
            </a:r>
          </a:p>
        </p:txBody>
      </p:sp>
      <p:sp>
        <p:nvSpPr>
          <p:cNvPr id="778" name="Text 51"/>
          <p:cNvSpPr txBox="1"/>
          <p:nvPr/>
        </p:nvSpPr>
        <p:spPr>
          <a:xfrm>
            <a:off x="17002354" y="3979712"/>
            <a:ext cx="143562" cy="1647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{{SITE_ADDR}}</a:t>
            </a:r>
          </a:p>
        </p:txBody>
      </p:sp>
      <p:sp>
        <p:nvSpPr>
          <p:cNvPr id="779" name="Text 52"/>
          <p:cNvSpPr txBox="1"/>
          <p:nvPr/>
        </p:nvSpPr>
        <p:spPr>
          <a:xfrm>
            <a:off x="17145000" y="4170212"/>
            <a:ext cx="143562" cy="1266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{{CITY_SHORT}}, {{STATE}} {{ZIP}}</a:t>
            </a:r>
          </a:p>
        </p:txBody>
      </p:sp>
      <p:sp>
        <p:nvSpPr>
          <p:cNvPr id="780" name="Text 53"/>
          <p:cNvSpPr txBox="1"/>
          <p:nvPr/>
        </p:nvSpPr>
        <p:spPr>
          <a:xfrm>
            <a:off x="17326050" y="3916212"/>
            <a:ext cx="143562" cy="177426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spc="38" sz="900">
                <a:latin typeface="Arial"/>
                <a:ea typeface="Arial"/>
                <a:cs typeface="Arial"/>
                <a:sym typeface="Arial"/>
              </a:defRPr>
            </a:lvl1pPr>
          </a:lstStyle>
          <a:p>
            <a:pPr/>
            <a:r>
              <a:t>APN: {{APN}}</a:t>
            </a:r>
          </a:p>
        </p:txBody>
      </p:sp>
      <p:sp>
        <p:nvSpPr>
          <p:cNvPr id="781" name="Shape 54"/>
          <p:cNvSpPr/>
          <p:nvPr/>
        </p:nvSpPr>
        <p:spPr>
          <a:xfrm>
            <a:off x="16154705" y="7467904"/>
            <a:ext cx="1904696" cy="1914755"/>
          </a:xfrm>
          <a:prstGeom prst="rect">
            <a:avLst/>
          </a:prstGeom>
          <a:solidFill>
            <a:srgbClr val="FFFFFF"/>
          </a:solidFill>
          <a:ln w="12700">
            <a:miter lim="400000"/>
          </a:ln>
        </p:spPr>
        <p:txBody>
          <a:bodyPr lIns="45719" rIns="45719"/>
          <a:lstStyle/>
          <a:p>
            <a:pPr/>
          </a:p>
        </p:txBody>
      </p:sp>
      <p:sp>
        <p:nvSpPr>
          <p:cNvPr id="782" name="Shape 55"/>
          <p:cNvSpPr/>
          <p:nvPr/>
        </p:nvSpPr>
        <p:spPr>
          <a:xfrm>
            <a:off x="16154705" y="9371735"/>
            <a:ext cx="1904696" cy="12701"/>
          </a:xfrm>
          <a:prstGeom prst="rect">
            <a:avLst/>
          </a:prstGeom>
          <a:solidFill>
            <a:srgbClr val="111111"/>
          </a:solidFill>
          <a:ln w="12700">
            <a:solidFill>
              <a:srgbClr val="111111">
                <a:alpha val="0"/>
              </a:srgbClr>
            </a:solidFill>
          </a:ln>
        </p:spPr>
        <p:txBody>
          <a:bodyPr lIns="45719" rIns="45719"/>
          <a:lstStyle/>
          <a:p>
            <a:pPr/>
          </a:p>
        </p:txBody>
      </p:sp>
      <p:graphicFrame>
        <p:nvGraphicFramePr>
          <p:cNvPr id="783" name="Table 1"/>
          <p:cNvGraphicFramePr/>
          <p:nvPr/>
        </p:nvGraphicFramePr>
        <p:xfrm>
          <a:off x="16154705" y="7467904"/>
          <a:ext cx="1895553" cy="409649"/>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758038"/>
                <a:gridCol w="265176"/>
                <a:gridCol w="872338"/>
              </a:tblGrid>
              <a:tr h="101600">
                <a:tc>
                  <a:txBody>
                    <a:bodyPr/>
                    <a:lstStyle/>
                    <a:p>
                      <a:pPr algn="ctr">
                        <a:defRPr sz="1800"/>
                      </a:pPr>
                      <a:r>
                        <a:rPr b="1" sz="600">
                          <a:latin typeface="Arial"/>
                          <a:ea typeface="Arial"/>
                          <a:cs typeface="Arial"/>
                          <a:sym typeface="Arial"/>
                        </a:rPr>
                        <a:t>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REV</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c>
                  <a:txBody>
                    <a:bodyPr/>
                    <a:lstStyle/>
                    <a:p>
                      <a:pPr algn="ctr">
                        <a:defRPr sz="1800"/>
                      </a:pPr>
                      <a:r>
                        <a:rPr b="1" sz="600">
                          <a:latin typeface="Arial"/>
                          <a:ea typeface="Arial"/>
                          <a:cs typeface="Arial"/>
                          <a:sym typeface="Arial"/>
                        </a:rPr>
                        <a:t>COMMENTS</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solidFill>
                      <a:srgbClr val="F3F3F3"/>
                    </a:solidFill>
                  </a:tcPr>
                </a:tc>
              </a:tr>
              <a:tr h="101600">
                <a:tc>
                  <a:txBody>
                    <a:bodyPr/>
                    <a:lstStyle/>
                    <a:p>
                      <a:pPr algn="ctr">
                        <a:defRPr sz="1800"/>
                      </a:pPr>
                      <a:r>
                        <a:rPr sz="600">
                          <a:latin typeface="Arial"/>
                          <a:ea typeface="Arial"/>
                          <a:cs typeface="Arial"/>
                          <a:sym typeface="Arial"/>
                        </a:rPr>
                        <a:t>{{ISSUE_DATE}}</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ctr">
                        <a:defRPr sz="1800"/>
                      </a:pPr>
                      <a:r>
                        <a:rPr sz="600">
                          <a:latin typeface="Arial"/>
                          <a:ea typeface="Arial"/>
                          <a:cs typeface="Arial"/>
                          <a:sym typeface="Arial"/>
                        </a:rPr>
                        <a:t>00</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r>
                        <a:rPr sz="600">
                          <a:latin typeface="Arial"/>
                          <a:ea typeface="Arial"/>
                          <a:cs typeface="Arial"/>
                          <a:sym typeface="Arial"/>
                        </a:rPr>
                        <a:t>ISSUE FOR PERMIT</a:t>
                      </a: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r h="101600">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c>
                  <a:txBody>
                    <a:bodyPr/>
                    <a:lstStyle/>
                    <a:p>
                      <a:pPr algn="l">
                        <a:defRPr sz="1800"/>
                      </a:pPr>
                    </a:p>
                  </a:txBody>
                  <a:tcPr marL="9144" marR="9144" marT="9144" marB="9144"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
        <p:nvSpPr>
          <p:cNvPr id="784" name="Shape 56"/>
          <p:cNvSpPr/>
          <p:nvPr/>
        </p:nvSpPr>
        <p:spPr>
          <a:xfrm>
            <a:off x="16154705" y="9372600"/>
            <a:ext cx="1904696" cy="961950"/>
          </a:xfrm>
          <a:prstGeom prst="rect">
            <a:avLst/>
          </a:prstGeom>
          <a:solidFill>
            <a:srgbClr val="FFFFFF"/>
          </a:solidFill>
          <a:ln w="12700">
            <a:miter lim="400000"/>
          </a:ln>
        </p:spPr>
        <p:txBody>
          <a:bodyPr lIns="45719" rIns="45719"/>
          <a:lstStyle/>
          <a:p>
            <a:pPr/>
          </a:p>
        </p:txBody>
      </p:sp>
      <p:sp>
        <p:nvSpPr>
          <p:cNvPr id="785" name="Shape 57"/>
          <p:cNvSpPr/>
          <p:nvPr/>
        </p:nvSpPr>
        <p:spPr>
          <a:xfrm>
            <a:off x="16154705" y="10323626"/>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788" name="Text 58"/>
          <p:cNvGrpSpPr/>
          <p:nvPr/>
        </p:nvGrpSpPr>
        <p:grpSpPr>
          <a:xfrm>
            <a:off x="16154705" y="9372599"/>
            <a:ext cx="1905611" cy="858624"/>
            <a:chOff x="0" y="0"/>
            <a:chExt cx="1905610" cy="858622"/>
          </a:xfrm>
        </p:grpSpPr>
        <p:sp>
          <p:nvSpPr>
            <p:cNvPr id="786" name="Rectangle"/>
            <p:cNvSpPr/>
            <p:nvPr/>
          </p:nvSpPr>
          <p:spPr>
            <a:xfrm>
              <a:off x="-1" y="-1"/>
              <a:ext cx="1905612" cy="858624"/>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4000"/>
              </a:pPr>
            </a:p>
          </p:txBody>
        </p:sp>
        <p:sp>
          <p:nvSpPr>
            <p:cNvPr id="787" name="S3.0"/>
            <p:cNvSpPr txBox="1"/>
            <p:nvPr/>
          </p:nvSpPr>
          <p:spPr>
            <a:xfrm>
              <a:off x="106362" y="202670"/>
              <a:ext cx="1692886" cy="55488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4000">
                  <a:latin typeface="Arial"/>
                  <a:ea typeface="Arial"/>
                  <a:cs typeface="Arial"/>
                  <a:sym typeface="Arial"/>
                </a:defRPr>
              </a:lvl1pPr>
            </a:lstStyle>
            <a:p>
              <a:pPr/>
              <a:r>
                <a:t>S3.0</a:t>
              </a:r>
            </a:p>
          </p:txBody>
        </p:sp>
      </p:grpSp>
      <p:sp>
        <p:nvSpPr>
          <p:cNvPr id="789" name="Shape 59"/>
          <p:cNvSpPr/>
          <p:nvPr/>
        </p:nvSpPr>
        <p:spPr>
          <a:xfrm>
            <a:off x="16154705" y="10230307"/>
            <a:ext cx="1904696" cy="381306"/>
          </a:xfrm>
          <a:prstGeom prst="rect">
            <a:avLst/>
          </a:prstGeom>
          <a:solidFill>
            <a:srgbClr val="FFFFFF"/>
          </a:solidFill>
          <a:ln w="12700">
            <a:miter lim="400000"/>
          </a:ln>
        </p:spPr>
        <p:txBody>
          <a:bodyPr lIns="45719" rIns="45719"/>
          <a:lstStyle/>
          <a:p>
            <a:pPr/>
          </a:p>
        </p:txBody>
      </p:sp>
      <p:sp>
        <p:nvSpPr>
          <p:cNvPr id="790" name="Shape 60"/>
          <p:cNvSpPr/>
          <p:nvPr/>
        </p:nvSpPr>
        <p:spPr>
          <a:xfrm>
            <a:off x="16154705" y="10600690"/>
            <a:ext cx="1904696" cy="12701"/>
          </a:xfrm>
          <a:prstGeom prst="rect">
            <a:avLst/>
          </a:prstGeom>
          <a:solidFill>
            <a:srgbClr val="111111"/>
          </a:solidFill>
          <a:ln w="12700">
            <a:solidFill>
              <a:srgbClr val="111111">
                <a:alpha val="0"/>
              </a:srgbClr>
            </a:solidFill>
          </a:ln>
        </p:spPr>
        <p:txBody>
          <a:bodyPr lIns="45719" rIns="45719"/>
          <a:lstStyle/>
          <a:p>
            <a:pPr/>
          </a:p>
        </p:txBody>
      </p:sp>
      <p:grpSp>
        <p:nvGrpSpPr>
          <p:cNvPr id="793" name="Text 61"/>
          <p:cNvGrpSpPr/>
          <p:nvPr/>
        </p:nvGrpSpPr>
        <p:grpSpPr>
          <a:xfrm>
            <a:off x="16154705" y="10230307"/>
            <a:ext cx="1905611" cy="286208"/>
            <a:chOff x="0" y="0"/>
            <a:chExt cx="1905610" cy="286206"/>
          </a:xfrm>
        </p:grpSpPr>
        <p:sp>
          <p:nvSpPr>
            <p:cNvPr id="791" name="Rectangle"/>
            <p:cNvSpPr/>
            <p:nvPr/>
          </p:nvSpPr>
          <p:spPr>
            <a:xfrm>
              <a:off x="-1" y="0"/>
              <a:ext cx="1905612" cy="286207"/>
            </a:xfrm>
            <a:prstGeom prst="rect">
              <a:avLst/>
            </a:prstGeom>
            <a:solidFill>
              <a:srgbClr val="FFFFFF">
                <a:alpha val="0"/>
              </a:srgbClr>
            </a:solidFill>
            <a:ln w="9525" cap="flat">
              <a:solidFill>
                <a:srgbClr val="FFFFFF">
                  <a:alpha val="0"/>
                </a:srgbClr>
              </a:solidFill>
              <a:prstDash val="solid"/>
              <a:round/>
            </a:ln>
            <a:effectLst/>
          </p:spPr>
          <p:txBody>
            <a:bodyPr wrap="square" lIns="45719" tIns="45719" rIns="45719" bIns="45719" numCol="1" anchor="ctr">
              <a:noAutofit/>
            </a:bodyPr>
            <a:lstStyle/>
            <a:p>
              <a:pPr algn="ctr">
                <a:defRPr sz="900"/>
              </a:pPr>
            </a:p>
          </p:txBody>
        </p:sp>
        <p:sp>
          <p:nvSpPr>
            <p:cNvPr id="792" name="FENCING DETAILS"/>
            <p:cNvSpPr txBox="1"/>
            <p:nvPr/>
          </p:nvSpPr>
          <p:spPr>
            <a:xfrm>
              <a:off x="93662" y="124053"/>
              <a:ext cx="1718286" cy="127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75" sz="900">
                  <a:latin typeface="Arial"/>
                  <a:ea typeface="Arial"/>
                  <a:cs typeface="Arial"/>
                  <a:sym typeface="Arial"/>
                </a:defRPr>
              </a:lvl1pPr>
            </a:lstStyle>
            <a:p>
              <a:pPr/>
              <a:r>
                <a:t>FENCING DETAILS</a:t>
              </a:r>
            </a:p>
          </p:txBody>
        </p:sp>
      </p:grpSp>
      <p:sp>
        <p:nvSpPr>
          <p:cNvPr id="794" name="Shape 62"/>
          <p:cNvSpPr/>
          <p:nvPr/>
        </p:nvSpPr>
        <p:spPr>
          <a:xfrm>
            <a:off x="16154705" y="10515600"/>
            <a:ext cx="1904696" cy="1447495"/>
          </a:xfrm>
          <a:prstGeom prst="rect">
            <a:avLst/>
          </a:prstGeom>
          <a:solidFill>
            <a:srgbClr val="FFFFFF"/>
          </a:solidFill>
          <a:ln w="12700">
            <a:solidFill>
              <a:srgbClr val="FFFFFF">
                <a:alpha val="0"/>
              </a:srgbClr>
            </a:solidFill>
          </a:ln>
        </p:spPr>
        <p:txBody>
          <a:bodyPr lIns="45719" rIns="45719"/>
          <a:lstStyle/>
          <a:p>
            <a:pPr/>
          </a:p>
        </p:txBody>
      </p:sp>
      <p:graphicFrame>
        <p:nvGraphicFramePr>
          <p:cNvPr id="795" name="Table 2"/>
          <p:cNvGraphicFramePr/>
          <p:nvPr/>
        </p:nvGraphicFramePr>
        <p:xfrm>
          <a:off x="16154705" y="10515600"/>
          <a:ext cx="1894637" cy="914400"/>
        </p:xfrm>
        <a:graphic xmlns:a="http://schemas.openxmlformats.org/drawingml/2006/main">
          <a:graphicData uri="http://schemas.openxmlformats.org/drawingml/2006/table">
            <a:tbl>
              <a:tblPr firstCol="0" firstRow="0" lastCol="0" lastRow="0" bandCol="0" bandRow="0" rtl="0">
                <a:tableStyleId>{4C3C2611-4C71-4FC5-86AE-919BDF0F9419}</a:tableStyleId>
              </a:tblPr>
              <a:tblGrid>
                <a:gridCol w="947317"/>
                <a:gridCol w="947317"/>
              </a:tblGrid>
              <a:tr h="182880">
                <a:tc>
                  <a:txBody>
                    <a:bodyPr/>
                    <a:lstStyle/>
                    <a:p>
                      <a:pPr algn="l">
                        <a:defRPr sz="1800"/>
                      </a:pPr>
                      <a:r>
                        <a:rPr b="1" sz="600">
                          <a:latin typeface="Arial"/>
                          <a:ea typeface="Arial"/>
                          <a:cs typeface="Arial"/>
                          <a:sym typeface="Arial"/>
                        </a:rPr>
                        <a:t>ISSUE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REVISION 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{{ISSUE_DATE}}</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DESIGNED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CHECKED 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{{DESIGNED_BY}}</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r h="182880">
                <a:tc>
                  <a:txBody>
                    <a:bodyPr/>
                    <a:lstStyle/>
                    <a:p>
                      <a:pPr algn="l">
                        <a:defRPr sz="1800"/>
                      </a:pPr>
                      <a:r>
                        <a:rPr b="1" sz="600">
                          <a:latin typeface="Arial"/>
                          <a:ea typeface="Arial"/>
                          <a:cs typeface="Arial"/>
                          <a:sym typeface="Arial"/>
                        </a:rPr>
                        <a:t>JOB 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solidFill>
                      <a:srgbClr val="FAFAFA"/>
                    </a:solidFill>
                  </a:tcPr>
                </a:tc>
                <a:tc>
                  <a:txBody>
                    <a:bodyPr/>
                    <a:lstStyle/>
                    <a:p>
                      <a:pPr algn="l">
                        <a:defRPr sz="1800"/>
                      </a:pPr>
                      <a:r>
                        <a:rPr sz="600">
                          <a:latin typeface="Arial"/>
                          <a:ea typeface="Arial"/>
                          <a:cs typeface="Arial"/>
                          <a:sym typeface="Arial"/>
                        </a:rPr>
                        <a:t>{{JOB_NO}}</a:t>
                      </a:r>
                    </a:p>
                  </a:txBody>
                  <a:tcPr marL="38405" marR="38405" marT="38405" marB="38405" anchor="ctr" anchorCtr="0" horzOverflow="overflow">
                    <a:lnL>
                      <a:solidFill>
                        <a:srgbClr val="111111"/>
                      </a:solidFill>
                    </a:lnL>
                    <a:lnR>
                      <a:solidFill>
                        <a:srgbClr val="111111"/>
                      </a:solidFill>
                    </a:lnR>
                    <a:lnT>
                      <a:solidFill>
                        <a:srgbClr val="111111"/>
                      </a:solidFill>
                    </a:lnT>
                    <a:lnB>
                      <a:solidFill>
                        <a:srgbClr val="111111"/>
                      </a:solidFill>
                    </a:lnB>
                    <a:noFill/>
                  </a:tcPr>
                </a:tc>
              </a:tr>
            </a:tbl>
          </a:graphicData>
        </a:graphic>
      </p:graphicFrame>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